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583363" cy="4297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92" d="100"/>
          <a:sy n="192" d="100"/>
        </p:scale>
        <p:origin x="14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92608" y="201168"/>
            <a:ext cx="59984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D4ED8"/>
                </a:solidFill>
                <a:latin typeface="Arial"/>
              </a:rPr>
              <a:t>8 x 768 frame tensor 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49808" y="530352"/>
            <a:ext cx="510235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F in R^(8 x 768): 8 sampled frames, each represented by one 768-d ViT [CLS] feature vector</a:t>
            </a:r>
          </a:p>
        </p:txBody>
      </p:sp>
      <p:sp>
        <p:nvSpPr>
          <p:cNvPr id="5" name="Column label"/>
          <p:cNvSpPr txBox="1"/>
          <p:nvPr/>
        </p:nvSpPr>
        <p:spPr>
          <a:xfrm>
            <a:off x="130759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6" name="Column label"/>
          <p:cNvSpPr txBox="1"/>
          <p:nvPr/>
        </p:nvSpPr>
        <p:spPr>
          <a:xfrm>
            <a:off x="158191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7" name="Column label"/>
          <p:cNvSpPr txBox="1"/>
          <p:nvPr/>
        </p:nvSpPr>
        <p:spPr>
          <a:xfrm>
            <a:off x="185623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8" name="Column label"/>
          <p:cNvSpPr txBox="1"/>
          <p:nvPr/>
        </p:nvSpPr>
        <p:spPr>
          <a:xfrm>
            <a:off x="2660904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9" name="Column label"/>
          <p:cNvSpPr txBox="1"/>
          <p:nvPr/>
        </p:nvSpPr>
        <p:spPr>
          <a:xfrm>
            <a:off x="354787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rial"/>
              </a:rPr>
              <a:t>766</a:t>
            </a:r>
          </a:p>
        </p:txBody>
      </p:sp>
      <p:sp>
        <p:nvSpPr>
          <p:cNvPr id="10" name="Column label"/>
          <p:cNvSpPr txBox="1"/>
          <p:nvPr/>
        </p:nvSpPr>
        <p:spPr>
          <a:xfrm>
            <a:off x="382219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rial"/>
              </a:rPr>
              <a:t>767</a:t>
            </a:r>
          </a:p>
        </p:txBody>
      </p:sp>
      <p:sp>
        <p:nvSpPr>
          <p:cNvPr id="11" name="Column label"/>
          <p:cNvSpPr txBox="1"/>
          <p:nvPr/>
        </p:nvSpPr>
        <p:spPr>
          <a:xfrm>
            <a:off x="4096512" y="950976"/>
            <a:ext cx="20116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4B5563"/>
                </a:solidFill>
                <a:latin typeface="Arial"/>
              </a:rPr>
              <a:t>768</a:t>
            </a:r>
          </a:p>
        </p:txBody>
      </p:sp>
      <p:sp>
        <p:nvSpPr>
          <p:cNvPr id="12" name="Column axis label"/>
          <p:cNvSpPr txBox="1"/>
          <p:nvPr/>
        </p:nvSpPr>
        <p:spPr>
          <a:xfrm>
            <a:off x="1847088" y="722376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0" b="1">
                <a:solidFill>
                  <a:srgbClr val="1D4ED8"/>
                </a:solidFill>
                <a:latin typeface="Arial"/>
              </a:rPr>
              <a:t>feature dimensions</a:t>
            </a:r>
          </a:p>
        </p:txBody>
      </p:sp>
      <p:sp>
        <p:nvSpPr>
          <p:cNvPr id="13" name="Tensor outer border"/>
          <p:cNvSpPr/>
          <p:nvPr/>
        </p:nvSpPr>
        <p:spPr>
          <a:xfrm>
            <a:off x="1207008" y="1207008"/>
            <a:ext cx="3246120" cy="2084832"/>
          </a:xfrm>
          <a:prstGeom prst="rect">
            <a:avLst/>
          </a:prstGeom>
          <a:noFill/>
          <a:ln w="1778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rame feature row"/>
          <p:cNvSpPr/>
          <p:nvPr/>
        </p:nvSpPr>
        <p:spPr>
          <a:xfrm>
            <a:off x="1207008" y="1207008"/>
            <a:ext cx="3246120" cy="260604"/>
          </a:xfrm>
          <a:prstGeom prst="rect">
            <a:avLst/>
          </a:prstGeom>
          <a:solidFill>
            <a:srgbClr val="F8FB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Frame row label"/>
          <p:cNvSpPr txBox="1"/>
          <p:nvPr/>
        </p:nvSpPr>
        <p:spPr>
          <a:xfrm>
            <a:off x="676656" y="12893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f_1</a:t>
            </a:r>
          </a:p>
        </p:txBody>
      </p:sp>
      <p:sp>
        <p:nvSpPr>
          <p:cNvPr id="16" name="Frame time label"/>
          <p:cNvSpPr txBox="1"/>
          <p:nvPr/>
        </p:nvSpPr>
        <p:spPr>
          <a:xfrm>
            <a:off x="1060704" y="1289304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t1</a:t>
            </a:r>
          </a:p>
        </p:txBody>
      </p:sp>
      <p:sp>
        <p:nvSpPr>
          <p:cNvPr id="17" name="Feature value"/>
          <p:cNvSpPr/>
          <p:nvPr/>
        </p:nvSpPr>
        <p:spPr>
          <a:xfrm>
            <a:off x="1367028" y="129616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Feature value"/>
          <p:cNvSpPr/>
          <p:nvPr/>
        </p:nvSpPr>
        <p:spPr>
          <a:xfrm>
            <a:off x="1641348" y="129616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Feature value"/>
          <p:cNvSpPr/>
          <p:nvPr/>
        </p:nvSpPr>
        <p:spPr>
          <a:xfrm>
            <a:off x="1915668" y="1296162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eature value"/>
          <p:cNvSpPr/>
          <p:nvPr/>
        </p:nvSpPr>
        <p:spPr>
          <a:xfrm>
            <a:off x="3607308" y="1296162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Feature value"/>
          <p:cNvSpPr/>
          <p:nvPr/>
        </p:nvSpPr>
        <p:spPr>
          <a:xfrm>
            <a:off x="3881628" y="129616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Feature value"/>
          <p:cNvSpPr/>
          <p:nvPr/>
        </p:nvSpPr>
        <p:spPr>
          <a:xfrm>
            <a:off x="4155948" y="129616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eature ellipsis"/>
          <p:cNvSpPr txBox="1"/>
          <p:nvPr/>
        </p:nvSpPr>
        <p:spPr>
          <a:xfrm>
            <a:off x="2665476" y="1271016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24" name="Frame feature row"/>
          <p:cNvSpPr/>
          <p:nvPr/>
        </p:nvSpPr>
        <p:spPr>
          <a:xfrm>
            <a:off x="1207008" y="1467612"/>
            <a:ext cx="3246120" cy="260604"/>
          </a:xfrm>
          <a:prstGeom prst="rect">
            <a:avLst/>
          </a:prstGeom>
          <a:solidFill>
            <a:srgbClr val="EFF6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Frame row label"/>
          <p:cNvSpPr txBox="1"/>
          <p:nvPr/>
        </p:nvSpPr>
        <p:spPr>
          <a:xfrm>
            <a:off x="676656" y="1549908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f_2</a:t>
            </a:r>
          </a:p>
        </p:txBody>
      </p:sp>
      <p:sp>
        <p:nvSpPr>
          <p:cNvPr id="26" name="Frame time label"/>
          <p:cNvSpPr txBox="1"/>
          <p:nvPr/>
        </p:nvSpPr>
        <p:spPr>
          <a:xfrm>
            <a:off x="1060704" y="1549908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t2</a:t>
            </a:r>
          </a:p>
        </p:txBody>
      </p:sp>
      <p:sp>
        <p:nvSpPr>
          <p:cNvPr id="27" name="Feature value"/>
          <p:cNvSpPr/>
          <p:nvPr/>
        </p:nvSpPr>
        <p:spPr>
          <a:xfrm>
            <a:off x="1367028" y="155676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Feature value"/>
          <p:cNvSpPr/>
          <p:nvPr/>
        </p:nvSpPr>
        <p:spPr>
          <a:xfrm>
            <a:off x="1641348" y="155676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Feature value"/>
          <p:cNvSpPr/>
          <p:nvPr/>
        </p:nvSpPr>
        <p:spPr>
          <a:xfrm>
            <a:off x="1915668" y="1556766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Feature value"/>
          <p:cNvSpPr/>
          <p:nvPr/>
        </p:nvSpPr>
        <p:spPr>
          <a:xfrm>
            <a:off x="3607308" y="1556766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Feature value"/>
          <p:cNvSpPr/>
          <p:nvPr/>
        </p:nvSpPr>
        <p:spPr>
          <a:xfrm>
            <a:off x="3881628" y="155676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2" name="Feature value"/>
          <p:cNvSpPr/>
          <p:nvPr/>
        </p:nvSpPr>
        <p:spPr>
          <a:xfrm>
            <a:off x="4155948" y="155676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3" name="Feature ellipsis"/>
          <p:cNvSpPr txBox="1"/>
          <p:nvPr/>
        </p:nvSpPr>
        <p:spPr>
          <a:xfrm>
            <a:off x="2665476" y="153162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34" name="Frame feature row"/>
          <p:cNvSpPr/>
          <p:nvPr/>
        </p:nvSpPr>
        <p:spPr>
          <a:xfrm>
            <a:off x="1207008" y="1728216"/>
            <a:ext cx="3246120" cy="260604"/>
          </a:xfrm>
          <a:prstGeom prst="rect">
            <a:avLst/>
          </a:prstGeom>
          <a:solidFill>
            <a:srgbClr val="F8FB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5" name="Frame row label"/>
          <p:cNvSpPr txBox="1"/>
          <p:nvPr/>
        </p:nvSpPr>
        <p:spPr>
          <a:xfrm>
            <a:off x="676656" y="1810512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f_3</a:t>
            </a:r>
          </a:p>
        </p:txBody>
      </p:sp>
      <p:sp>
        <p:nvSpPr>
          <p:cNvPr id="36" name="Frame time label"/>
          <p:cNvSpPr txBox="1"/>
          <p:nvPr/>
        </p:nvSpPr>
        <p:spPr>
          <a:xfrm>
            <a:off x="1060704" y="1810512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t3</a:t>
            </a:r>
          </a:p>
        </p:txBody>
      </p:sp>
      <p:sp>
        <p:nvSpPr>
          <p:cNvPr id="37" name="Feature value"/>
          <p:cNvSpPr/>
          <p:nvPr/>
        </p:nvSpPr>
        <p:spPr>
          <a:xfrm>
            <a:off x="1367028" y="181737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8" name="Feature value"/>
          <p:cNvSpPr/>
          <p:nvPr/>
        </p:nvSpPr>
        <p:spPr>
          <a:xfrm>
            <a:off x="1641348" y="181737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Feature value"/>
          <p:cNvSpPr/>
          <p:nvPr/>
        </p:nvSpPr>
        <p:spPr>
          <a:xfrm>
            <a:off x="1915668" y="1817370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Feature value"/>
          <p:cNvSpPr/>
          <p:nvPr/>
        </p:nvSpPr>
        <p:spPr>
          <a:xfrm>
            <a:off x="3607308" y="1817370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1" name="Feature value"/>
          <p:cNvSpPr/>
          <p:nvPr/>
        </p:nvSpPr>
        <p:spPr>
          <a:xfrm>
            <a:off x="3881628" y="181737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2" name="Feature value"/>
          <p:cNvSpPr/>
          <p:nvPr/>
        </p:nvSpPr>
        <p:spPr>
          <a:xfrm>
            <a:off x="4155948" y="181737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3" name="Feature ellipsis"/>
          <p:cNvSpPr txBox="1"/>
          <p:nvPr/>
        </p:nvSpPr>
        <p:spPr>
          <a:xfrm>
            <a:off x="2665476" y="179222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44" name="Frame feature row"/>
          <p:cNvSpPr/>
          <p:nvPr/>
        </p:nvSpPr>
        <p:spPr>
          <a:xfrm>
            <a:off x="1207008" y="1988820"/>
            <a:ext cx="3246120" cy="260604"/>
          </a:xfrm>
          <a:prstGeom prst="rect">
            <a:avLst/>
          </a:prstGeom>
          <a:solidFill>
            <a:srgbClr val="EFF6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5" name="Frame row label"/>
          <p:cNvSpPr txBox="1"/>
          <p:nvPr/>
        </p:nvSpPr>
        <p:spPr>
          <a:xfrm>
            <a:off x="676656" y="2071116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f_4</a:t>
            </a:r>
          </a:p>
        </p:txBody>
      </p:sp>
      <p:sp>
        <p:nvSpPr>
          <p:cNvPr id="46" name="Frame time label"/>
          <p:cNvSpPr txBox="1"/>
          <p:nvPr/>
        </p:nvSpPr>
        <p:spPr>
          <a:xfrm>
            <a:off x="1060704" y="2071116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t4</a:t>
            </a:r>
          </a:p>
        </p:txBody>
      </p:sp>
      <p:sp>
        <p:nvSpPr>
          <p:cNvPr id="47" name="Feature value"/>
          <p:cNvSpPr/>
          <p:nvPr/>
        </p:nvSpPr>
        <p:spPr>
          <a:xfrm>
            <a:off x="1367028" y="207797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8" name="Feature value"/>
          <p:cNvSpPr/>
          <p:nvPr/>
        </p:nvSpPr>
        <p:spPr>
          <a:xfrm>
            <a:off x="1641348" y="207797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9" name="Feature value"/>
          <p:cNvSpPr/>
          <p:nvPr/>
        </p:nvSpPr>
        <p:spPr>
          <a:xfrm>
            <a:off x="1915668" y="2077974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Feature value"/>
          <p:cNvSpPr/>
          <p:nvPr/>
        </p:nvSpPr>
        <p:spPr>
          <a:xfrm>
            <a:off x="3607308" y="2077974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Feature value"/>
          <p:cNvSpPr/>
          <p:nvPr/>
        </p:nvSpPr>
        <p:spPr>
          <a:xfrm>
            <a:off x="3881628" y="207797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Feature value"/>
          <p:cNvSpPr/>
          <p:nvPr/>
        </p:nvSpPr>
        <p:spPr>
          <a:xfrm>
            <a:off x="4155948" y="207797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3" name="Feature ellipsis"/>
          <p:cNvSpPr txBox="1"/>
          <p:nvPr/>
        </p:nvSpPr>
        <p:spPr>
          <a:xfrm>
            <a:off x="2665476" y="2052828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54" name="Frame feature row"/>
          <p:cNvSpPr/>
          <p:nvPr/>
        </p:nvSpPr>
        <p:spPr>
          <a:xfrm>
            <a:off x="1207008" y="2249424"/>
            <a:ext cx="3246120" cy="260604"/>
          </a:xfrm>
          <a:prstGeom prst="rect">
            <a:avLst/>
          </a:prstGeom>
          <a:solidFill>
            <a:srgbClr val="F8FB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Frame row label"/>
          <p:cNvSpPr txBox="1"/>
          <p:nvPr/>
        </p:nvSpPr>
        <p:spPr>
          <a:xfrm>
            <a:off x="676656" y="2331720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f_5</a:t>
            </a:r>
          </a:p>
        </p:txBody>
      </p:sp>
      <p:sp>
        <p:nvSpPr>
          <p:cNvPr id="56" name="Frame time label"/>
          <p:cNvSpPr txBox="1"/>
          <p:nvPr/>
        </p:nvSpPr>
        <p:spPr>
          <a:xfrm>
            <a:off x="1060704" y="2331720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t5</a:t>
            </a:r>
          </a:p>
        </p:txBody>
      </p:sp>
      <p:sp>
        <p:nvSpPr>
          <p:cNvPr id="57" name="Feature value"/>
          <p:cNvSpPr/>
          <p:nvPr/>
        </p:nvSpPr>
        <p:spPr>
          <a:xfrm>
            <a:off x="1367028" y="233857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Feature value"/>
          <p:cNvSpPr/>
          <p:nvPr/>
        </p:nvSpPr>
        <p:spPr>
          <a:xfrm>
            <a:off x="1641348" y="233857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Feature value"/>
          <p:cNvSpPr/>
          <p:nvPr/>
        </p:nvSpPr>
        <p:spPr>
          <a:xfrm>
            <a:off x="1915668" y="2338578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Feature value"/>
          <p:cNvSpPr/>
          <p:nvPr/>
        </p:nvSpPr>
        <p:spPr>
          <a:xfrm>
            <a:off x="3607308" y="2338578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Feature value"/>
          <p:cNvSpPr/>
          <p:nvPr/>
        </p:nvSpPr>
        <p:spPr>
          <a:xfrm>
            <a:off x="3881628" y="233857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2" name="Feature value"/>
          <p:cNvSpPr/>
          <p:nvPr/>
        </p:nvSpPr>
        <p:spPr>
          <a:xfrm>
            <a:off x="4155948" y="233857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Feature ellipsis"/>
          <p:cNvSpPr txBox="1"/>
          <p:nvPr/>
        </p:nvSpPr>
        <p:spPr>
          <a:xfrm>
            <a:off x="2665476" y="2313432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64" name="Frame feature row"/>
          <p:cNvSpPr/>
          <p:nvPr/>
        </p:nvSpPr>
        <p:spPr>
          <a:xfrm>
            <a:off x="1207008" y="2510028"/>
            <a:ext cx="3246120" cy="260604"/>
          </a:xfrm>
          <a:prstGeom prst="rect">
            <a:avLst/>
          </a:prstGeom>
          <a:solidFill>
            <a:srgbClr val="EFF6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Frame row label"/>
          <p:cNvSpPr txBox="1"/>
          <p:nvPr/>
        </p:nvSpPr>
        <p:spPr>
          <a:xfrm>
            <a:off x="676656" y="259232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f_6</a:t>
            </a:r>
          </a:p>
        </p:txBody>
      </p:sp>
      <p:sp>
        <p:nvSpPr>
          <p:cNvPr id="66" name="Frame time label"/>
          <p:cNvSpPr txBox="1"/>
          <p:nvPr/>
        </p:nvSpPr>
        <p:spPr>
          <a:xfrm>
            <a:off x="1060704" y="2592324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t6</a:t>
            </a:r>
          </a:p>
        </p:txBody>
      </p:sp>
      <p:sp>
        <p:nvSpPr>
          <p:cNvPr id="67" name="Feature value"/>
          <p:cNvSpPr/>
          <p:nvPr/>
        </p:nvSpPr>
        <p:spPr>
          <a:xfrm>
            <a:off x="1367028" y="259918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8" name="Feature value"/>
          <p:cNvSpPr/>
          <p:nvPr/>
        </p:nvSpPr>
        <p:spPr>
          <a:xfrm>
            <a:off x="1641348" y="259918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Feature value"/>
          <p:cNvSpPr/>
          <p:nvPr/>
        </p:nvSpPr>
        <p:spPr>
          <a:xfrm>
            <a:off x="1915668" y="2599182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Feature value"/>
          <p:cNvSpPr/>
          <p:nvPr/>
        </p:nvSpPr>
        <p:spPr>
          <a:xfrm>
            <a:off x="3607308" y="2599182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1" name="Feature value"/>
          <p:cNvSpPr/>
          <p:nvPr/>
        </p:nvSpPr>
        <p:spPr>
          <a:xfrm>
            <a:off x="3881628" y="259918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2" name="Feature value"/>
          <p:cNvSpPr/>
          <p:nvPr/>
        </p:nvSpPr>
        <p:spPr>
          <a:xfrm>
            <a:off x="4155948" y="2599182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3" name="Feature ellipsis"/>
          <p:cNvSpPr txBox="1"/>
          <p:nvPr/>
        </p:nvSpPr>
        <p:spPr>
          <a:xfrm>
            <a:off x="2665476" y="2574036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74" name="Frame feature row"/>
          <p:cNvSpPr/>
          <p:nvPr/>
        </p:nvSpPr>
        <p:spPr>
          <a:xfrm>
            <a:off x="1207008" y="2770632"/>
            <a:ext cx="3246120" cy="260604"/>
          </a:xfrm>
          <a:prstGeom prst="rect">
            <a:avLst/>
          </a:prstGeom>
          <a:solidFill>
            <a:srgbClr val="F8FB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5" name="Frame row label"/>
          <p:cNvSpPr txBox="1"/>
          <p:nvPr/>
        </p:nvSpPr>
        <p:spPr>
          <a:xfrm>
            <a:off x="676656" y="2852928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f_7</a:t>
            </a:r>
          </a:p>
        </p:txBody>
      </p:sp>
      <p:sp>
        <p:nvSpPr>
          <p:cNvPr id="76" name="Frame time label"/>
          <p:cNvSpPr txBox="1"/>
          <p:nvPr/>
        </p:nvSpPr>
        <p:spPr>
          <a:xfrm>
            <a:off x="1060704" y="2852928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t7</a:t>
            </a:r>
          </a:p>
        </p:txBody>
      </p:sp>
      <p:sp>
        <p:nvSpPr>
          <p:cNvPr id="77" name="Feature value"/>
          <p:cNvSpPr/>
          <p:nvPr/>
        </p:nvSpPr>
        <p:spPr>
          <a:xfrm>
            <a:off x="1367028" y="285978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Feature value"/>
          <p:cNvSpPr/>
          <p:nvPr/>
        </p:nvSpPr>
        <p:spPr>
          <a:xfrm>
            <a:off x="1641348" y="285978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9" name="Feature value"/>
          <p:cNvSpPr/>
          <p:nvPr/>
        </p:nvSpPr>
        <p:spPr>
          <a:xfrm>
            <a:off x="1915668" y="2859786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0" name="Feature value"/>
          <p:cNvSpPr/>
          <p:nvPr/>
        </p:nvSpPr>
        <p:spPr>
          <a:xfrm>
            <a:off x="3607308" y="2859786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" name="Feature value"/>
          <p:cNvSpPr/>
          <p:nvPr/>
        </p:nvSpPr>
        <p:spPr>
          <a:xfrm>
            <a:off x="3881628" y="285978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Feature value"/>
          <p:cNvSpPr/>
          <p:nvPr/>
        </p:nvSpPr>
        <p:spPr>
          <a:xfrm>
            <a:off x="4155948" y="2859786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" name="Feature ellipsis"/>
          <p:cNvSpPr txBox="1"/>
          <p:nvPr/>
        </p:nvSpPr>
        <p:spPr>
          <a:xfrm>
            <a:off x="2665476" y="283464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84" name="Frame feature row"/>
          <p:cNvSpPr/>
          <p:nvPr/>
        </p:nvSpPr>
        <p:spPr>
          <a:xfrm>
            <a:off x="1207008" y="3031236"/>
            <a:ext cx="3246120" cy="260604"/>
          </a:xfrm>
          <a:prstGeom prst="rect">
            <a:avLst/>
          </a:prstGeom>
          <a:solidFill>
            <a:srgbClr val="EFF6FF"/>
          </a:solidFill>
          <a:ln w="6985">
            <a:solidFill>
              <a:srgbClr val="93C5F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5" name="Frame row label"/>
          <p:cNvSpPr txBox="1"/>
          <p:nvPr/>
        </p:nvSpPr>
        <p:spPr>
          <a:xfrm>
            <a:off x="676656" y="3113532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1">
                <a:solidFill>
                  <a:srgbClr val="111827"/>
                </a:solidFill>
                <a:latin typeface="Arial"/>
              </a:rPr>
              <a:t>f_8</a:t>
            </a:r>
          </a:p>
        </p:txBody>
      </p:sp>
      <p:sp>
        <p:nvSpPr>
          <p:cNvPr id="86" name="Frame time label"/>
          <p:cNvSpPr txBox="1"/>
          <p:nvPr/>
        </p:nvSpPr>
        <p:spPr>
          <a:xfrm>
            <a:off x="1060704" y="3113532"/>
            <a:ext cx="11887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60" b="0">
                <a:solidFill>
                  <a:srgbClr val="4B5563"/>
                </a:solidFill>
                <a:latin typeface="Arial"/>
              </a:rPr>
              <a:t>t8</a:t>
            </a:r>
          </a:p>
        </p:txBody>
      </p:sp>
      <p:sp>
        <p:nvSpPr>
          <p:cNvPr id="87" name="Feature value"/>
          <p:cNvSpPr/>
          <p:nvPr/>
        </p:nvSpPr>
        <p:spPr>
          <a:xfrm>
            <a:off x="1367028" y="312039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8" name="Feature value"/>
          <p:cNvSpPr/>
          <p:nvPr/>
        </p:nvSpPr>
        <p:spPr>
          <a:xfrm>
            <a:off x="1641348" y="312039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9" name="Feature value"/>
          <p:cNvSpPr/>
          <p:nvPr/>
        </p:nvSpPr>
        <p:spPr>
          <a:xfrm>
            <a:off x="1915668" y="3120390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eature value"/>
          <p:cNvSpPr/>
          <p:nvPr/>
        </p:nvSpPr>
        <p:spPr>
          <a:xfrm>
            <a:off x="3607308" y="3120390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1" name="Feature value"/>
          <p:cNvSpPr/>
          <p:nvPr/>
        </p:nvSpPr>
        <p:spPr>
          <a:xfrm>
            <a:off x="3881628" y="312039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2" name="Feature value"/>
          <p:cNvSpPr/>
          <p:nvPr/>
        </p:nvSpPr>
        <p:spPr>
          <a:xfrm>
            <a:off x="4155948" y="312039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3" name="Feature ellipsis"/>
          <p:cNvSpPr txBox="1"/>
          <p:nvPr/>
        </p:nvSpPr>
        <p:spPr>
          <a:xfrm>
            <a:off x="2665476" y="309524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5563"/>
                </a:solidFill>
                <a:latin typeface="Arial"/>
              </a:rPr>
              <a:t>...</a:t>
            </a:r>
          </a:p>
        </p:txBody>
      </p:sp>
      <p:sp>
        <p:nvSpPr>
          <p:cNvPr id="94" name="Tensor outer border top"/>
          <p:cNvSpPr/>
          <p:nvPr/>
        </p:nvSpPr>
        <p:spPr>
          <a:xfrm>
            <a:off x="1207008" y="1207008"/>
            <a:ext cx="3246120" cy="2084832"/>
          </a:xfrm>
          <a:prstGeom prst="rect">
            <a:avLst/>
          </a:prstGeom>
          <a:noFill/>
          <a:ln w="19685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95" name="Temporal bracket"/>
          <p:cNvCxnSpPr/>
          <p:nvPr/>
        </p:nvCxnSpPr>
        <p:spPr>
          <a:xfrm>
            <a:off x="457200" y="1207008"/>
            <a:ext cx="0" cy="2084832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96" name="Temporal bracket cap"/>
          <p:cNvCxnSpPr/>
          <p:nvPr/>
        </p:nvCxnSpPr>
        <p:spPr>
          <a:xfrm>
            <a:off x="457200" y="1207008"/>
            <a:ext cx="146304" cy="0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97" name="Temporal bracket cap"/>
          <p:cNvCxnSpPr/>
          <p:nvPr/>
        </p:nvCxnSpPr>
        <p:spPr>
          <a:xfrm>
            <a:off x="457200" y="3291840"/>
            <a:ext cx="146304" cy="0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sp>
        <p:nvSpPr>
          <p:cNvPr id="98" name="Temporal label"/>
          <p:cNvSpPr txBox="1"/>
          <p:nvPr/>
        </p:nvSpPr>
        <p:spPr>
          <a:xfrm>
            <a:off x="137160" y="2084832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1D4ED8"/>
                </a:solidFill>
                <a:latin typeface="Arial"/>
              </a:rPr>
              <a:t>8</a:t>
            </a:r>
          </a:p>
          <a:p>
            <a:pPr algn="ctr"/>
            <a:r>
              <a:rPr sz="740" b="1">
                <a:solidFill>
                  <a:srgbClr val="1D4ED8"/>
                </a:solidFill>
                <a:latin typeface="Arial"/>
              </a:rPr>
              <a:t>frames</a:t>
            </a:r>
          </a:p>
        </p:txBody>
      </p:sp>
      <p:cxnSp>
        <p:nvCxnSpPr>
          <p:cNvPr id="99" name="Feature bracket"/>
          <p:cNvCxnSpPr/>
          <p:nvPr/>
        </p:nvCxnSpPr>
        <p:spPr>
          <a:xfrm>
            <a:off x="1207008" y="3566160"/>
            <a:ext cx="3246120" cy="0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100" name="Feature bracket cap"/>
          <p:cNvCxnSpPr/>
          <p:nvPr/>
        </p:nvCxnSpPr>
        <p:spPr>
          <a:xfrm>
            <a:off x="1207008" y="3456432"/>
            <a:ext cx="0" cy="109728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101" name="Feature bracket cap"/>
          <p:cNvCxnSpPr/>
          <p:nvPr/>
        </p:nvCxnSpPr>
        <p:spPr>
          <a:xfrm>
            <a:off x="4453128" y="3456432"/>
            <a:ext cx="0" cy="109728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sp>
        <p:nvSpPr>
          <p:cNvPr id="102" name="Feature width label"/>
          <p:cNvSpPr txBox="1"/>
          <p:nvPr/>
        </p:nvSpPr>
        <p:spPr>
          <a:xfrm>
            <a:off x="2048256" y="3639312"/>
            <a:ext cx="156362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0" b="1">
                <a:solidFill>
                  <a:srgbClr val="1D4ED8"/>
                </a:solidFill>
                <a:latin typeface="Arial"/>
              </a:rPr>
              <a:t>768 feature channels</a:t>
            </a:r>
          </a:p>
        </p:txBody>
      </p:sp>
      <p:sp>
        <p:nvSpPr>
          <p:cNvPr id="103" name="Formula panel"/>
          <p:cNvSpPr/>
          <p:nvPr/>
        </p:nvSpPr>
        <p:spPr>
          <a:xfrm>
            <a:off x="4736592" y="1316736"/>
            <a:ext cx="1353312" cy="1627632"/>
          </a:xfrm>
          <a:prstGeom prst="roundRect">
            <a:avLst/>
          </a:prstGeom>
          <a:solidFill>
            <a:srgbClr val="ECFDF5"/>
          </a:solidFill>
          <a:ln w="10795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4" name="Formula title"/>
          <p:cNvSpPr txBox="1"/>
          <p:nvPr/>
        </p:nvSpPr>
        <p:spPr>
          <a:xfrm>
            <a:off x="4882896" y="146304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766E"/>
                </a:solidFill>
                <a:latin typeface="Arial"/>
              </a:rPr>
              <a:t>What each row means</a:t>
            </a:r>
          </a:p>
        </p:txBody>
      </p:sp>
      <p:sp>
        <p:nvSpPr>
          <p:cNvPr id="105" name="Formula one"/>
          <p:cNvSpPr txBox="1"/>
          <p:nvPr/>
        </p:nvSpPr>
        <p:spPr>
          <a:xfrm>
            <a:off x="4901184" y="1819656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111827"/>
                </a:solidFill>
                <a:latin typeface="Arial"/>
              </a:rPr>
              <a:t>f_i = ViT [CLS](frame_i)</a:t>
            </a:r>
          </a:p>
        </p:txBody>
      </p:sp>
      <p:sp>
        <p:nvSpPr>
          <p:cNvPr id="106" name="Formula two"/>
          <p:cNvSpPr txBox="1"/>
          <p:nvPr/>
        </p:nvSpPr>
        <p:spPr>
          <a:xfrm>
            <a:off x="4901184" y="2093976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111827"/>
                </a:solidFill>
                <a:latin typeface="Arial"/>
              </a:rPr>
              <a:t>f_i in R^768</a:t>
            </a:r>
          </a:p>
        </p:txBody>
      </p:sp>
      <p:sp>
        <p:nvSpPr>
          <p:cNvPr id="107" name="Formula three"/>
          <p:cNvSpPr txBox="1"/>
          <p:nvPr/>
        </p:nvSpPr>
        <p:spPr>
          <a:xfrm>
            <a:off x="4901184" y="2368296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40" b="1">
                <a:solidFill>
                  <a:srgbClr val="1D4ED8"/>
                </a:solidFill>
                <a:latin typeface="Arial"/>
              </a:rPr>
              <a:t>F = stack(f_1, ..., f_8)</a:t>
            </a:r>
          </a:p>
          <a:p>
            <a:pPr algn="ctr"/>
            <a:r>
              <a:rPr sz="640" b="1">
                <a:solidFill>
                  <a:srgbClr val="1D4ED8"/>
                </a:solidFill>
                <a:latin typeface="Arial"/>
              </a:rPr>
              <a:t>in R^(8 x 768)</a:t>
            </a:r>
          </a:p>
        </p:txBody>
      </p:sp>
      <p:sp>
        <p:nvSpPr>
          <p:cNvPr id="108" name="Clarifier"/>
          <p:cNvSpPr/>
          <p:nvPr/>
        </p:nvSpPr>
        <p:spPr>
          <a:xfrm>
            <a:off x="768096" y="3840480"/>
            <a:ext cx="5047488" cy="27432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9770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9" name="Clarifier text"/>
          <p:cNvSpPr txBox="1"/>
          <p:nvPr/>
        </p:nvSpPr>
        <p:spPr>
          <a:xfrm>
            <a:off x="914400" y="3913632"/>
            <a:ext cx="475488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D97706"/>
                </a:solidFill>
                <a:latin typeface="Arial"/>
              </a:rPr>
              <a:t>Not pixels or patches: rows are frame embeddings; columns are learned feature dimensions.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142</Words>
  <Application>Microsoft Macintosh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 Chen</cp:lastModifiedBy>
  <cp:revision>2</cp:revision>
  <dcterms:created xsi:type="dcterms:W3CDTF">2013-01-27T09:14:16Z</dcterms:created>
  <dcterms:modified xsi:type="dcterms:W3CDTF">2026-05-02T01:16:51Z</dcterms:modified>
  <cp:category/>
</cp:coreProperties>
</file>