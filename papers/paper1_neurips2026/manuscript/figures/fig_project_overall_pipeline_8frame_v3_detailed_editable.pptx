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35840" cy="64008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roject_pipeline_frame1.jpeg"/><Relationship Id="rId3" Type="http://schemas.openxmlformats.org/officeDocument/2006/relationships/image" Target="../media/project_pipeline_frame2.jpeg"/><Relationship Id="rId4" Type="http://schemas.openxmlformats.org/officeDocument/2006/relationships/image" Target="../media/project_pipeline_frame3.jpeg"/><Relationship Id="rId5" Type="http://schemas.openxmlformats.org/officeDocument/2006/relationships/image" Target="../media/project_pipeline_frame4.jpeg"/><Relationship Id="rId6" Type="http://schemas.openxmlformats.org/officeDocument/2006/relationships/image" Target="../media/project_pipeline_frame5.jpeg"/><Relationship Id="rId7" Type="http://schemas.openxmlformats.org/officeDocument/2006/relationships/image" Target="../media/project_pipeline_frame6.jpeg"/><Relationship Id="rId8" Type="http://schemas.openxmlformats.org/officeDocument/2006/relationships/image" Target="../media/project_pipeline_frame7.jpeg"/><Relationship Id="rId9" Type="http://schemas.openxmlformats.org/officeDocument/2006/relationships/image" Target="../media/project_pipeline_frame8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435840" cy="64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1417320" y="91440"/>
            <a:ext cx="9601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Detailed pipeline: workflow-conditioned RSD prediction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43000" y="393192"/>
            <a:ext cx="10058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70" b="0">
                <a:solidFill>
                  <a:srgbClr val="4B5563"/>
                </a:solidFill>
                <a:latin typeface="Arial"/>
              </a:rPr>
              <a:t>Every node shows the object being passed forward: frames, features, phase patterns, workflow token, temporal model, and evaluation.</a:t>
            </a:r>
          </a:p>
        </p:txBody>
      </p:sp>
      <p:sp>
        <p:nvSpPr>
          <p:cNvPr id="5" name="Prefix title"/>
          <p:cNvSpPr txBox="1"/>
          <p:nvPr/>
        </p:nvSpPr>
        <p:spPr>
          <a:xfrm>
            <a:off x="384048" y="685800"/>
            <a:ext cx="27432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20" b="1">
                <a:solidFill>
                  <a:srgbClr val="111827"/>
                </a:solidFill>
                <a:latin typeface="Arial"/>
              </a:rPr>
              <a:t>Observed prefix clip</a:t>
            </a:r>
          </a:p>
        </p:txBody>
      </p:sp>
      <p:pic>
        <p:nvPicPr>
          <p:cNvPr id="6" name="Prefix frame 1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384048" y="896112"/>
            <a:ext cx="960120" cy="530352"/>
          </a:xfrm>
          <a:prstGeom prst="rect">
            <a:avLst/>
          </a:prstGeom>
        </p:spPr>
      </p:pic>
      <p:sp>
        <p:nvSpPr>
          <p:cNvPr id="7" name="Frame border"/>
          <p:cNvSpPr/>
          <p:nvPr/>
        </p:nvSpPr>
        <p:spPr>
          <a:xfrm>
            <a:off x="384048" y="896112"/>
            <a:ext cx="960120" cy="530352"/>
          </a:xfrm>
          <a:prstGeom prst="rect">
            <a:avLst/>
          </a:prstGeom>
          <a:noFill/>
          <a:ln w="698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8" name="Prefix frame 2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1394460" y="896112"/>
            <a:ext cx="960120" cy="530352"/>
          </a:xfrm>
          <a:prstGeom prst="rect">
            <a:avLst/>
          </a:prstGeom>
        </p:spPr>
      </p:pic>
      <p:sp>
        <p:nvSpPr>
          <p:cNvPr id="9" name="Frame border"/>
          <p:cNvSpPr/>
          <p:nvPr/>
        </p:nvSpPr>
        <p:spPr>
          <a:xfrm>
            <a:off x="1394460" y="896112"/>
            <a:ext cx="960120" cy="530352"/>
          </a:xfrm>
          <a:prstGeom prst="rect">
            <a:avLst/>
          </a:prstGeom>
          <a:noFill/>
          <a:ln w="698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10" name="Prefix frame 3"/>
          <p:cNvPicPr>
            <a:picLocks noChangeAspect="1"/>
          </p:cNvPicPr>
          <p:nvPr/>
        </p:nvPicPr>
        <p:blipFill>
          <a:blip r:embed="rId4"/>
          <a:srcRect t="9000" b="9000"/>
          <a:stretch>
            <a:fillRect/>
          </a:stretch>
        </p:blipFill>
        <p:spPr>
          <a:xfrm>
            <a:off x="2404872" y="896112"/>
            <a:ext cx="960120" cy="530352"/>
          </a:xfrm>
          <a:prstGeom prst="rect">
            <a:avLst/>
          </a:prstGeom>
        </p:spPr>
      </p:pic>
      <p:sp>
        <p:nvSpPr>
          <p:cNvPr id="11" name="Frame border"/>
          <p:cNvSpPr/>
          <p:nvPr/>
        </p:nvSpPr>
        <p:spPr>
          <a:xfrm>
            <a:off x="2404872" y="896112"/>
            <a:ext cx="960120" cy="530352"/>
          </a:xfrm>
          <a:prstGeom prst="rect">
            <a:avLst/>
          </a:prstGeom>
          <a:noFill/>
          <a:ln w="698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12" name="Prefix frame 4"/>
          <p:cNvPicPr>
            <a:picLocks noChangeAspect="1"/>
          </p:cNvPicPr>
          <p:nvPr/>
        </p:nvPicPr>
        <p:blipFill>
          <a:blip r:embed="rId5"/>
          <a:srcRect t="9000" b="9000"/>
          <a:stretch>
            <a:fillRect/>
          </a:stretch>
        </p:blipFill>
        <p:spPr>
          <a:xfrm>
            <a:off x="3415284" y="896112"/>
            <a:ext cx="960120" cy="530352"/>
          </a:xfrm>
          <a:prstGeom prst="rect">
            <a:avLst/>
          </a:prstGeom>
        </p:spPr>
      </p:pic>
      <p:sp>
        <p:nvSpPr>
          <p:cNvPr id="13" name="Frame border"/>
          <p:cNvSpPr/>
          <p:nvPr/>
        </p:nvSpPr>
        <p:spPr>
          <a:xfrm>
            <a:off x="3415284" y="896112"/>
            <a:ext cx="960120" cy="530352"/>
          </a:xfrm>
          <a:prstGeom prst="rect">
            <a:avLst/>
          </a:prstGeom>
          <a:noFill/>
          <a:ln w="698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14" name="Prefix frame 5"/>
          <p:cNvPicPr>
            <a:picLocks noChangeAspect="1"/>
          </p:cNvPicPr>
          <p:nvPr/>
        </p:nvPicPr>
        <p:blipFill>
          <a:blip r:embed="rId6"/>
          <a:srcRect t="9000" b="9000"/>
          <a:stretch>
            <a:fillRect/>
          </a:stretch>
        </p:blipFill>
        <p:spPr>
          <a:xfrm>
            <a:off x="4425696" y="896112"/>
            <a:ext cx="960120" cy="530352"/>
          </a:xfrm>
          <a:prstGeom prst="rect">
            <a:avLst/>
          </a:prstGeom>
        </p:spPr>
      </p:pic>
      <p:sp>
        <p:nvSpPr>
          <p:cNvPr id="15" name="Frame border"/>
          <p:cNvSpPr/>
          <p:nvPr/>
        </p:nvSpPr>
        <p:spPr>
          <a:xfrm>
            <a:off x="4425696" y="896112"/>
            <a:ext cx="960120" cy="530352"/>
          </a:xfrm>
          <a:prstGeom prst="rect">
            <a:avLst/>
          </a:prstGeom>
          <a:noFill/>
          <a:ln w="698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16" name="Prefix frame 6"/>
          <p:cNvPicPr>
            <a:picLocks noChangeAspect="1"/>
          </p:cNvPicPr>
          <p:nvPr/>
        </p:nvPicPr>
        <p:blipFill>
          <a:blip r:embed="rId7"/>
          <a:srcRect t="9000" b="9000"/>
          <a:stretch>
            <a:fillRect/>
          </a:stretch>
        </p:blipFill>
        <p:spPr>
          <a:xfrm>
            <a:off x="5436108" y="896112"/>
            <a:ext cx="960120" cy="530352"/>
          </a:xfrm>
          <a:prstGeom prst="rect">
            <a:avLst/>
          </a:prstGeom>
        </p:spPr>
      </p:pic>
      <p:sp>
        <p:nvSpPr>
          <p:cNvPr id="17" name="Frame border"/>
          <p:cNvSpPr/>
          <p:nvPr/>
        </p:nvSpPr>
        <p:spPr>
          <a:xfrm>
            <a:off x="5436108" y="896112"/>
            <a:ext cx="960120" cy="530352"/>
          </a:xfrm>
          <a:prstGeom prst="rect">
            <a:avLst/>
          </a:prstGeom>
          <a:noFill/>
          <a:ln w="698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18" name="Prefix frame 7"/>
          <p:cNvPicPr>
            <a:picLocks noChangeAspect="1"/>
          </p:cNvPicPr>
          <p:nvPr/>
        </p:nvPicPr>
        <p:blipFill>
          <a:blip r:embed="rId8"/>
          <a:srcRect t="9000" b="9000"/>
          <a:stretch>
            <a:fillRect/>
          </a:stretch>
        </p:blipFill>
        <p:spPr>
          <a:xfrm>
            <a:off x="6446520" y="896112"/>
            <a:ext cx="960120" cy="530352"/>
          </a:xfrm>
          <a:prstGeom prst="rect">
            <a:avLst/>
          </a:prstGeom>
        </p:spPr>
      </p:pic>
      <p:sp>
        <p:nvSpPr>
          <p:cNvPr id="19" name="Frame border"/>
          <p:cNvSpPr/>
          <p:nvPr/>
        </p:nvSpPr>
        <p:spPr>
          <a:xfrm>
            <a:off x="6446520" y="896112"/>
            <a:ext cx="960120" cy="530352"/>
          </a:xfrm>
          <a:prstGeom prst="rect">
            <a:avLst/>
          </a:prstGeom>
          <a:noFill/>
          <a:ln w="698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20" name="Prefix frame 8"/>
          <p:cNvPicPr>
            <a:picLocks noChangeAspect="1"/>
          </p:cNvPicPr>
          <p:nvPr/>
        </p:nvPicPr>
        <p:blipFill>
          <a:blip r:embed="rId9"/>
          <a:srcRect t="9000" b="9000"/>
          <a:stretch>
            <a:fillRect/>
          </a:stretch>
        </p:blipFill>
        <p:spPr>
          <a:xfrm>
            <a:off x="7456932" y="896112"/>
            <a:ext cx="960120" cy="530352"/>
          </a:xfrm>
          <a:prstGeom prst="rect">
            <a:avLst/>
          </a:prstGeom>
        </p:spPr>
      </p:pic>
      <p:sp>
        <p:nvSpPr>
          <p:cNvPr id="21" name="Frame border"/>
          <p:cNvSpPr/>
          <p:nvPr/>
        </p:nvSpPr>
        <p:spPr>
          <a:xfrm>
            <a:off x="7456932" y="896112"/>
            <a:ext cx="960120" cy="530352"/>
          </a:xfrm>
          <a:prstGeom prst="rect">
            <a:avLst/>
          </a:prstGeom>
          <a:noFill/>
          <a:ln w="698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22" name="x_t border"/>
          <p:cNvSpPr/>
          <p:nvPr/>
        </p:nvSpPr>
        <p:spPr>
          <a:xfrm>
            <a:off x="7456932" y="896112"/>
            <a:ext cx="960120" cy="530352"/>
          </a:xfrm>
          <a:prstGeom prst="rect">
            <a:avLst/>
          </a:prstGeom>
          <a:noFill/>
          <a:ln w="2286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23" name="x_t badge"/>
          <p:cNvSpPr/>
          <p:nvPr/>
        </p:nvSpPr>
        <p:spPr>
          <a:xfrm>
            <a:off x="7456932" y="896112"/>
            <a:ext cx="34747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x_t"/>
          <p:cNvSpPr txBox="1"/>
          <p:nvPr/>
        </p:nvSpPr>
        <p:spPr>
          <a:xfrm>
            <a:off x="7493508" y="923544"/>
            <a:ext cx="27432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x_t</a:t>
            </a:r>
          </a:p>
        </p:txBody>
      </p:sp>
      <p:sp>
        <p:nvSpPr>
          <p:cNvPr id="25" name="Prefix note"/>
          <p:cNvSpPr txBox="1"/>
          <p:nvPr/>
        </p:nvSpPr>
        <p:spPr>
          <a:xfrm>
            <a:off x="8823960" y="950976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0">
                <a:solidFill>
                  <a:srgbClr val="4B5563"/>
                </a:solidFill>
                <a:latin typeface="Arial"/>
              </a:rPr>
              <a:t>8 sampled BBP12 frames; the last frame is the current timestamp.</a:t>
            </a:r>
          </a:p>
        </p:txBody>
      </p:sp>
      <p:sp>
        <p:nvSpPr>
          <p:cNvPr id="26" name="Panel label"/>
          <p:cNvSpPr txBox="1"/>
          <p:nvPr/>
        </p:nvSpPr>
        <p:spPr>
          <a:xfrm>
            <a:off x="384048" y="1627632"/>
            <a:ext cx="43891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30" b="1">
                <a:solidFill>
                  <a:srgbClr val="111827"/>
                </a:solidFill>
                <a:latin typeface="Arial"/>
              </a:rPr>
              <a:t>A. Visual prediction path</a:t>
            </a:r>
          </a:p>
        </p:txBody>
      </p:sp>
      <p:sp>
        <p:nvSpPr>
          <p:cNvPr id="27" name="Diagram box"/>
          <p:cNvSpPr/>
          <p:nvPr/>
        </p:nvSpPr>
        <p:spPr>
          <a:xfrm>
            <a:off x="384048" y="1901952"/>
            <a:ext cx="1170432" cy="9601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8" name="Box title"/>
          <p:cNvSpPr txBox="1"/>
          <p:nvPr/>
        </p:nvSpPr>
        <p:spPr>
          <a:xfrm>
            <a:off x="438912" y="2660904"/>
            <a:ext cx="106070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8-frame clip</a:t>
            </a:r>
          </a:p>
        </p:txBody>
      </p:sp>
      <p:pic>
        <p:nvPicPr>
          <p:cNvPr id="29" name="Mini clip frame 1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475488" y="2327148"/>
            <a:ext cx="226314" cy="251460"/>
          </a:xfrm>
          <a:prstGeom prst="rect">
            <a:avLst/>
          </a:prstGeom>
        </p:spPr>
      </p:pic>
      <p:sp>
        <p:nvSpPr>
          <p:cNvPr id="30" name="mini frame border"/>
          <p:cNvSpPr/>
          <p:nvPr/>
        </p:nvSpPr>
        <p:spPr>
          <a:xfrm>
            <a:off x="475488" y="2327148"/>
            <a:ext cx="226314" cy="251460"/>
          </a:xfrm>
          <a:prstGeom prst="rect">
            <a:avLst/>
          </a:prstGeom>
          <a:noFill/>
          <a:ln w="444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31" name="Mini clip frame 2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729234" y="2327148"/>
            <a:ext cx="226314" cy="251460"/>
          </a:xfrm>
          <a:prstGeom prst="rect">
            <a:avLst/>
          </a:prstGeom>
        </p:spPr>
      </p:pic>
      <p:sp>
        <p:nvSpPr>
          <p:cNvPr id="32" name="mini frame border"/>
          <p:cNvSpPr/>
          <p:nvPr/>
        </p:nvSpPr>
        <p:spPr>
          <a:xfrm>
            <a:off x="729234" y="2327148"/>
            <a:ext cx="226314" cy="251460"/>
          </a:xfrm>
          <a:prstGeom prst="rect">
            <a:avLst/>
          </a:prstGeom>
          <a:noFill/>
          <a:ln w="444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33" name="Mini clip frame 3"/>
          <p:cNvPicPr>
            <a:picLocks noChangeAspect="1"/>
          </p:cNvPicPr>
          <p:nvPr/>
        </p:nvPicPr>
        <p:blipFill>
          <a:blip r:embed="rId4"/>
          <a:srcRect t="9000" b="9000"/>
          <a:stretch>
            <a:fillRect/>
          </a:stretch>
        </p:blipFill>
        <p:spPr>
          <a:xfrm>
            <a:off x="982980" y="2327148"/>
            <a:ext cx="226314" cy="251460"/>
          </a:xfrm>
          <a:prstGeom prst="rect">
            <a:avLst/>
          </a:prstGeom>
        </p:spPr>
      </p:pic>
      <p:sp>
        <p:nvSpPr>
          <p:cNvPr id="34" name="mini frame border"/>
          <p:cNvSpPr/>
          <p:nvPr/>
        </p:nvSpPr>
        <p:spPr>
          <a:xfrm>
            <a:off x="982980" y="2327148"/>
            <a:ext cx="226314" cy="251460"/>
          </a:xfrm>
          <a:prstGeom prst="rect">
            <a:avLst/>
          </a:prstGeom>
          <a:noFill/>
          <a:ln w="444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35" name="Mini clip frame 4"/>
          <p:cNvPicPr>
            <a:picLocks noChangeAspect="1"/>
          </p:cNvPicPr>
          <p:nvPr/>
        </p:nvPicPr>
        <p:blipFill>
          <a:blip r:embed="rId5"/>
          <a:srcRect t="9000" b="9000"/>
          <a:stretch>
            <a:fillRect/>
          </a:stretch>
        </p:blipFill>
        <p:spPr>
          <a:xfrm>
            <a:off x="1236726" y="2327148"/>
            <a:ext cx="226314" cy="251460"/>
          </a:xfrm>
          <a:prstGeom prst="rect">
            <a:avLst/>
          </a:prstGeom>
        </p:spPr>
      </p:pic>
      <p:sp>
        <p:nvSpPr>
          <p:cNvPr id="36" name="mini frame border"/>
          <p:cNvSpPr/>
          <p:nvPr/>
        </p:nvSpPr>
        <p:spPr>
          <a:xfrm>
            <a:off x="1236726" y="2327148"/>
            <a:ext cx="226314" cy="251460"/>
          </a:xfrm>
          <a:prstGeom prst="rect">
            <a:avLst/>
          </a:prstGeom>
          <a:noFill/>
          <a:ln w="444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37" name="Mini clip frame 5"/>
          <p:cNvPicPr>
            <a:picLocks noChangeAspect="1"/>
          </p:cNvPicPr>
          <p:nvPr/>
        </p:nvPicPr>
        <p:blipFill>
          <a:blip r:embed="rId6"/>
          <a:srcRect t="9000" b="9000"/>
          <a:stretch>
            <a:fillRect/>
          </a:stretch>
        </p:blipFill>
        <p:spPr>
          <a:xfrm>
            <a:off x="475488" y="2020824"/>
            <a:ext cx="226314" cy="251460"/>
          </a:xfrm>
          <a:prstGeom prst="rect">
            <a:avLst/>
          </a:prstGeom>
        </p:spPr>
      </p:pic>
      <p:sp>
        <p:nvSpPr>
          <p:cNvPr id="38" name="mini frame border"/>
          <p:cNvSpPr/>
          <p:nvPr/>
        </p:nvSpPr>
        <p:spPr>
          <a:xfrm>
            <a:off x="475488" y="2020824"/>
            <a:ext cx="226314" cy="251460"/>
          </a:xfrm>
          <a:prstGeom prst="rect">
            <a:avLst/>
          </a:prstGeom>
          <a:noFill/>
          <a:ln w="444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39" name="Mini clip frame 6"/>
          <p:cNvPicPr>
            <a:picLocks noChangeAspect="1"/>
          </p:cNvPicPr>
          <p:nvPr/>
        </p:nvPicPr>
        <p:blipFill>
          <a:blip r:embed="rId7"/>
          <a:srcRect t="9000" b="9000"/>
          <a:stretch>
            <a:fillRect/>
          </a:stretch>
        </p:blipFill>
        <p:spPr>
          <a:xfrm>
            <a:off x="729234" y="2020824"/>
            <a:ext cx="226314" cy="251460"/>
          </a:xfrm>
          <a:prstGeom prst="rect">
            <a:avLst/>
          </a:prstGeom>
        </p:spPr>
      </p:pic>
      <p:sp>
        <p:nvSpPr>
          <p:cNvPr id="40" name="mini frame border"/>
          <p:cNvSpPr/>
          <p:nvPr/>
        </p:nvSpPr>
        <p:spPr>
          <a:xfrm>
            <a:off x="729234" y="2020824"/>
            <a:ext cx="226314" cy="251460"/>
          </a:xfrm>
          <a:prstGeom prst="rect">
            <a:avLst/>
          </a:prstGeom>
          <a:noFill/>
          <a:ln w="444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41" name="Mini clip frame 7"/>
          <p:cNvPicPr>
            <a:picLocks noChangeAspect="1"/>
          </p:cNvPicPr>
          <p:nvPr/>
        </p:nvPicPr>
        <p:blipFill>
          <a:blip r:embed="rId8"/>
          <a:srcRect t="9000" b="9000"/>
          <a:stretch>
            <a:fillRect/>
          </a:stretch>
        </p:blipFill>
        <p:spPr>
          <a:xfrm>
            <a:off x="982980" y="2020824"/>
            <a:ext cx="226314" cy="251460"/>
          </a:xfrm>
          <a:prstGeom prst="rect">
            <a:avLst/>
          </a:prstGeom>
        </p:spPr>
      </p:pic>
      <p:sp>
        <p:nvSpPr>
          <p:cNvPr id="42" name="mini frame border"/>
          <p:cNvSpPr/>
          <p:nvPr/>
        </p:nvSpPr>
        <p:spPr>
          <a:xfrm>
            <a:off x="982980" y="2020824"/>
            <a:ext cx="226314" cy="251460"/>
          </a:xfrm>
          <a:prstGeom prst="rect">
            <a:avLst/>
          </a:prstGeom>
          <a:noFill/>
          <a:ln w="444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pic>
        <p:nvPicPr>
          <p:cNvPr id="43" name="Mini clip frame 8"/>
          <p:cNvPicPr>
            <a:picLocks noChangeAspect="1"/>
          </p:cNvPicPr>
          <p:nvPr/>
        </p:nvPicPr>
        <p:blipFill>
          <a:blip r:embed="rId9"/>
          <a:srcRect t="9000" b="9000"/>
          <a:stretch>
            <a:fillRect/>
          </a:stretch>
        </p:blipFill>
        <p:spPr>
          <a:xfrm>
            <a:off x="1236726" y="2020824"/>
            <a:ext cx="226314" cy="251460"/>
          </a:xfrm>
          <a:prstGeom prst="rect">
            <a:avLst/>
          </a:prstGeom>
        </p:spPr>
      </p:pic>
      <p:sp>
        <p:nvSpPr>
          <p:cNvPr id="44" name="mini frame border"/>
          <p:cNvSpPr/>
          <p:nvPr/>
        </p:nvSpPr>
        <p:spPr>
          <a:xfrm>
            <a:off x="1236726" y="2020824"/>
            <a:ext cx="226314" cy="251460"/>
          </a:xfrm>
          <a:prstGeom prst="rect">
            <a:avLst/>
          </a:prstGeom>
          <a:noFill/>
          <a:ln w="444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5" name="current frame mark"/>
          <p:cNvSpPr/>
          <p:nvPr/>
        </p:nvSpPr>
        <p:spPr>
          <a:xfrm>
            <a:off x="1236726" y="2020824"/>
            <a:ext cx="226314" cy="251460"/>
          </a:xfrm>
          <a:prstGeom prst="rect">
            <a:avLst/>
          </a:prstGeom>
          <a:noFill/>
          <a:ln w="1651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cxnSp>
        <p:nvCxnSpPr>
          <p:cNvPr id="46" name="Arrow"/>
          <p:cNvCxnSpPr/>
          <p:nvPr/>
        </p:nvCxnSpPr>
        <p:spPr>
          <a:xfrm>
            <a:off x="1591056" y="2359152"/>
            <a:ext cx="283464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47" name="Diagram box"/>
          <p:cNvSpPr/>
          <p:nvPr/>
        </p:nvSpPr>
        <p:spPr>
          <a:xfrm>
            <a:off x="1920240" y="1901952"/>
            <a:ext cx="1078992" cy="9601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48" name="Box title"/>
          <p:cNvSpPr txBox="1"/>
          <p:nvPr/>
        </p:nvSpPr>
        <p:spPr>
          <a:xfrm>
            <a:off x="1975104" y="2660904"/>
            <a:ext cx="96926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ViT-B/16 encoder</a:t>
            </a:r>
          </a:p>
        </p:txBody>
      </p:sp>
      <p:sp>
        <p:nvSpPr>
          <p:cNvPr id="49" name="ViT block"/>
          <p:cNvSpPr/>
          <p:nvPr/>
        </p:nvSpPr>
        <p:spPr>
          <a:xfrm>
            <a:off x="2084832" y="2084832"/>
            <a:ext cx="749808" cy="41148"/>
          </a:xfrm>
          <a:prstGeom prst="roundRect">
            <a:avLst/>
          </a:prstGeom>
          <a:solidFill>
            <a:srgbClr val="DBEAFE"/>
          </a:solidFill>
          <a:ln w="3175">
            <a:solidFill>
              <a:srgbClr val="93C5FD"/>
            </a:solidFill>
          </a:ln>
        </p:spPr>
        <p:txBody>
          <a:bodyPr rtlCol="0" anchor="ctr"/>
          <a:lstStyle/>
          <a:p/>
        </p:txBody>
      </p:sp>
      <p:sp>
        <p:nvSpPr>
          <p:cNvPr id="50" name="ViT block"/>
          <p:cNvSpPr/>
          <p:nvPr/>
        </p:nvSpPr>
        <p:spPr>
          <a:xfrm>
            <a:off x="2084832" y="2142439"/>
            <a:ext cx="749808" cy="41148"/>
          </a:xfrm>
          <a:prstGeom prst="roundRect">
            <a:avLst/>
          </a:prstGeom>
          <a:solidFill>
            <a:srgbClr val="DBEAFE"/>
          </a:solidFill>
          <a:ln w="3175">
            <a:solidFill>
              <a:srgbClr val="93C5FD"/>
            </a:solidFill>
          </a:ln>
        </p:spPr>
        <p:txBody>
          <a:bodyPr rtlCol="0" anchor="ctr"/>
          <a:lstStyle/>
          <a:p/>
        </p:txBody>
      </p:sp>
      <p:sp>
        <p:nvSpPr>
          <p:cNvPr id="51" name="ViT block"/>
          <p:cNvSpPr/>
          <p:nvPr/>
        </p:nvSpPr>
        <p:spPr>
          <a:xfrm>
            <a:off x="2084832" y="2200046"/>
            <a:ext cx="749808" cy="41148"/>
          </a:xfrm>
          <a:prstGeom prst="roundRect">
            <a:avLst/>
          </a:prstGeom>
          <a:solidFill>
            <a:srgbClr val="DBEAFE"/>
          </a:solidFill>
          <a:ln w="3175">
            <a:solidFill>
              <a:srgbClr val="93C5FD"/>
            </a:solidFill>
          </a:ln>
        </p:spPr>
        <p:txBody>
          <a:bodyPr rtlCol="0" anchor="ctr"/>
          <a:lstStyle/>
          <a:p/>
        </p:txBody>
      </p:sp>
      <p:sp>
        <p:nvSpPr>
          <p:cNvPr id="52" name="ViT block"/>
          <p:cNvSpPr/>
          <p:nvPr/>
        </p:nvSpPr>
        <p:spPr>
          <a:xfrm>
            <a:off x="2084832" y="2257654"/>
            <a:ext cx="749808" cy="41148"/>
          </a:xfrm>
          <a:prstGeom prst="roundRect">
            <a:avLst/>
          </a:prstGeom>
          <a:solidFill>
            <a:srgbClr val="DBEAFE"/>
          </a:solidFill>
          <a:ln w="3175">
            <a:solidFill>
              <a:srgbClr val="93C5FD"/>
            </a:solidFill>
          </a:ln>
        </p:spPr>
        <p:txBody>
          <a:bodyPr rtlCol="0" anchor="ctr"/>
          <a:lstStyle/>
          <a:p/>
        </p:txBody>
      </p:sp>
      <p:sp>
        <p:nvSpPr>
          <p:cNvPr id="53" name="ViT block"/>
          <p:cNvSpPr/>
          <p:nvPr/>
        </p:nvSpPr>
        <p:spPr>
          <a:xfrm>
            <a:off x="2084832" y="2315261"/>
            <a:ext cx="749808" cy="41148"/>
          </a:xfrm>
          <a:prstGeom prst="roundRect">
            <a:avLst/>
          </a:prstGeom>
          <a:solidFill>
            <a:srgbClr val="DBEAFE"/>
          </a:solidFill>
          <a:ln w="3175">
            <a:solidFill>
              <a:srgbClr val="93C5FD"/>
            </a:solidFill>
          </a:ln>
        </p:spPr>
        <p:txBody>
          <a:bodyPr rtlCol="0" anchor="ctr"/>
          <a:lstStyle/>
          <a:p/>
        </p:txBody>
      </p:sp>
      <p:sp>
        <p:nvSpPr>
          <p:cNvPr id="54" name="ViT block"/>
          <p:cNvSpPr/>
          <p:nvPr/>
        </p:nvSpPr>
        <p:spPr>
          <a:xfrm>
            <a:off x="2084832" y="2372868"/>
            <a:ext cx="749808" cy="41148"/>
          </a:xfrm>
          <a:prstGeom prst="roundRect">
            <a:avLst/>
          </a:prstGeom>
          <a:solidFill>
            <a:srgbClr val="DBEAFE"/>
          </a:solidFill>
          <a:ln w="3175">
            <a:solidFill>
              <a:srgbClr val="93C5FD"/>
            </a:solidFill>
          </a:ln>
        </p:spPr>
        <p:txBody>
          <a:bodyPr rtlCol="0" anchor="ctr"/>
          <a:lstStyle/>
          <a:p/>
        </p:txBody>
      </p:sp>
      <p:sp>
        <p:nvSpPr>
          <p:cNvPr id="55" name="ViT block"/>
          <p:cNvSpPr/>
          <p:nvPr/>
        </p:nvSpPr>
        <p:spPr>
          <a:xfrm>
            <a:off x="2084832" y="2430475"/>
            <a:ext cx="749808" cy="41148"/>
          </a:xfrm>
          <a:prstGeom prst="roundRect">
            <a:avLst/>
          </a:prstGeom>
          <a:solidFill>
            <a:srgbClr val="1D4ED8"/>
          </a:solidFill>
          <a:ln w="3175">
            <a:solidFill>
              <a:srgbClr val="1E40AF"/>
            </a:solidFill>
          </a:ln>
        </p:spPr>
        <p:txBody>
          <a:bodyPr rtlCol="0" anchor="ctr"/>
          <a:lstStyle/>
          <a:p/>
        </p:txBody>
      </p:sp>
      <p:sp>
        <p:nvSpPr>
          <p:cNvPr id="56" name="ViT block"/>
          <p:cNvSpPr/>
          <p:nvPr/>
        </p:nvSpPr>
        <p:spPr>
          <a:xfrm>
            <a:off x="2084832" y="2488082"/>
            <a:ext cx="749808" cy="41148"/>
          </a:xfrm>
          <a:prstGeom prst="roundRect">
            <a:avLst/>
          </a:prstGeom>
          <a:solidFill>
            <a:srgbClr val="1D4ED8"/>
          </a:solidFill>
          <a:ln w="3175">
            <a:solidFill>
              <a:srgbClr val="1E40AF"/>
            </a:solidFill>
          </a:ln>
        </p:spPr>
        <p:txBody>
          <a:bodyPr rtlCol="0" anchor="ctr"/>
          <a:lstStyle/>
          <a:p/>
        </p:txBody>
      </p:sp>
      <p:sp>
        <p:nvSpPr>
          <p:cNvPr id="57" name="ViT block"/>
          <p:cNvSpPr/>
          <p:nvPr/>
        </p:nvSpPr>
        <p:spPr>
          <a:xfrm>
            <a:off x="2084832" y="2545690"/>
            <a:ext cx="749808" cy="41148"/>
          </a:xfrm>
          <a:prstGeom prst="roundRect">
            <a:avLst/>
          </a:prstGeom>
          <a:solidFill>
            <a:srgbClr val="1D4ED8"/>
          </a:solidFill>
          <a:ln w="3175">
            <a:solidFill>
              <a:srgbClr val="1E40AF"/>
            </a:solidFill>
          </a:ln>
        </p:spPr>
        <p:txBody>
          <a:bodyPr rtlCol="0" anchor="ctr"/>
          <a:lstStyle/>
          <a:p/>
        </p:txBody>
      </p:sp>
      <p:sp>
        <p:nvSpPr>
          <p:cNvPr id="58" name="ViT block"/>
          <p:cNvSpPr/>
          <p:nvPr/>
        </p:nvSpPr>
        <p:spPr>
          <a:xfrm>
            <a:off x="2084832" y="2603297"/>
            <a:ext cx="749808" cy="41148"/>
          </a:xfrm>
          <a:prstGeom prst="roundRect">
            <a:avLst/>
          </a:prstGeom>
          <a:solidFill>
            <a:srgbClr val="1D4ED8"/>
          </a:solidFill>
          <a:ln w="3175">
            <a:solidFill>
              <a:srgbClr val="1E40AF"/>
            </a:solidFill>
          </a:ln>
        </p:spPr>
        <p:txBody>
          <a:bodyPr rtlCol="0" anchor="ctr"/>
          <a:lstStyle/>
          <a:p/>
        </p:txBody>
      </p:sp>
      <p:sp>
        <p:nvSpPr>
          <p:cNvPr id="59" name="ViT block"/>
          <p:cNvSpPr/>
          <p:nvPr/>
        </p:nvSpPr>
        <p:spPr>
          <a:xfrm>
            <a:off x="2084832" y="2660904"/>
            <a:ext cx="749808" cy="41148"/>
          </a:xfrm>
          <a:prstGeom prst="roundRect">
            <a:avLst/>
          </a:prstGeom>
          <a:solidFill>
            <a:srgbClr val="1D4ED8"/>
          </a:solidFill>
          <a:ln w="3175">
            <a:solidFill>
              <a:srgbClr val="1E40AF"/>
            </a:solidFill>
          </a:ln>
        </p:spPr>
        <p:txBody>
          <a:bodyPr rtlCol="0" anchor="ctr"/>
          <a:lstStyle/>
          <a:p/>
        </p:txBody>
      </p:sp>
      <p:sp>
        <p:nvSpPr>
          <p:cNvPr id="60" name="ViT block"/>
          <p:cNvSpPr/>
          <p:nvPr/>
        </p:nvSpPr>
        <p:spPr>
          <a:xfrm>
            <a:off x="2084832" y="2718511"/>
            <a:ext cx="749808" cy="41148"/>
          </a:xfrm>
          <a:prstGeom prst="roundRect">
            <a:avLst/>
          </a:prstGeom>
          <a:solidFill>
            <a:srgbClr val="1D4ED8"/>
          </a:solidFill>
          <a:ln w="3175">
            <a:solidFill>
              <a:srgbClr val="1E40AF"/>
            </a:solidFill>
          </a:ln>
        </p:spPr>
        <p:txBody>
          <a:bodyPr rtlCol="0" anchor="ctr"/>
          <a:lstStyle/>
          <a:p/>
        </p:txBody>
      </p:sp>
      <p:sp>
        <p:nvSpPr>
          <p:cNvPr id="61" name="frozen trainable"/>
          <p:cNvSpPr txBox="1"/>
          <p:nvPr/>
        </p:nvSpPr>
        <p:spPr>
          <a:xfrm>
            <a:off x="1993392" y="2505456"/>
            <a:ext cx="93268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0">
                <a:solidFill>
                  <a:srgbClr val="4B5563"/>
                </a:solidFill>
                <a:latin typeface="Arial"/>
              </a:rPr>
              <a:t>6 frozen + 6 trainable blocks</a:t>
            </a:r>
          </a:p>
        </p:txBody>
      </p:sp>
      <p:cxnSp>
        <p:nvCxnSpPr>
          <p:cNvPr id="62" name="Arrow"/>
          <p:cNvCxnSpPr/>
          <p:nvPr/>
        </p:nvCxnSpPr>
        <p:spPr>
          <a:xfrm>
            <a:off x="3035808" y="2359152"/>
            <a:ext cx="274320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63" name="Diagram box"/>
          <p:cNvSpPr/>
          <p:nvPr/>
        </p:nvSpPr>
        <p:spPr>
          <a:xfrm>
            <a:off x="3364992" y="1901952"/>
            <a:ext cx="1115568" cy="9601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64" name="Box title"/>
          <p:cNvSpPr txBox="1"/>
          <p:nvPr/>
        </p:nvSpPr>
        <p:spPr>
          <a:xfrm>
            <a:off x="3419856" y="2660904"/>
            <a:ext cx="100584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8 x 768 tensor</a:t>
            </a:r>
          </a:p>
        </p:txBody>
      </p:sp>
      <p:sp>
        <p:nvSpPr>
          <p:cNvPr id="65" name="matrix"/>
          <p:cNvSpPr/>
          <p:nvPr/>
        </p:nvSpPr>
        <p:spPr>
          <a:xfrm>
            <a:off x="3566160" y="2066544"/>
            <a:ext cx="713232" cy="484632"/>
          </a:xfrm>
          <a:prstGeom prst="rect">
            <a:avLst/>
          </a:prstGeom>
          <a:solidFill>
            <a:srgbClr val="EFF6FF"/>
          </a:solidFill>
          <a:ln w="762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cxnSp>
        <p:nvCxnSpPr>
          <p:cNvPr id="66" name="row"/>
          <p:cNvCxnSpPr/>
          <p:nvPr/>
        </p:nvCxnSpPr>
        <p:spPr>
          <a:xfrm>
            <a:off x="3566160" y="2127123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67" name="row"/>
          <p:cNvCxnSpPr/>
          <p:nvPr/>
        </p:nvCxnSpPr>
        <p:spPr>
          <a:xfrm>
            <a:off x="3566160" y="2187702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68" name="row"/>
          <p:cNvCxnSpPr/>
          <p:nvPr/>
        </p:nvCxnSpPr>
        <p:spPr>
          <a:xfrm>
            <a:off x="3566160" y="2248281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69" name="row"/>
          <p:cNvCxnSpPr/>
          <p:nvPr/>
        </p:nvCxnSpPr>
        <p:spPr>
          <a:xfrm>
            <a:off x="3566160" y="2308860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70" name="row"/>
          <p:cNvCxnSpPr/>
          <p:nvPr/>
        </p:nvCxnSpPr>
        <p:spPr>
          <a:xfrm>
            <a:off x="3566160" y="2369439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71" name="row"/>
          <p:cNvCxnSpPr/>
          <p:nvPr/>
        </p:nvCxnSpPr>
        <p:spPr>
          <a:xfrm>
            <a:off x="3566160" y="2430018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72" name="row"/>
          <p:cNvCxnSpPr/>
          <p:nvPr/>
        </p:nvCxnSpPr>
        <p:spPr>
          <a:xfrm>
            <a:off x="3566160" y="2490597"/>
            <a:ext cx="713232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sp>
        <p:nvSpPr>
          <p:cNvPr id="73" name="feature dot"/>
          <p:cNvSpPr/>
          <p:nvPr/>
        </p:nvSpPr>
        <p:spPr>
          <a:xfrm>
            <a:off x="3641141" y="208037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4" name="feature dot"/>
          <p:cNvSpPr/>
          <p:nvPr/>
        </p:nvSpPr>
        <p:spPr>
          <a:xfrm>
            <a:off x="3773729" y="208037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5" name="feature dot"/>
          <p:cNvSpPr/>
          <p:nvPr/>
        </p:nvSpPr>
        <p:spPr>
          <a:xfrm>
            <a:off x="3906317" y="208037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6" name="feature dot"/>
          <p:cNvSpPr/>
          <p:nvPr/>
        </p:nvSpPr>
        <p:spPr>
          <a:xfrm>
            <a:off x="4038905" y="208037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7" name="feature dot"/>
          <p:cNvSpPr/>
          <p:nvPr/>
        </p:nvSpPr>
        <p:spPr>
          <a:xfrm>
            <a:off x="4171493" y="2080374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8" name="feature dot"/>
          <p:cNvSpPr/>
          <p:nvPr/>
        </p:nvSpPr>
        <p:spPr>
          <a:xfrm>
            <a:off x="3641141" y="2140953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9" name="feature dot"/>
          <p:cNvSpPr/>
          <p:nvPr/>
        </p:nvSpPr>
        <p:spPr>
          <a:xfrm>
            <a:off x="3773729" y="2140953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0" name="feature dot"/>
          <p:cNvSpPr/>
          <p:nvPr/>
        </p:nvSpPr>
        <p:spPr>
          <a:xfrm>
            <a:off x="3906317" y="2140953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1" name="feature dot"/>
          <p:cNvSpPr/>
          <p:nvPr/>
        </p:nvSpPr>
        <p:spPr>
          <a:xfrm>
            <a:off x="4038905" y="2140953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2" name="feature dot"/>
          <p:cNvSpPr/>
          <p:nvPr/>
        </p:nvSpPr>
        <p:spPr>
          <a:xfrm>
            <a:off x="4171493" y="2140953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3" name="feature dot"/>
          <p:cNvSpPr/>
          <p:nvPr/>
        </p:nvSpPr>
        <p:spPr>
          <a:xfrm>
            <a:off x="3641141" y="22015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4" name="feature dot"/>
          <p:cNvSpPr/>
          <p:nvPr/>
        </p:nvSpPr>
        <p:spPr>
          <a:xfrm>
            <a:off x="3773729" y="22015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5" name="feature dot"/>
          <p:cNvSpPr/>
          <p:nvPr/>
        </p:nvSpPr>
        <p:spPr>
          <a:xfrm>
            <a:off x="3906317" y="22015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6" name="feature dot"/>
          <p:cNvSpPr/>
          <p:nvPr/>
        </p:nvSpPr>
        <p:spPr>
          <a:xfrm>
            <a:off x="4038905" y="22015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7" name="feature dot"/>
          <p:cNvSpPr/>
          <p:nvPr/>
        </p:nvSpPr>
        <p:spPr>
          <a:xfrm>
            <a:off x="4171493" y="2201532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8" name="feature dot"/>
          <p:cNvSpPr/>
          <p:nvPr/>
        </p:nvSpPr>
        <p:spPr>
          <a:xfrm>
            <a:off x="3641141" y="2262111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89" name="feature dot"/>
          <p:cNvSpPr/>
          <p:nvPr/>
        </p:nvSpPr>
        <p:spPr>
          <a:xfrm>
            <a:off x="3773729" y="2262111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0" name="feature dot"/>
          <p:cNvSpPr/>
          <p:nvPr/>
        </p:nvSpPr>
        <p:spPr>
          <a:xfrm>
            <a:off x="3906317" y="2262111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1" name="feature dot"/>
          <p:cNvSpPr/>
          <p:nvPr/>
        </p:nvSpPr>
        <p:spPr>
          <a:xfrm>
            <a:off x="4038905" y="2262111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2" name="feature dot"/>
          <p:cNvSpPr/>
          <p:nvPr/>
        </p:nvSpPr>
        <p:spPr>
          <a:xfrm>
            <a:off x="4171493" y="2262111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3" name="feature dot"/>
          <p:cNvSpPr/>
          <p:nvPr/>
        </p:nvSpPr>
        <p:spPr>
          <a:xfrm>
            <a:off x="3641141" y="23226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4" name="feature dot"/>
          <p:cNvSpPr/>
          <p:nvPr/>
        </p:nvSpPr>
        <p:spPr>
          <a:xfrm>
            <a:off x="3773729" y="23226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5" name="feature dot"/>
          <p:cNvSpPr/>
          <p:nvPr/>
        </p:nvSpPr>
        <p:spPr>
          <a:xfrm>
            <a:off x="3906317" y="23226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6" name="feature dot"/>
          <p:cNvSpPr/>
          <p:nvPr/>
        </p:nvSpPr>
        <p:spPr>
          <a:xfrm>
            <a:off x="4038905" y="23226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7" name="feature dot"/>
          <p:cNvSpPr/>
          <p:nvPr/>
        </p:nvSpPr>
        <p:spPr>
          <a:xfrm>
            <a:off x="4171493" y="2322690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8" name="feature dot"/>
          <p:cNvSpPr/>
          <p:nvPr/>
        </p:nvSpPr>
        <p:spPr>
          <a:xfrm>
            <a:off x="3641141" y="2383269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99" name="feature dot"/>
          <p:cNvSpPr/>
          <p:nvPr/>
        </p:nvSpPr>
        <p:spPr>
          <a:xfrm>
            <a:off x="3773729" y="2383269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0" name="feature dot"/>
          <p:cNvSpPr/>
          <p:nvPr/>
        </p:nvSpPr>
        <p:spPr>
          <a:xfrm>
            <a:off x="3906317" y="2383269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1" name="feature dot"/>
          <p:cNvSpPr/>
          <p:nvPr/>
        </p:nvSpPr>
        <p:spPr>
          <a:xfrm>
            <a:off x="4038905" y="2383269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2" name="feature dot"/>
          <p:cNvSpPr/>
          <p:nvPr/>
        </p:nvSpPr>
        <p:spPr>
          <a:xfrm>
            <a:off x="4171493" y="2383269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3" name="feature dot"/>
          <p:cNvSpPr/>
          <p:nvPr/>
        </p:nvSpPr>
        <p:spPr>
          <a:xfrm>
            <a:off x="3641141" y="244384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4" name="feature dot"/>
          <p:cNvSpPr/>
          <p:nvPr/>
        </p:nvSpPr>
        <p:spPr>
          <a:xfrm>
            <a:off x="3773729" y="244384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5" name="feature dot"/>
          <p:cNvSpPr/>
          <p:nvPr/>
        </p:nvSpPr>
        <p:spPr>
          <a:xfrm>
            <a:off x="3906317" y="244384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6" name="feature dot"/>
          <p:cNvSpPr/>
          <p:nvPr/>
        </p:nvSpPr>
        <p:spPr>
          <a:xfrm>
            <a:off x="4038905" y="244384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7" name="feature dot"/>
          <p:cNvSpPr/>
          <p:nvPr/>
        </p:nvSpPr>
        <p:spPr>
          <a:xfrm>
            <a:off x="4171493" y="2443848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8" name="feature dot"/>
          <p:cNvSpPr/>
          <p:nvPr/>
        </p:nvSpPr>
        <p:spPr>
          <a:xfrm>
            <a:off x="3641141" y="250442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09" name="feature dot"/>
          <p:cNvSpPr/>
          <p:nvPr/>
        </p:nvSpPr>
        <p:spPr>
          <a:xfrm>
            <a:off x="3773729" y="250442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0" name="feature dot"/>
          <p:cNvSpPr/>
          <p:nvPr/>
        </p:nvSpPr>
        <p:spPr>
          <a:xfrm>
            <a:off x="3906317" y="250442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1" name="feature dot"/>
          <p:cNvSpPr/>
          <p:nvPr/>
        </p:nvSpPr>
        <p:spPr>
          <a:xfrm>
            <a:off x="4038905" y="250442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2" name="feature dot"/>
          <p:cNvSpPr/>
          <p:nvPr/>
        </p:nvSpPr>
        <p:spPr>
          <a:xfrm>
            <a:off x="4171493" y="250442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13" name="tensor axes"/>
          <p:cNvSpPr txBox="1"/>
          <p:nvPr/>
        </p:nvSpPr>
        <p:spPr>
          <a:xfrm>
            <a:off x="3566160" y="1947672"/>
            <a:ext cx="713232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0">
                <a:solidFill>
                  <a:srgbClr val="4B5563"/>
                </a:solidFill>
                <a:latin typeface="Arial"/>
              </a:rPr>
              <a:t>frames x features</a:t>
            </a:r>
          </a:p>
        </p:txBody>
      </p:sp>
      <p:cxnSp>
        <p:nvCxnSpPr>
          <p:cNvPr id="114" name="Arrow"/>
          <p:cNvCxnSpPr/>
          <p:nvPr/>
        </p:nvCxnSpPr>
        <p:spPr>
          <a:xfrm>
            <a:off x="4517136" y="2359152"/>
            <a:ext cx="274320" cy="0"/>
          </a:xfrm>
          <a:prstGeom prst="line">
            <a:avLst/>
          </a:prstGeom>
          <a:ln w="13970">
            <a:solidFill>
              <a:srgbClr val="0F766E"/>
            </a:solidFill>
            <a:tailEnd type="triangle" w="med" h="med"/>
          </a:ln>
        </p:spPr>
      </p:cxnSp>
      <p:sp>
        <p:nvSpPr>
          <p:cNvPr id="115" name="Diagram box"/>
          <p:cNvSpPr/>
          <p:nvPr/>
        </p:nvSpPr>
        <p:spPr>
          <a:xfrm>
            <a:off x="4846320" y="1901952"/>
            <a:ext cx="1078992" cy="960120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16" name="Box title"/>
          <p:cNvSpPr txBox="1"/>
          <p:nvPr/>
        </p:nvSpPr>
        <p:spPr>
          <a:xfrm>
            <a:off x="4901184" y="2660904"/>
            <a:ext cx="96926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workflow token</a:t>
            </a:r>
          </a:p>
        </p:txBody>
      </p:sp>
      <p:sp>
        <p:nvSpPr>
          <p:cNvPr id="117" name="token cell"/>
          <p:cNvSpPr/>
          <p:nvPr/>
        </p:nvSpPr>
        <p:spPr>
          <a:xfrm>
            <a:off x="5010912" y="2176272"/>
            <a:ext cx="97971" cy="164592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18" name="token cell"/>
          <p:cNvSpPr/>
          <p:nvPr/>
        </p:nvSpPr>
        <p:spPr>
          <a:xfrm>
            <a:off x="5118027" y="2176272"/>
            <a:ext cx="97971" cy="164592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19" name="token cell"/>
          <p:cNvSpPr/>
          <p:nvPr/>
        </p:nvSpPr>
        <p:spPr>
          <a:xfrm>
            <a:off x="5225143" y="2176272"/>
            <a:ext cx="97971" cy="164592"/>
          </a:xfrm>
          <a:prstGeom prst="rect">
            <a:avLst/>
          </a:prstGeom>
          <a:solidFill>
            <a:srgbClr val="CCFBF1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20" name="token cell"/>
          <p:cNvSpPr/>
          <p:nvPr/>
        </p:nvSpPr>
        <p:spPr>
          <a:xfrm>
            <a:off x="5332258" y="2176272"/>
            <a:ext cx="97971" cy="164592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21" name="token cell"/>
          <p:cNvSpPr/>
          <p:nvPr/>
        </p:nvSpPr>
        <p:spPr>
          <a:xfrm>
            <a:off x="5439374" y="2176272"/>
            <a:ext cx="97971" cy="164592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22" name="token cell"/>
          <p:cNvSpPr/>
          <p:nvPr/>
        </p:nvSpPr>
        <p:spPr>
          <a:xfrm>
            <a:off x="5546489" y="2176272"/>
            <a:ext cx="97971" cy="164592"/>
          </a:xfrm>
          <a:prstGeom prst="rect">
            <a:avLst/>
          </a:prstGeom>
          <a:solidFill>
            <a:srgbClr val="CCFBF1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23" name="token cell"/>
          <p:cNvSpPr/>
          <p:nvPr/>
        </p:nvSpPr>
        <p:spPr>
          <a:xfrm>
            <a:off x="5653605" y="2176272"/>
            <a:ext cx="97971" cy="164592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24" name="token label"/>
          <p:cNvSpPr txBox="1"/>
          <p:nvPr/>
        </p:nvSpPr>
        <p:spPr>
          <a:xfrm>
            <a:off x="4937760" y="2048256"/>
            <a:ext cx="896112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0">
                <a:solidFill>
                  <a:srgbClr val="4B5563"/>
                </a:solidFill>
                <a:latin typeface="Arial"/>
              </a:rPr>
              <a:t>learned 768-d vector</a:t>
            </a:r>
          </a:p>
        </p:txBody>
      </p:sp>
      <p:cxnSp>
        <p:nvCxnSpPr>
          <p:cNvPr id="125" name="Arrow"/>
          <p:cNvCxnSpPr/>
          <p:nvPr/>
        </p:nvCxnSpPr>
        <p:spPr>
          <a:xfrm>
            <a:off x="5961888" y="2359152"/>
            <a:ext cx="274320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126" name="Diagram box"/>
          <p:cNvSpPr/>
          <p:nvPr/>
        </p:nvSpPr>
        <p:spPr>
          <a:xfrm>
            <a:off x="6291072" y="1901952"/>
            <a:ext cx="1261872" cy="960120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127" name="Box title"/>
          <p:cNvSpPr txBox="1"/>
          <p:nvPr/>
        </p:nvSpPr>
        <p:spPr>
          <a:xfrm>
            <a:off x="6345936" y="2660904"/>
            <a:ext cx="115214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HTA temporal head</a:t>
            </a:r>
          </a:p>
        </p:txBody>
      </p:sp>
      <p:sp>
        <p:nvSpPr>
          <p:cNvPr id="128" name="hta block"/>
          <p:cNvSpPr/>
          <p:nvPr/>
        </p:nvSpPr>
        <p:spPr>
          <a:xfrm>
            <a:off x="6437376" y="2066544"/>
            <a:ext cx="969264" cy="4572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129" name="hta block"/>
          <p:cNvSpPr/>
          <p:nvPr/>
        </p:nvSpPr>
        <p:spPr>
          <a:xfrm>
            <a:off x="6437376" y="2135124"/>
            <a:ext cx="969264" cy="4572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130" name="hta block"/>
          <p:cNvSpPr/>
          <p:nvPr/>
        </p:nvSpPr>
        <p:spPr>
          <a:xfrm>
            <a:off x="6437376" y="2203704"/>
            <a:ext cx="969264" cy="4572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131" name="hta block"/>
          <p:cNvSpPr/>
          <p:nvPr/>
        </p:nvSpPr>
        <p:spPr>
          <a:xfrm>
            <a:off x="6437376" y="2272284"/>
            <a:ext cx="969264" cy="4572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132" name="hta block"/>
          <p:cNvSpPr/>
          <p:nvPr/>
        </p:nvSpPr>
        <p:spPr>
          <a:xfrm>
            <a:off x="6437376" y="2340864"/>
            <a:ext cx="969264" cy="4572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133" name="hta block"/>
          <p:cNvSpPr/>
          <p:nvPr/>
        </p:nvSpPr>
        <p:spPr>
          <a:xfrm>
            <a:off x="6437376" y="2409444"/>
            <a:ext cx="969264" cy="45720"/>
          </a:xfrm>
          <a:prstGeom prst="roundRect">
            <a:avLst/>
          </a:prstGeom>
          <a:solidFill>
            <a:srgbClr val="E5E7EB"/>
          </a:solidFill>
          <a:ln w="2794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cxnSp>
        <p:nvCxnSpPr>
          <p:cNvPr id="134" name="local branch"/>
          <p:cNvCxnSpPr/>
          <p:nvPr/>
        </p:nvCxnSpPr>
        <p:spPr>
          <a:xfrm>
            <a:off x="6528816" y="2523744"/>
            <a:ext cx="292608" cy="0"/>
          </a:xfrm>
          <a:prstGeom prst="line">
            <a:avLst/>
          </a:prstGeom>
          <a:ln w="8255">
            <a:solidFill>
              <a:srgbClr val="7C3AED"/>
            </a:solidFill>
            <a:tailEnd type="triangle" w="med" h="med"/>
          </a:ln>
        </p:spPr>
      </p:cxnSp>
      <p:cxnSp>
        <p:nvCxnSpPr>
          <p:cNvPr id="135" name="global branch"/>
          <p:cNvCxnSpPr/>
          <p:nvPr/>
        </p:nvCxnSpPr>
        <p:spPr>
          <a:xfrm>
            <a:off x="6528816" y="2624328"/>
            <a:ext cx="512064" cy="0"/>
          </a:xfrm>
          <a:prstGeom prst="line">
            <a:avLst/>
          </a:prstGeom>
          <a:ln w="8255">
            <a:solidFill>
              <a:srgbClr val="0F766E"/>
            </a:solidFill>
            <a:tailEnd type="triangle" w="med" h="med"/>
          </a:ln>
        </p:spPr>
      </p:cxnSp>
      <p:sp>
        <p:nvSpPr>
          <p:cNvPr id="136" name="hta labels"/>
          <p:cNvSpPr txBox="1"/>
          <p:nvPr/>
        </p:nvSpPr>
        <p:spPr>
          <a:xfrm>
            <a:off x="6400800" y="2569464"/>
            <a:ext cx="1042416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0">
                <a:solidFill>
                  <a:srgbClr val="4B5563"/>
                </a:solidFill>
                <a:latin typeface="Arial"/>
              </a:rPr>
              <a:t>local + global attention</a:t>
            </a:r>
          </a:p>
        </p:txBody>
      </p:sp>
      <p:cxnSp>
        <p:nvCxnSpPr>
          <p:cNvPr id="137" name="Arrow"/>
          <p:cNvCxnSpPr/>
          <p:nvPr/>
        </p:nvCxnSpPr>
        <p:spPr>
          <a:xfrm>
            <a:off x="7589520" y="2359152"/>
            <a:ext cx="274320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138" name="Diagram box"/>
          <p:cNvSpPr/>
          <p:nvPr/>
        </p:nvSpPr>
        <p:spPr>
          <a:xfrm>
            <a:off x="7918704" y="1901952"/>
            <a:ext cx="1051560" cy="960120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139" name="Box title"/>
          <p:cNvSpPr txBox="1"/>
          <p:nvPr/>
        </p:nvSpPr>
        <p:spPr>
          <a:xfrm>
            <a:off x="7973568" y="2660904"/>
            <a:ext cx="94183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task heads</a:t>
            </a:r>
          </a:p>
        </p:txBody>
      </p:sp>
      <p:sp>
        <p:nvSpPr>
          <p:cNvPr id="140" name="head"/>
          <p:cNvSpPr/>
          <p:nvPr/>
        </p:nvSpPr>
        <p:spPr>
          <a:xfrm>
            <a:off x="8083296" y="2084832"/>
            <a:ext cx="722376" cy="118872"/>
          </a:xfrm>
          <a:prstGeom prst="roundRect">
            <a:avLst/>
          </a:prstGeom>
          <a:solidFill>
            <a:srgbClr val="EEF2FF"/>
          </a:solidFill>
          <a:ln w="4445">
            <a:solidFill>
              <a:srgbClr val="1D4ED8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1">
                <a:solidFill>
                  <a:srgbClr val="111827"/>
                </a:solidFill>
                <a:latin typeface="Arial"/>
              </a:rPr>
              <a:t>RSD</a:t>
            </a:r>
          </a:p>
        </p:txBody>
      </p:sp>
      <p:sp>
        <p:nvSpPr>
          <p:cNvPr id="141" name="head"/>
          <p:cNvSpPr/>
          <p:nvPr/>
        </p:nvSpPr>
        <p:spPr>
          <a:xfrm>
            <a:off x="8083296" y="2249424"/>
            <a:ext cx="722376" cy="118872"/>
          </a:xfrm>
          <a:prstGeom prst="roundRect">
            <a:avLst/>
          </a:prstGeom>
          <a:solidFill>
            <a:srgbClr val="F0FDF4"/>
          </a:solidFill>
          <a:ln w="4445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1">
                <a:solidFill>
                  <a:srgbClr val="111827"/>
                </a:solidFill>
                <a:latin typeface="Arial"/>
              </a:rPr>
              <a:t>phase</a:t>
            </a:r>
          </a:p>
        </p:txBody>
      </p:sp>
      <p:sp>
        <p:nvSpPr>
          <p:cNvPr id="142" name="head"/>
          <p:cNvSpPr/>
          <p:nvPr/>
        </p:nvSpPr>
        <p:spPr>
          <a:xfrm>
            <a:off x="8083296" y="2414016"/>
            <a:ext cx="722376" cy="118872"/>
          </a:xfrm>
          <a:prstGeom prst="roundRect">
            <a:avLst/>
          </a:prstGeom>
          <a:solidFill>
            <a:srgbClr val="FFF7ED"/>
          </a:solidFill>
          <a:ln w="444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1">
                <a:solidFill>
                  <a:srgbClr val="111827"/>
                </a:solidFill>
                <a:latin typeface="Arial"/>
              </a:rPr>
              <a:t>deviation</a:t>
            </a:r>
          </a:p>
        </p:txBody>
      </p:sp>
      <p:cxnSp>
        <p:nvCxnSpPr>
          <p:cNvPr id="143" name="Arrow"/>
          <p:cNvCxnSpPr/>
          <p:nvPr/>
        </p:nvCxnSpPr>
        <p:spPr>
          <a:xfrm>
            <a:off x="9006840" y="2359152"/>
            <a:ext cx="283464" cy="0"/>
          </a:xfrm>
          <a:prstGeom prst="line">
            <a:avLst/>
          </a:prstGeom>
          <a:ln w="13970">
            <a:solidFill>
              <a:srgbClr val="1D4ED8"/>
            </a:solidFill>
            <a:tailEnd type="triangle" w="med" h="med"/>
          </a:ln>
        </p:spPr>
      </p:cxnSp>
      <p:sp>
        <p:nvSpPr>
          <p:cNvPr id="144" name="RSD output"/>
          <p:cNvSpPr/>
          <p:nvPr/>
        </p:nvSpPr>
        <p:spPr>
          <a:xfrm>
            <a:off x="9345168" y="2176272"/>
            <a:ext cx="1051560" cy="365760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1D4ED8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1">
                <a:solidFill>
                  <a:srgbClr val="111827"/>
                </a:solidFill>
                <a:latin typeface="Arial"/>
              </a:rPr>
              <a:t>RSD minutes</a:t>
            </a:r>
          </a:p>
        </p:txBody>
      </p:sp>
      <p:sp>
        <p:nvSpPr>
          <p:cNvPr id="145" name="Panel label"/>
          <p:cNvSpPr txBox="1"/>
          <p:nvPr/>
        </p:nvSpPr>
        <p:spPr>
          <a:xfrm>
            <a:off x="384048" y="3200400"/>
            <a:ext cx="43891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30" b="1">
                <a:solidFill>
                  <a:srgbClr val="111827"/>
                </a:solidFill>
                <a:latin typeface="Arial"/>
              </a:rPr>
              <a:t>B. Workflow-token construction</a:t>
            </a:r>
          </a:p>
        </p:txBody>
      </p:sp>
      <p:sp>
        <p:nvSpPr>
          <p:cNvPr id="146" name="Diagram box"/>
          <p:cNvSpPr/>
          <p:nvPr/>
        </p:nvSpPr>
        <p:spPr>
          <a:xfrm>
            <a:off x="384048" y="3456432"/>
            <a:ext cx="1170432" cy="1005840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47" name="Box title"/>
          <p:cNvSpPr txBox="1"/>
          <p:nvPr/>
        </p:nvSpPr>
        <p:spPr>
          <a:xfrm>
            <a:off x="438912" y="4261104"/>
            <a:ext cx="106070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full phase sequence</a:t>
            </a:r>
          </a:p>
        </p:txBody>
      </p:sp>
      <p:sp>
        <p:nvSpPr>
          <p:cNvPr id="148" name="phase segment"/>
          <p:cNvSpPr/>
          <p:nvPr/>
        </p:nvSpPr>
        <p:spPr>
          <a:xfrm>
            <a:off x="512064" y="3739896"/>
            <a:ext cx="143256" cy="164592"/>
          </a:xfrm>
          <a:prstGeom prst="rect">
            <a:avLst/>
          </a:prstGeom>
          <a:solidFill>
            <a:srgbClr val="2563EB"/>
          </a:solidFill>
          <a:ln w="3175">
            <a:solidFill>
              <a:srgbClr val="FFFFF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1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149" name="phase segment"/>
          <p:cNvSpPr/>
          <p:nvPr/>
        </p:nvSpPr>
        <p:spPr>
          <a:xfrm>
            <a:off x="664464" y="3739896"/>
            <a:ext cx="143256" cy="164592"/>
          </a:xfrm>
          <a:prstGeom prst="rect">
            <a:avLst/>
          </a:prstGeom>
          <a:solidFill>
            <a:srgbClr val="0F766E"/>
          </a:solidFill>
          <a:ln w="3175">
            <a:solidFill>
              <a:srgbClr val="FFFFF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1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150" name="phase segment"/>
          <p:cNvSpPr/>
          <p:nvPr/>
        </p:nvSpPr>
        <p:spPr>
          <a:xfrm>
            <a:off x="816864" y="3739896"/>
            <a:ext cx="143256" cy="164592"/>
          </a:xfrm>
          <a:prstGeom prst="rect">
            <a:avLst/>
          </a:prstGeom>
          <a:solidFill>
            <a:srgbClr val="D97706"/>
          </a:solidFill>
          <a:ln w="3175">
            <a:solidFill>
              <a:srgbClr val="FFFFF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1">
                <a:solidFill>
                  <a:srgbClr val="FFFFFF"/>
                </a:solidFill>
                <a:latin typeface="Arial"/>
              </a:rPr>
              <a:t>P3</a:t>
            </a:r>
          </a:p>
        </p:txBody>
      </p:sp>
      <p:sp>
        <p:nvSpPr>
          <p:cNvPr id="151" name="phase segment"/>
          <p:cNvSpPr/>
          <p:nvPr/>
        </p:nvSpPr>
        <p:spPr>
          <a:xfrm>
            <a:off x="969264" y="3739896"/>
            <a:ext cx="143256" cy="164592"/>
          </a:xfrm>
          <a:prstGeom prst="rect">
            <a:avLst/>
          </a:prstGeom>
          <a:solidFill>
            <a:srgbClr val="0F766E"/>
          </a:solidFill>
          <a:ln w="3175">
            <a:solidFill>
              <a:srgbClr val="FFFFF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1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152" name="phase segment"/>
          <p:cNvSpPr/>
          <p:nvPr/>
        </p:nvSpPr>
        <p:spPr>
          <a:xfrm>
            <a:off x="1121664" y="3739896"/>
            <a:ext cx="143256" cy="164592"/>
          </a:xfrm>
          <a:prstGeom prst="rect">
            <a:avLst/>
          </a:prstGeom>
          <a:solidFill>
            <a:srgbClr val="7C3AED"/>
          </a:solidFill>
          <a:ln w="3175">
            <a:solidFill>
              <a:srgbClr val="FFFFF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1">
                <a:solidFill>
                  <a:srgbClr val="FFFFFF"/>
                </a:solidFill>
                <a:latin typeface="Arial"/>
              </a:rPr>
              <a:t>P4</a:t>
            </a:r>
          </a:p>
        </p:txBody>
      </p:sp>
      <p:sp>
        <p:nvSpPr>
          <p:cNvPr id="153" name="phase segment"/>
          <p:cNvSpPr/>
          <p:nvPr/>
        </p:nvSpPr>
        <p:spPr>
          <a:xfrm>
            <a:off x="1274064" y="3739896"/>
            <a:ext cx="143256" cy="164592"/>
          </a:xfrm>
          <a:prstGeom prst="rect">
            <a:avLst/>
          </a:prstGeom>
          <a:solidFill>
            <a:srgbClr val="DB2777"/>
          </a:solidFill>
          <a:ln w="3175">
            <a:solidFill>
              <a:srgbClr val="FFFFF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1">
                <a:solidFill>
                  <a:srgbClr val="FFFFFF"/>
                </a:solidFill>
                <a:latin typeface="Arial"/>
              </a:rPr>
              <a:t>P5</a:t>
            </a:r>
          </a:p>
        </p:txBody>
      </p:sp>
      <p:sp>
        <p:nvSpPr>
          <p:cNvPr id="154" name="oracle note"/>
          <p:cNvSpPr txBox="1"/>
          <p:nvPr/>
        </p:nvSpPr>
        <p:spPr>
          <a:xfrm>
            <a:off x="475488" y="3575304"/>
            <a:ext cx="987552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" b="1">
                <a:solidFill>
                  <a:srgbClr val="7C3AED"/>
                </a:solidFill>
                <a:latin typeface="Arial"/>
              </a:rPr>
              <a:t>oracle path</a:t>
            </a:r>
          </a:p>
        </p:txBody>
      </p:sp>
      <p:cxnSp>
        <p:nvCxnSpPr>
          <p:cNvPr id="155" name="Arrow"/>
          <p:cNvCxnSpPr/>
          <p:nvPr/>
        </p:nvCxnSpPr>
        <p:spPr>
          <a:xfrm>
            <a:off x="1591056" y="3950208"/>
            <a:ext cx="283464" cy="0"/>
          </a:xfrm>
          <a:prstGeom prst="line">
            <a:avLst/>
          </a:prstGeom>
          <a:ln w="13970">
            <a:solidFill>
              <a:srgbClr val="7C3AED"/>
            </a:solidFill>
            <a:tailEnd type="triangle" w="med" h="med"/>
          </a:ln>
        </p:spPr>
      </p:cxnSp>
      <p:sp>
        <p:nvSpPr>
          <p:cNvPr id="156" name="Diagram box"/>
          <p:cNvSpPr/>
          <p:nvPr/>
        </p:nvSpPr>
        <p:spPr>
          <a:xfrm>
            <a:off x="1920240" y="3456432"/>
            <a:ext cx="1024128" cy="1005840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57" name="Box title"/>
          <p:cNvSpPr txBox="1"/>
          <p:nvPr/>
        </p:nvSpPr>
        <p:spPr>
          <a:xfrm>
            <a:off x="1975104" y="4261104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phase bigrams</a:t>
            </a:r>
          </a:p>
        </p:txBody>
      </p:sp>
      <p:sp>
        <p:nvSpPr>
          <p:cNvPr id="158" name="bigram pill"/>
          <p:cNvSpPr/>
          <p:nvPr/>
        </p:nvSpPr>
        <p:spPr>
          <a:xfrm>
            <a:off x="2048256" y="3621024"/>
            <a:ext cx="768096" cy="118872"/>
          </a:xfrm>
          <a:prstGeom prst="roundRect">
            <a:avLst/>
          </a:prstGeom>
          <a:solidFill>
            <a:srgbClr val="EDE9FE"/>
          </a:solidFill>
          <a:ln w="444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1">
                <a:solidFill>
                  <a:srgbClr val="111827"/>
                </a:solidFill>
                <a:latin typeface="Arial"/>
              </a:rPr>
              <a:t>P1-&gt;P2</a:t>
            </a:r>
          </a:p>
        </p:txBody>
      </p:sp>
      <p:sp>
        <p:nvSpPr>
          <p:cNvPr id="159" name="bigram pill"/>
          <p:cNvSpPr/>
          <p:nvPr/>
        </p:nvSpPr>
        <p:spPr>
          <a:xfrm>
            <a:off x="2048256" y="3785616"/>
            <a:ext cx="768096" cy="118872"/>
          </a:xfrm>
          <a:prstGeom prst="roundRect">
            <a:avLst/>
          </a:prstGeom>
          <a:solidFill>
            <a:srgbClr val="EDE9FE"/>
          </a:solidFill>
          <a:ln w="444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1">
                <a:solidFill>
                  <a:srgbClr val="111827"/>
                </a:solidFill>
                <a:latin typeface="Arial"/>
              </a:rPr>
              <a:t>P2-&gt;P3</a:t>
            </a:r>
          </a:p>
        </p:txBody>
      </p:sp>
      <p:sp>
        <p:nvSpPr>
          <p:cNvPr id="160" name="bigram pill"/>
          <p:cNvSpPr/>
          <p:nvPr/>
        </p:nvSpPr>
        <p:spPr>
          <a:xfrm>
            <a:off x="2048256" y="3950208"/>
            <a:ext cx="768096" cy="118872"/>
          </a:xfrm>
          <a:prstGeom prst="roundRect">
            <a:avLst/>
          </a:prstGeom>
          <a:solidFill>
            <a:srgbClr val="EDE9FE"/>
          </a:solidFill>
          <a:ln w="444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1">
                <a:solidFill>
                  <a:srgbClr val="111827"/>
                </a:solidFill>
                <a:latin typeface="Arial"/>
              </a:rPr>
              <a:t>P3-&gt;P2</a:t>
            </a:r>
          </a:p>
        </p:txBody>
      </p:sp>
      <p:cxnSp>
        <p:nvCxnSpPr>
          <p:cNvPr id="161" name="Arrow"/>
          <p:cNvCxnSpPr/>
          <p:nvPr/>
        </p:nvCxnSpPr>
        <p:spPr>
          <a:xfrm>
            <a:off x="2980944" y="3950208"/>
            <a:ext cx="274320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162" name="Diagram box"/>
          <p:cNvSpPr/>
          <p:nvPr/>
        </p:nvSpPr>
        <p:spPr>
          <a:xfrm>
            <a:off x="3310128" y="3456432"/>
            <a:ext cx="1207008" cy="1005840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63" name="Box title"/>
          <p:cNvSpPr txBox="1"/>
          <p:nvPr/>
        </p:nvSpPr>
        <p:spPr>
          <a:xfrm>
            <a:off x="3364992" y="4261104"/>
            <a:ext cx="10972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TF-IDF + PCA</a:t>
            </a:r>
          </a:p>
        </p:txBody>
      </p:sp>
      <p:sp>
        <p:nvSpPr>
          <p:cNvPr id="164" name="tfidf bar"/>
          <p:cNvSpPr/>
          <p:nvPr/>
        </p:nvSpPr>
        <p:spPr>
          <a:xfrm>
            <a:off x="3474720" y="3685032"/>
            <a:ext cx="41148" cy="91440"/>
          </a:xfrm>
          <a:prstGeom prst="rect">
            <a:avLst/>
          </a:prstGeom>
          <a:solidFill>
            <a:srgbClr val="FDBA74"/>
          </a:solidFill>
          <a:ln w="3175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65" name="tfidf bar"/>
          <p:cNvSpPr/>
          <p:nvPr/>
        </p:nvSpPr>
        <p:spPr>
          <a:xfrm>
            <a:off x="3547872" y="3685032"/>
            <a:ext cx="41148" cy="201168"/>
          </a:xfrm>
          <a:prstGeom prst="rect">
            <a:avLst/>
          </a:prstGeom>
          <a:solidFill>
            <a:srgbClr val="FDBA74"/>
          </a:solidFill>
          <a:ln w="3175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66" name="tfidf bar"/>
          <p:cNvSpPr/>
          <p:nvPr/>
        </p:nvSpPr>
        <p:spPr>
          <a:xfrm>
            <a:off x="3621024" y="3685032"/>
            <a:ext cx="41148" cy="54864"/>
          </a:xfrm>
          <a:prstGeom prst="rect">
            <a:avLst/>
          </a:prstGeom>
          <a:solidFill>
            <a:srgbClr val="FDBA74"/>
          </a:solidFill>
          <a:ln w="3175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67" name="tfidf bar"/>
          <p:cNvSpPr/>
          <p:nvPr/>
        </p:nvSpPr>
        <p:spPr>
          <a:xfrm>
            <a:off x="3694176" y="3685032"/>
            <a:ext cx="41148" cy="256032"/>
          </a:xfrm>
          <a:prstGeom prst="rect">
            <a:avLst/>
          </a:prstGeom>
          <a:solidFill>
            <a:srgbClr val="FDBA74"/>
          </a:solidFill>
          <a:ln w="3175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68" name="tfidf bar"/>
          <p:cNvSpPr/>
          <p:nvPr/>
        </p:nvSpPr>
        <p:spPr>
          <a:xfrm>
            <a:off x="3767328" y="3685032"/>
            <a:ext cx="41148" cy="137160"/>
          </a:xfrm>
          <a:prstGeom prst="rect">
            <a:avLst/>
          </a:prstGeom>
          <a:solidFill>
            <a:srgbClr val="FDBA74"/>
          </a:solidFill>
          <a:ln w="3175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cxnSp>
        <p:nvCxnSpPr>
          <p:cNvPr id="169" name="pca axis x"/>
          <p:cNvCxnSpPr/>
          <p:nvPr/>
        </p:nvCxnSpPr>
        <p:spPr>
          <a:xfrm>
            <a:off x="3950208" y="3685032"/>
            <a:ext cx="384048" cy="0"/>
          </a:xfrm>
          <a:prstGeom prst="line">
            <a:avLst/>
          </a:prstGeom>
          <a:ln w="4445">
            <a:solidFill>
              <a:srgbClr val="4B5563"/>
            </a:solidFill>
          </a:ln>
        </p:spPr>
      </p:cxnSp>
      <p:cxnSp>
        <p:nvCxnSpPr>
          <p:cNvPr id="170" name="pca axis y"/>
          <p:cNvCxnSpPr/>
          <p:nvPr/>
        </p:nvCxnSpPr>
        <p:spPr>
          <a:xfrm>
            <a:off x="4133088" y="3657600"/>
            <a:ext cx="0" cy="356616"/>
          </a:xfrm>
          <a:prstGeom prst="line">
            <a:avLst/>
          </a:prstGeom>
          <a:ln w="4445">
            <a:solidFill>
              <a:srgbClr val="4B5563"/>
            </a:solidFill>
          </a:ln>
        </p:spPr>
      </p:cxnSp>
      <p:sp>
        <p:nvSpPr>
          <p:cNvPr id="171" name="pca point"/>
          <p:cNvSpPr/>
          <p:nvPr/>
        </p:nvSpPr>
        <p:spPr>
          <a:xfrm>
            <a:off x="4023360" y="3776472"/>
            <a:ext cx="41148" cy="41148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72" name="pca point"/>
          <p:cNvSpPr/>
          <p:nvPr/>
        </p:nvSpPr>
        <p:spPr>
          <a:xfrm>
            <a:off x="4178808" y="3904488"/>
            <a:ext cx="41148" cy="41148"/>
          </a:xfrm>
          <a:prstGeom prst="ellipse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73" name="pca point"/>
          <p:cNvSpPr/>
          <p:nvPr/>
        </p:nvSpPr>
        <p:spPr>
          <a:xfrm>
            <a:off x="4251960" y="3813048"/>
            <a:ext cx="41148" cy="41148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cxnSp>
        <p:nvCxnSpPr>
          <p:cNvPr id="174" name="Arrow"/>
          <p:cNvCxnSpPr/>
          <p:nvPr/>
        </p:nvCxnSpPr>
        <p:spPr>
          <a:xfrm>
            <a:off x="4553712" y="3950208"/>
            <a:ext cx="274320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175" name="Diagram box"/>
          <p:cNvSpPr/>
          <p:nvPr/>
        </p:nvSpPr>
        <p:spPr>
          <a:xfrm>
            <a:off x="4882896" y="3456432"/>
            <a:ext cx="1133856" cy="1005840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76" name="Box title"/>
          <p:cNvSpPr txBox="1"/>
          <p:nvPr/>
        </p:nvSpPr>
        <p:spPr>
          <a:xfrm>
            <a:off x="4937760" y="4261104"/>
            <a:ext cx="1024128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workflow centroids</a:t>
            </a:r>
          </a:p>
        </p:txBody>
      </p:sp>
      <p:sp>
        <p:nvSpPr>
          <p:cNvPr id="177" name="cluster cloud"/>
          <p:cNvSpPr/>
          <p:nvPr/>
        </p:nvSpPr>
        <p:spPr>
          <a:xfrm>
            <a:off x="5184648" y="3739896"/>
            <a:ext cx="54864" cy="54864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78" name="cluster cloud"/>
          <p:cNvSpPr/>
          <p:nvPr/>
        </p:nvSpPr>
        <p:spPr>
          <a:xfrm>
            <a:off x="5349240" y="3904488"/>
            <a:ext cx="54864" cy="54864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9" name="cluster cloud"/>
          <p:cNvSpPr/>
          <p:nvPr/>
        </p:nvSpPr>
        <p:spPr>
          <a:xfrm>
            <a:off x="5605272" y="3831336"/>
            <a:ext cx="54864" cy="54864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80" name="cluster cloud"/>
          <p:cNvSpPr/>
          <p:nvPr/>
        </p:nvSpPr>
        <p:spPr>
          <a:xfrm>
            <a:off x="5696712" y="3977640"/>
            <a:ext cx="54864" cy="54864"/>
          </a:xfrm>
          <a:prstGeom prst="ellipse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81" name="cluster cloud"/>
          <p:cNvSpPr/>
          <p:nvPr/>
        </p:nvSpPr>
        <p:spPr>
          <a:xfrm>
            <a:off x="5449824" y="3666744"/>
            <a:ext cx="54864" cy="54864"/>
          </a:xfrm>
          <a:prstGeom prst="ellipse">
            <a:avLst/>
          </a:prstGeom>
          <a:solidFill>
            <a:srgbClr val="DB2777"/>
          </a:solidFill>
          <a:ln w="1270">
            <a:solidFill>
              <a:srgbClr val="DB2777"/>
            </a:solidFill>
          </a:ln>
        </p:spPr>
        <p:txBody>
          <a:bodyPr rtlCol="0" anchor="ctr"/>
          <a:lstStyle/>
          <a:p/>
        </p:txBody>
      </p:sp>
      <p:sp>
        <p:nvSpPr>
          <p:cNvPr id="182" name="centroid"/>
          <p:cNvSpPr/>
          <p:nvPr/>
        </p:nvSpPr>
        <p:spPr>
          <a:xfrm>
            <a:off x="5262372" y="3799332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83" name="centroid"/>
          <p:cNvSpPr/>
          <p:nvPr/>
        </p:nvSpPr>
        <p:spPr>
          <a:xfrm>
            <a:off x="5628132" y="3890772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cxnSp>
        <p:nvCxnSpPr>
          <p:cNvPr id="184" name="Arrow"/>
          <p:cNvCxnSpPr/>
          <p:nvPr/>
        </p:nvCxnSpPr>
        <p:spPr>
          <a:xfrm>
            <a:off x="6053328" y="3950208"/>
            <a:ext cx="274320" cy="0"/>
          </a:xfrm>
          <a:prstGeom prst="line">
            <a:avLst/>
          </a:prstGeom>
          <a:ln w="13970">
            <a:solidFill>
              <a:srgbClr val="0F766E"/>
            </a:solidFill>
            <a:tailEnd type="triangle" w="med" h="med"/>
          </a:ln>
        </p:spPr>
      </p:cxnSp>
      <p:sp>
        <p:nvSpPr>
          <p:cNvPr id="185" name="Diagram box"/>
          <p:cNvSpPr/>
          <p:nvPr/>
        </p:nvSpPr>
        <p:spPr>
          <a:xfrm>
            <a:off x="6382512" y="3456432"/>
            <a:ext cx="1097280" cy="1005840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86" name="Box title"/>
          <p:cNvSpPr txBox="1"/>
          <p:nvPr/>
        </p:nvSpPr>
        <p:spPr>
          <a:xfrm>
            <a:off x="6437376" y="4261104"/>
            <a:ext cx="98755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soft posterior q</a:t>
            </a:r>
          </a:p>
        </p:txBody>
      </p:sp>
      <p:cxnSp>
        <p:nvCxnSpPr>
          <p:cNvPr id="187" name="posterior baseline"/>
          <p:cNvCxnSpPr/>
          <p:nvPr/>
        </p:nvCxnSpPr>
        <p:spPr>
          <a:xfrm>
            <a:off x="6556248" y="3666744"/>
            <a:ext cx="594360" cy="0"/>
          </a:xfrm>
          <a:prstGeom prst="line">
            <a:avLst/>
          </a:prstGeom>
          <a:ln w="4445">
            <a:solidFill>
              <a:srgbClr val="4B5563"/>
            </a:solidFill>
          </a:ln>
        </p:spPr>
      </p:cxnSp>
      <p:sp>
        <p:nvSpPr>
          <p:cNvPr id="188" name="posterior bar"/>
          <p:cNvSpPr/>
          <p:nvPr/>
        </p:nvSpPr>
        <p:spPr>
          <a:xfrm>
            <a:off x="6583680" y="3666744"/>
            <a:ext cx="50292" cy="109728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89" name="posterior bar"/>
          <p:cNvSpPr/>
          <p:nvPr/>
        </p:nvSpPr>
        <p:spPr>
          <a:xfrm>
            <a:off x="6675120" y="3666744"/>
            <a:ext cx="50292" cy="256032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0" name="posterior bar"/>
          <p:cNvSpPr/>
          <p:nvPr/>
        </p:nvSpPr>
        <p:spPr>
          <a:xfrm>
            <a:off x="6766560" y="3666744"/>
            <a:ext cx="50292" cy="73152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1" name="posterior bar"/>
          <p:cNvSpPr/>
          <p:nvPr/>
        </p:nvSpPr>
        <p:spPr>
          <a:xfrm>
            <a:off x="6858000" y="3666744"/>
            <a:ext cx="50292" cy="384048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2" name="posterior bar"/>
          <p:cNvSpPr/>
          <p:nvPr/>
        </p:nvSpPr>
        <p:spPr>
          <a:xfrm>
            <a:off x="6949440" y="3666744"/>
            <a:ext cx="50292" cy="164592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3" name="posterior bar"/>
          <p:cNvSpPr/>
          <p:nvPr/>
        </p:nvSpPr>
        <p:spPr>
          <a:xfrm>
            <a:off x="7040880" y="3666744"/>
            <a:ext cx="50292" cy="91440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4" name="q simplex"/>
          <p:cNvSpPr txBox="1"/>
          <p:nvPr/>
        </p:nvSpPr>
        <p:spPr>
          <a:xfrm>
            <a:off x="6492240" y="4096512"/>
            <a:ext cx="877824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0">
                <a:solidFill>
                  <a:srgbClr val="4B5563"/>
                </a:solidFill>
                <a:latin typeface="Arial"/>
              </a:rPr>
              <a:t>q in Delta^(K-1)</a:t>
            </a:r>
          </a:p>
        </p:txBody>
      </p:sp>
      <p:cxnSp>
        <p:nvCxnSpPr>
          <p:cNvPr id="195" name="Arrow"/>
          <p:cNvCxnSpPr/>
          <p:nvPr/>
        </p:nvCxnSpPr>
        <p:spPr>
          <a:xfrm>
            <a:off x="7516368" y="3950208"/>
            <a:ext cx="274320" cy="0"/>
          </a:xfrm>
          <a:prstGeom prst="line">
            <a:avLst/>
          </a:prstGeom>
          <a:ln w="13970">
            <a:solidFill>
              <a:srgbClr val="0F766E"/>
            </a:solidFill>
            <a:tailEnd type="triangle" w="med" h="med"/>
          </a:ln>
        </p:spPr>
      </p:cxnSp>
      <p:sp>
        <p:nvSpPr>
          <p:cNvPr id="196" name="Diagram box"/>
          <p:cNvSpPr/>
          <p:nvPr/>
        </p:nvSpPr>
        <p:spPr>
          <a:xfrm>
            <a:off x="7845552" y="3456432"/>
            <a:ext cx="1188720" cy="1005840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7" name="Box title"/>
          <p:cNvSpPr txBox="1"/>
          <p:nvPr/>
        </p:nvSpPr>
        <p:spPr>
          <a:xfrm>
            <a:off x="7900416" y="4261104"/>
            <a:ext cx="107899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soft token</a:t>
            </a:r>
          </a:p>
        </p:txBody>
      </p:sp>
      <p:sp>
        <p:nvSpPr>
          <p:cNvPr id="198" name="token cell"/>
          <p:cNvSpPr/>
          <p:nvPr/>
        </p:nvSpPr>
        <p:spPr>
          <a:xfrm>
            <a:off x="8010144" y="3730752"/>
            <a:ext cx="113647" cy="164592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9" name="token cell"/>
          <p:cNvSpPr/>
          <p:nvPr/>
        </p:nvSpPr>
        <p:spPr>
          <a:xfrm>
            <a:off x="8132935" y="3730752"/>
            <a:ext cx="113647" cy="164592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00" name="token cell"/>
          <p:cNvSpPr/>
          <p:nvPr/>
        </p:nvSpPr>
        <p:spPr>
          <a:xfrm>
            <a:off x="8255726" y="3730752"/>
            <a:ext cx="113647" cy="164592"/>
          </a:xfrm>
          <a:prstGeom prst="rect">
            <a:avLst/>
          </a:prstGeom>
          <a:solidFill>
            <a:srgbClr val="CCFBF1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01" name="token cell"/>
          <p:cNvSpPr/>
          <p:nvPr/>
        </p:nvSpPr>
        <p:spPr>
          <a:xfrm>
            <a:off x="8378517" y="3730752"/>
            <a:ext cx="113647" cy="164592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02" name="token cell"/>
          <p:cNvSpPr/>
          <p:nvPr/>
        </p:nvSpPr>
        <p:spPr>
          <a:xfrm>
            <a:off x="8501307" y="3730752"/>
            <a:ext cx="113647" cy="164592"/>
          </a:xfrm>
          <a:prstGeom prst="rect">
            <a:avLst/>
          </a:prstGeom>
          <a:solidFill>
            <a:srgbClr val="99F6E4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03" name="token cell"/>
          <p:cNvSpPr/>
          <p:nvPr/>
        </p:nvSpPr>
        <p:spPr>
          <a:xfrm>
            <a:off x="8624098" y="3730752"/>
            <a:ext cx="113647" cy="164592"/>
          </a:xfrm>
          <a:prstGeom prst="rect">
            <a:avLst/>
          </a:prstGeom>
          <a:solidFill>
            <a:srgbClr val="CCFBF1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04" name="token cell"/>
          <p:cNvSpPr/>
          <p:nvPr/>
        </p:nvSpPr>
        <p:spPr>
          <a:xfrm>
            <a:off x="8746889" y="3730752"/>
            <a:ext cx="113647" cy="164592"/>
          </a:xfrm>
          <a:prstGeom prst="rect">
            <a:avLst/>
          </a:prstGeom>
          <a:solidFill>
            <a:srgbClr val="0F766E"/>
          </a:solidFill>
          <a:ln w="317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05" name="token label"/>
          <p:cNvSpPr txBox="1"/>
          <p:nvPr/>
        </p:nvSpPr>
        <p:spPr>
          <a:xfrm>
            <a:off x="7936992" y="3602736"/>
            <a:ext cx="10058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0">
                <a:solidFill>
                  <a:srgbClr val="4B5563"/>
                </a:solidFill>
                <a:latin typeface="Arial"/>
              </a:rPr>
              <a:t>learned 768-d vector</a:t>
            </a:r>
          </a:p>
        </p:txBody>
      </p:sp>
      <p:cxnSp>
        <p:nvCxnSpPr>
          <p:cNvPr id="206" name="Arrow"/>
          <p:cNvCxnSpPr/>
          <p:nvPr/>
        </p:nvCxnSpPr>
        <p:spPr>
          <a:xfrm flipH="1" flipV="1">
            <a:off x="5394960" y="2852928"/>
            <a:ext cx="3063240" cy="603504"/>
          </a:xfrm>
          <a:prstGeom prst="line">
            <a:avLst/>
          </a:prstGeom>
          <a:ln w="13970">
            <a:solidFill>
              <a:srgbClr val="0F766E"/>
            </a:solidFill>
            <a:tailEnd type="triangle" w="med" h="med"/>
          </a:ln>
        </p:spPr>
      </p:cxnSp>
      <p:sp>
        <p:nvSpPr>
          <p:cNvPr id="207" name="Causal inset"/>
          <p:cNvSpPr/>
          <p:nvPr/>
        </p:nvSpPr>
        <p:spPr>
          <a:xfrm>
            <a:off x="9308592" y="3456432"/>
            <a:ext cx="2542032" cy="100584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08" name="Causal inset title"/>
          <p:cNvSpPr txBox="1"/>
          <p:nvPr/>
        </p:nvSpPr>
        <p:spPr>
          <a:xfrm>
            <a:off x="9454896" y="4242816"/>
            <a:ext cx="2240280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1">
                <a:solidFill>
                  <a:srgbClr val="0F766E"/>
                </a:solidFill>
                <a:latin typeface="Arial"/>
              </a:rPr>
              <a:t>causal-at-inference path</a:t>
            </a:r>
          </a:p>
        </p:txBody>
      </p:sp>
      <p:sp>
        <p:nvSpPr>
          <p:cNvPr id="209" name="pixels icon"/>
          <p:cNvSpPr/>
          <p:nvPr/>
        </p:nvSpPr>
        <p:spPr>
          <a:xfrm>
            <a:off x="9491472" y="3822192"/>
            <a:ext cx="347472" cy="219456"/>
          </a:xfrm>
          <a:prstGeom prst="rect">
            <a:avLst/>
          </a:prstGeom>
          <a:solidFill>
            <a:srgbClr val="DBEAFE"/>
          </a:solidFill>
          <a:ln w="4445">
            <a:solidFill>
              <a:srgbClr val="1D4ED8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" b="1">
                <a:solidFill>
                  <a:srgbClr val="111827"/>
                </a:solidFill>
                <a:latin typeface="Arial"/>
              </a:rPr>
              <a:t>pixels</a:t>
            </a:r>
          </a:p>
        </p:txBody>
      </p:sp>
      <p:cxnSp>
        <p:nvCxnSpPr>
          <p:cNvPr id="210" name="Arrow"/>
          <p:cNvCxnSpPr/>
          <p:nvPr/>
        </p:nvCxnSpPr>
        <p:spPr>
          <a:xfrm>
            <a:off x="9875520" y="3931920"/>
            <a:ext cx="256032" cy="0"/>
          </a:xfrm>
          <a:prstGeom prst="line">
            <a:avLst/>
          </a:prstGeom>
          <a:ln w="13970">
            <a:solidFill>
              <a:srgbClr val="0F766E"/>
            </a:solidFill>
            <a:tailEnd type="triangle" w="med" h="med"/>
          </a:ln>
        </p:spPr>
      </p:cxnSp>
      <p:sp>
        <p:nvSpPr>
          <p:cNvPr id="211" name="phase icon"/>
          <p:cNvSpPr/>
          <p:nvPr/>
        </p:nvSpPr>
        <p:spPr>
          <a:xfrm>
            <a:off x="10168128" y="3822192"/>
            <a:ext cx="438912" cy="219456"/>
          </a:xfrm>
          <a:prstGeom prst="rect">
            <a:avLst/>
          </a:prstGeom>
          <a:solidFill>
            <a:srgbClr val="F8FAFC"/>
          </a:solidFill>
          <a:ln w="4445">
            <a:solidFill>
              <a:srgbClr val="64748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" b="1">
                <a:solidFill>
                  <a:srgbClr val="111827"/>
                </a:solidFill>
                <a:latin typeface="Arial"/>
              </a:rPr>
              <a:t>phase</a:t>
            </a:r>
          </a:p>
        </p:txBody>
      </p:sp>
      <p:cxnSp>
        <p:nvCxnSpPr>
          <p:cNvPr id="212" name="Arrow"/>
          <p:cNvCxnSpPr/>
          <p:nvPr/>
        </p:nvCxnSpPr>
        <p:spPr>
          <a:xfrm>
            <a:off x="10643616" y="3931920"/>
            <a:ext cx="256032" cy="0"/>
          </a:xfrm>
          <a:prstGeom prst="line">
            <a:avLst/>
          </a:prstGeom>
          <a:ln w="13970">
            <a:solidFill>
              <a:srgbClr val="0F766E"/>
            </a:solidFill>
            <a:tailEnd type="triangle" w="med" h="med"/>
          </a:ln>
        </p:spPr>
      </p:cxnSp>
      <p:sp>
        <p:nvSpPr>
          <p:cNvPr id="213" name="q icon"/>
          <p:cNvSpPr/>
          <p:nvPr/>
        </p:nvSpPr>
        <p:spPr>
          <a:xfrm>
            <a:off x="10936224" y="3822192"/>
            <a:ext cx="420624" cy="219456"/>
          </a:xfrm>
          <a:prstGeom prst="rect">
            <a:avLst/>
          </a:prstGeom>
          <a:solidFill>
            <a:srgbClr val="CCFBF1"/>
          </a:solidFill>
          <a:ln w="4445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111827"/>
                </a:solidFill>
                <a:latin typeface="Arial"/>
              </a:rPr>
              <a:t>q</a:t>
            </a:r>
          </a:p>
        </p:txBody>
      </p:sp>
      <p:sp>
        <p:nvSpPr>
          <p:cNvPr id="214" name="No labels"/>
          <p:cNvSpPr txBox="1"/>
          <p:nvPr/>
        </p:nvSpPr>
        <p:spPr>
          <a:xfrm>
            <a:off x="9464040" y="3611880"/>
            <a:ext cx="2194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30" b="0">
                <a:solidFill>
                  <a:srgbClr val="4B5563"/>
                </a:solidFill>
                <a:latin typeface="Arial"/>
              </a:rPr>
              <a:t>no GT phases or full-case labels</a:t>
            </a:r>
          </a:p>
        </p:txBody>
      </p:sp>
      <p:sp>
        <p:nvSpPr>
          <p:cNvPr id="215" name="Panel label"/>
          <p:cNvSpPr txBox="1"/>
          <p:nvPr/>
        </p:nvSpPr>
        <p:spPr>
          <a:xfrm>
            <a:off x="384048" y="4846320"/>
            <a:ext cx="43891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30" b="1">
                <a:solidFill>
                  <a:srgbClr val="111827"/>
                </a:solidFill>
                <a:latin typeface="Arial"/>
              </a:rPr>
              <a:t>C. Evaluation and controls</a:t>
            </a:r>
          </a:p>
        </p:txBody>
      </p:sp>
      <p:sp>
        <p:nvSpPr>
          <p:cNvPr id="216" name="Diagram box"/>
          <p:cNvSpPr/>
          <p:nvPr/>
        </p:nvSpPr>
        <p:spPr>
          <a:xfrm>
            <a:off x="384048" y="5102352"/>
            <a:ext cx="132588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17" name="Box title"/>
          <p:cNvSpPr txBox="1"/>
          <p:nvPr/>
        </p:nvSpPr>
        <p:spPr>
          <a:xfrm>
            <a:off x="438912" y="5815584"/>
            <a:ext cx="121615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>
                <a:solidFill>
                  <a:srgbClr val="111827"/>
                </a:solidFill>
                <a:latin typeface="Arial"/>
              </a:rPr>
              <a:t>evaluation</a:t>
            </a:r>
          </a:p>
        </p:txBody>
      </p:sp>
      <p:sp>
        <p:nvSpPr>
          <p:cNvPr id="218" name="eval chip"/>
          <p:cNvSpPr/>
          <p:nvPr/>
        </p:nvSpPr>
        <p:spPr>
          <a:xfrm>
            <a:off x="502920" y="5303520"/>
            <a:ext cx="420624" cy="137160"/>
          </a:xfrm>
          <a:prstGeom prst="roundRect">
            <a:avLst/>
          </a:prstGeom>
          <a:solidFill>
            <a:srgbClr val="ECFDF5"/>
          </a:solidFill>
          <a:ln w="3175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11827"/>
                </a:solidFill>
                <a:latin typeface="Arial"/>
              </a:rPr>
              <a:t>MB140</a:t>
            </a:r>
          </a:p>
        </p:txBody>
      </p:sp>
      <p:sp>
        <p:nvSpPr>
          <p:cNvPr id="219" name="eval chip"/>
          <p:cNvSpPr/>
          <p:nvPr/>
        </p:nvSpPr>
        <p:spPr>
          <a:xfrm>
            <a:off x="1005840" y="5303520"/>
            <a:ext cx="420624" cy="137160"/>
          </a:xfrm>
          <a:prstGeom prst="roundRect">
            <a:avLst/>
          </a:prstGeom>
          <a:solidFill>
            <a:srgbClr val="ECFDF5"/>
          </a:solidFill>
          <a:ln w="3175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11827"/>
                </a:solidFill>
                <a:latin typeface="Arial"/>
              </a:rPr>
              <a:t>cross-center</a:t>
            </a:r>
          </a:p>
        </p:txBody>
      </p:sp>
      <p:sp>
        <p:nvSpPr>
          <p:cNvPr id="220" name="eval chip"/>
          <p:cNvSpPr/>
          <p:nvPr/>
        </p:nvSpPr>
        <p:spPr>
          <a:xfrm>
            <a:off x="502920" y="5504688"/>
            <a:ext cx="420624" cy="137160"/>
          </a:xfrm>
          <a:prstGeom prst="roundRect">
            <a:avLst/>
          </a:prstGeom>
          <a:solidFill>
            <a:srgbClr val="F8FAFC"/>
          </a:solidFill>
          <a:ln w="3175">
            <a:solidFill>
              <a:srgbClr val="64748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11827"/>
                </a:solidFill>
                <a:latin typeface="Arial"/>
              </a:rPr>
              <a:t>Cholec80</a:t>
            </a:r>
          </a:p>
        </p:txBody>
      </p:sp>
      <p:sp>
        <p:nvSpPr>
          <p:cNvPr id="221" name="eval chip"/>
          <p:cNvSpPr/>
          <p:nvPr/>
        </p:nvSpPr>
        <p:spPr>
          <a:xfrm>
            <a:off x="1005840" y="5504688"/>
            <a:ext cx="420624" cy="137160"/>
          </a:xfrm>
          <a:prstGeom prst="roundRect">
            <a:avLst/>
          </a:prstGeom>
          <a:solidFill>
            <a:srgbClr val="F5F3FF"/>
          </a:solidFill>
          <a:ln w="317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11827"/>
                </a:solidFill>
                <a:latin typeface="Arial"/>
              </a:rPr>
              <a:t>shuffle</a:t>
            </a:r>
          </a:p>
        </p:txBody>
      </p:sp>
      <p:cxnSp>
        <p:nvCxnSpPr>
          <p:cNvPr id="222" name="Arrow"/>
          <p:cNvCxnSpPr/>
          <p:nvPr/>
        </p:nvCxnSpPr>
        <p:spPr>
          <a:xfrm>
            <a:off x="1755648" y="5559552"/>
            <a:ext cx="310896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223" name="Protocol"/>
          <p:cNvSpPr/>
          <p:nvPr/>
        </p:nvSpPr>
        <p:spPr>
          <a:xfrm>
            <a:off x="2121408" y="5102352"/>
            <a:ext cx="1417320" cy="9144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24" name="Protocol title"/>
          <p:cNvSpPr txBox="1"/>
          <p:nvPr/>
        </p:nvSpPr>
        <p:spPr>
          <a:xfrm>
            <a:off x="2231136" y="5797296"/>
            <a:ext cx="118872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20" b="1">
                <a:solidFill>
                  <a:srgbClr val="1D4ED8"/>
                </a:solidFill>
                <a:latin typeface="Arial"/>
              </a:rPr>
              <a:t>protocols</a:t>
            </a:r>
          </a:p>
        </p:txBody>
      </p:sp>
      <p:cxnSp>
        <p:nvCxnSpPr>
          <p:cNvPr id="225" name="strict timeline"/>
          <p:cNvCxnSpPr/>
          <p:nvPr/>
        </p:nvCxnSpPr>
        <p:spPr>
          <a:xfrm>
            <a:off x="2359152" y="5440680"/>
            <a:ext cx="896112" cy="0"/>
          </a:xfrm>
          <a:prstGeom prst="line">
            <a:avLst/>
          </a:prstGeom>
          <a:ln w="6985">
            <a:solidFill>
              <a:srgbClr val="1D4ED8"/>
            </a:solidFill>
            <a:tailEnd type="triangle" w="med" h="med"/>
          </a:ln>
        </p:spPr>
      </p:cxnSp>
      <p:sp>
        <p:nvSpPr>
          <p:cNvPr id="226" name="strict target"/>
          <p:cNvSpPr/>
          <p:nvPr/>
        </p:nvSpPr>
        <p:spPr>
          <a:xfrm>
            <a:off x="3136392" y="5394960"/>
            <a:ext cx="91440" cy="9144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cxnSp>
        <p:nvCxnSpPr>
          <p:cNvPr id="227" name="centered timeline"/>
          <p:cNvCxnSpPr/>
          <p:nvPr/>
        </p:nvCxnSpPr>
        <p:spPr>
          <a:xfrm>
            <a:off x="2359152" y="5257800"/>
            <a:ext cx="896112" cy="0"/>
          </a:xfrm>
          <a:prstGeom prst="line">
            <a:avLst/>
          </a:prstGeom>
          <a:ln w="6985">
            <a:solidFill>
              <a:srgbClr val="D97706"/>
            </a:solidFill>
            <a:tailEnd type="triangle" w="med" h="med"/>
          </a:ln>
        </p:spPr>
      </p:cxnSp>
      <p:sp>
        <p:nvSpPr>
          <p:cNvPr id="228" name="center target"/>
          <p:cNvSpPr/>
          <p:nvPr/>
        </p:nvSpPr>
        <p:spPr>
          <a:xfrm>
            <a:off x="2788920" y="5212080"/>
            <a:ext cx="91440" cy="91440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229" name="Protocol legend"/>
          <p:cNvSpPr txBox="1"/>
          <p:nvPr/>
        </p:nvSpPr>
        <p:spPr>
          <a:xfrm>
            <a:off x="2249424" y="5577840"/>
            <a:ext cx="1152144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70" b="0">
                <a:solidFill>
                  <a:srgbClr val="4B5563"/>
                </a:solidFill>
                <a:latin typeface="Arial"/>
              </a:rPr>
              <a:t>strict vs centered</a:t>
            </a:r>
          </a:p>
        </p:txBody>
      </p:sp>
      <p:cxnSp>
        <p:nvCxnSpPr>
          <p:cNvPr id="230" name="Arrow"/>
          <p:cNvCxnSpPr/>
          <p:nvPr/>
        </p:nvCxnSpPr>
        <p:spPr>
          <a:xfrm>
            <a:off x="3584448" y="5559552"/>
            <a:ext cx="301752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231" name="Result pattern"/>
          <p:cNvSpPr/>
          <p:nvPr/>
        </p:nvSpPr>
        <p:spPr>
          <a:xfrm>
            <a:off x="3941064" y="5102352"/>
            <a:ext cx="199339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32" name="Result title"/>
          <p:cNvSpPr txBox="1"/>
          <p:nvPr/>
        </p:nvSpPr>
        <p:spPr>
          <a:xfrm>
            <a:off x="4096512" y="5797296"/>
            <a:ext cx="169164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result pattern</a:t>
            </a:r>
          </a:p>
        </p:txBody>
      </p:sp>
      <p:sp>
        <p:nvSpPr>
          <p:cNvPr id="233" name="result bar"/>
          <p:cNvSpPr/>
          <p:nvPr/>
        </p:nvSpPr>
        <p:spPr>
          <a:xfrm>
            <a:off x="4160520" y="5285232"/>
            <a:ext cx="164592" cy="475488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34" name="bar label"/>
          <p:cNvSpPr txBox="1"/>
          <p:nvPr/>
        </p:nvSpPr>
        <p:spPr>
          <a:xfrm>
            <a:off x="4087368" y="5202936"/>
            <a:ext cx="32918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90" b="0">
                <a:solidFill>
                  <a:srgbClr val="4B5563"/>
                </a:solidFill>
                <a:latin typeface="Arial"/>
              </a:rPr>
              <a:t>MB140</a:t>
            </a:r>
          </a:p>
        </p:txBody>
      </p:sp>
      <p:sp>
        <p:nvSpPr>
          <p:cNvPr id="235" name="result bar"/>
          <p:cNvSpPr/>
          <p:nvPr/>
        </p:nvSpPr>
        <p:spPr>
          <a:xfrm>
            <a:off x="4544568" y="5285232"/>
            <a:ext cx="164592" cy="320040"/>
          </a:xfrm>
          <a:prstGeom prst="rect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236" name="bar label"/>
          <p:cNvSpPr txBox="1"/>
          <p:nvPr/>
        </p:nvSpPr>
        <p:spPr>
          <a:xfrm>
            <a:off x="4471416" y="5202936"/>
            <a:ext cx="32918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90" b="0">
                <a:solidFill>
                  <a:srgbClr val="4B5563"/>
                </a:solidFill>
                <a:latin typeface="Arial"/>
              </a:rPr>
              <a:t>cross</a:t>
            </a:r>
          </a:p>
        </p:txBody>
      </p:sp>
      <p:sp>
        <p:nvSpPr>
          <p:cNvPr id="237" name="result bar"/>
          <p:cNvSpPr/>
          <p:nvPr/>
        </p:nvSpPr>
        <p:spPr>
          <a:xfrm>
            <a:off x="4928616" y="5285232"/>
            <a:ext cx="164592" cy="91440"/>
          </a:xfrm>
          <a:prstGeom prst="rect">
            <a:avLst/>
          </a:prstGeom>
          <a:solidFill>
            <a:srgbClr val="64748B"/>
          </a:solidFill>
          <a:ln w="1270">
            <a:solidFill>
              <a:srgbClr val="64748B"/>
            </a:solidFill>
          </a:ln>
        </p:spPr>
        <p:txBody>
          <a:bodyPr rtlCol="0" anchor="ctr"/>
          <a:lstStyle/>
          <a:p/>
        </p:txBody>
      </p:sp>
      <p:sp>
        <p:nvSpPr>
          <p:cNvPr id="238" name="bar label"/>
          <p:cNvSpPr txBox="1"/>
          <p:nvPr/>
        </p:nvSpPr>
        <p:spPr>
          <a:xfrm>
            <a:off x="4855464" y="5202936"/>
            <a:ext cx="32918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90" b="0">
                <a:solidFill>
                  <a:srgbClr val="4B5563"/>
                </a:solidFill>
                <a:latin typeface="Arial"/>
              </a:rPr>
              <a:t>Chole</a:t>
            </a:r>
          </a:p>
        </p:txBody>
      </p:sp>
      <p:sp>
        <p:nvSpPr>
          <p:cNvPr id="239" name="result bar"/>
          <p:cNvSpPr/>
          <p:nvPr/>
        </p:nvSpPr>
        <p:spPr>
          <a:xfrm>
            <a:off x="5312664" y="5285232"/>
            <a:ext cx="164592" cy="18288"/>
          </a:xfrm>
          <a:prstGeom prst="rect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240" name="bar label"/>
          <p:cNvSpPr txBox="1"/>
          <p:nvPr/>
        </p:nvSpPr>
        <p:spPr>
          <a:xfrm>
            <a:off x="5239512" y="5202936"/>
            <a:ext cx="329184" cy="73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90" b="0">
                <a:solidFill>
                  <a:srgbClr val="4B5563"/>
                </a:solidFill>
                <a:latin typeface="Arial"/>
              </a:rPr>
              <a:t>shuffle</a:t>
            </a:r>
          </a:p>
        </p:txBody>
      </p:sp>
      <p:cxnSp>
        <p:nvCxnSpPr>
          <p:cNvPr id="241" name="Arrow"/>
          <p:cNvCxnSpPr/>
          <p:nvPr/>
        </p:nvCxnSpPr>
        <p:spPr>
          <a:xfrm>
            <a:off x="5980176" y="5559552"/>
            <a:ext cx="310896" cy="0"/>
          </a:xfrm>
          <a:prstGeom prst="line">
            <a:avLst/>
          </a:prstGeom>
          <a:ln w="13970">
            <a:solidFill>
              <a:srgbClr val="334155"/>
            </a:solidFill>
            <a:tailEnd type="triangle" w="med" h="med"/>
          </a:ln>
        </p:spPr>
      </p:cxnSp>
      <p:sp>
        <p:nvSpPr>
          <p:cNvPr id="242" name="Claim"/>
          <p:cNvSpPr/>
          <p:nvPr/>
        </p:nvSpPr>
        <p:spPr>
          <a:xfrm>
            <a:off x="6345936" y="5102352"/>
            <a:ext cx="2880360" cy="914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43" name="Claim text"/>
          <p:cNvSpPr txBox="1"/>
          <p:nvPr/>
        </p:nvSpPr>
        <p:spPr>
          <a:xfrm>
            <a:off x="6510528" y="5376672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workflow conditioning helps when workflow variation exists and the token is meaningful</a:t>
            </a:r>
          </a:p>
        </p:txBody>
      </p:sp>
      <p:cxnSp>
        <p:nvCxnSpPr>
          <p:cNvPr id="244" name="Footer rule"/>
          <p:cNvCxnSpPr/>
          <p:nvPr/>
        </p:nvCxnSpPr>
        <p:spPr>
          <a:xfrm>
            <a:off x="329184" y="6217920"/>
            <a:ext cx="11759184" cy="0"/>
          </a:xfrm>
          <a:prstGeom prst="line">
            <a:avLst/>
          </a:prstGeom>
          <a:ln w="7620">
            <a:solidFill>
              <a:srgbClr val="E5E7EB"/>
            </a:solidFill>
          </a:ln>
        </p:spPr>
      </p:cxnSp>
      <p:sp>
        <p:nvSpPr>
          <p:cNvPr id="245" name="Footer"/>
          <p:cNvSpPr txBox="1"/>
          <p:nvPr/>
        </p:nvSpPr>
        <p:spPr>
          <a:xfrm>
            <a:off x="960120" y="6291072"/>
            <a:ext cx="1051560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20" b="0">
                <a:solidFill>
                  <a:srgbClr val="4B5563"/>
                </a:solidFill>
                <a:latin typeface="Arial"/>
              </a:rPr>
              <a:t>All non-image elements are editable PowerPoint shapes; real surgical frames remain embedded image thumbnails.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