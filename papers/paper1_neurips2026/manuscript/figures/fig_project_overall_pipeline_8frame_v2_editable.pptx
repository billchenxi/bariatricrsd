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436475" cy="6400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29" d="100"/>
          <a:sy n="129" d="100"/>
        </p:scale>
        <p:origin x="38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435840" cy="640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" name="Title"/>
          <p:cNvSpPr txBox="1"/>
          <p:nvPr/>
        </p:nvSpPr>
        <p:spPr>
          <a:xfrm>
            <a:off x="1645920" y="91440"/>
            <a:ext cx="9144000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440" b="1">
                <a:solidFill>
                  <a:srgbClr val="111827"/>
                </a:solidFill>
                <a:latin typeface="Arial"/>
              </a:rPr>
              <a:t>Overall pipeline: workflow-conditioned RSD prediction</a:t>
            </a:r>
          </a:p>
        </p:txBody>
      </p:sp>
      <p:sp>
        <p:nvSpPr>
          <p:cNvPr id="4" name="Subtitle"/>
          <p:cNvSpPr txBox="1"/>
          <p:nvPr/>
        </p:nvSpPr>
        <p:spPr>
          <a:xfrm>
            <a:off x="1188720" y="402336"/>
            <a:ext cx="1005840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80" b="0">
                <a:solidFill>
                  <a:srgbClr val="4B5563"/>
                </a:solidFill>
                <a:latin typeface="Arial"/>
              </a:rPr>
              <a:t>The model combines visual prefix evidence with a workflow token, then tests whether that token helps across datasets and protocols.</a:t>
            </a:r>
          </a:p>
        </p:txBody>
      </p:sp>
      <p:sp>
        <p:nvSpPr>
          <p:cNvPr id="5" name="Prefix title"/>
          <p:cNvSpPr txBox="1"/>
          <p:nvPr/>
        </p:nvSpPr>
        <p:spPr>
          <a:xfrm>
            <a:off x="384048" y="804672"/>
            <a:ext cx="438912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00" b="1">
                <a:solidFill>
                  <a:srgbClr val="111827"/>
                </a:solidFill>
                <a:latin typeface="Arial"/>
              </a:rPr>
              <a:t>Observed prefix clip x_1:t</a:t>
            </a:r>
          </a:p>
        </p:txBody>
      </p:sp>
      <p:sp>
        <p:nvSpPr>
          <p:cNvPr id="6" name="Prefix subtitle"/>
          <p:cNvSpPr txBox="1"/>
          <p:nvPr/>
        </p:nvSpPr>
        <p:spPr>
          <a:xfrm>
            <a:off x="3886200" y="804672"/>
            <a:ext cx="448056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40" b="0">
                <a:solidFill>
                  <a:srgbClr val="4B5563"/>
                </a:solidFill>
                <a:latin typeface="Arial"/>
              </a:rPr>
              <a:t>8 sampled frames from a real MB140 / BBP12 case; orange marks the current timestamp.</a:t>
            </a:r>
          </a:p>
        </p:txBody>
      </p:sp>
      <p:pic>
        <p:nvPicPr>
          <p:cNvPr id="7" name="Prefix frame 1"/>
          <p:cNvPicPr>
            <a:picLocks noChangeAspect="1"/>
          </p:cNvPicPr>
          <p:nvPr/>
        </p:nvPicPr>
        <p:blipFill>
          <a:blip r:embed="rId2"/>
          <a:srcRect t="9000" b="9000"/>
          <a:stretch>
            <a:fillRect/>
          </a:stretch>
        </p:blipFill>
        <p:spPr>
          <a:xfrm>
            <a:off x="219456" y="1575998"/>
            <a:ext cx="219587" cy="197938"/>
          </a:xfrm>
          <a:prstGeom prst="rect">
            <a:avLst/>
          </a:prstGeom>
        </p:spPr>
      </p:pic>
      <p:sp>
        <p:nvSpPr>
          <p:cNvPr id="8" name="Frame border"/>
          <p:cNvSpPr/>
          <p:nvPr/>
        </p:nvSpPr>
        <p:spPr>
          <a:xfrm>
            <a:off x="384048" y="1060704"/>
            <a:ext cx="987552" cy="585216"/>
          </a:xfrm>
          <a:prstGeom prst="rect">
            <a:avLst/>
          </a:prstGeom>
          <a:noFill/>
          <a:ln w="7620">
            <a:solidFill>
              <a:srgbClr val="D1D5D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" name="Frame index"/>
          <p:cNvSpPr txBox="1"/>
          <p:nvPr/>
        </p:nvSpPr>
        <p:spPr>
          <a:xfrm>
            <a:off x="713232" y="1682496"/>
            <a:ext cx="329184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70" b="0">
                <a:solidFill>
                  <a:srgbClr val="4B5563"/>
                </a:solidFill>
                <a:latin typeface="Arial"/>
              </a:rPr>
              <a:t>x_1</a:t>
            </a:r>
          </a:p>
        </p:txBody>
      </p:sp>
      <p:pic>
        <p:nvPicPr>
          <p:cNvPr id="10" name="Prefix frame 2"/>
          <p:cNvPicPr>
            <a:picLocks noChangeAspect="1"/>
          </p:cNvPicPr>
          <p:nvPr/>
        </p:nvPicPr>
        <p:blipFill>
          <a:blip r:embed="rId3"/>
          <a:srcRect t="9000" b="9000"/>
          <a:stretch>
            <a:fillRect/>
          </a:stretch>
        </p:blipFill>
        <p:spPr>
          <a:xfrm>
            <a:off x="1261872" y="1575998"/>
            <a:ext cx="219587" cy="197938"/>
          </a:xfrm>
          <a:prstGeom prst="rect">
            <a:avLst/>
          </a:prstGeom>
        </p:spPr>
      </p:pic>
      <p:sp>
        <p:nvSpPr>
          <p:cNvPr id="11" name="Frame border"/>
          <p:cNvSpPr/>
          <p:nvPr/>
        </p:nvSpPr>
        <p:spPr>
          <a:xfrm>
            <a:off x="1426464" y="1060704"/>
            <a:ext cx="987552" cy="585216"/>
          </a:xfrm>
          <a:prstGeom prst="rect">
            <a:avLst/>
          </a:prstGeom>
          <a:noFill/>
          <a:ln w="7620">
            <a:solidFill>
              <a:srgbClr val="D1D5D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2" name="Frame index"/>
          <p:cNvSpPr txBox="1"/>
          <p:nvPr/>
        </p:nvSpPr>
        <p:spPr>
          <a:xfrm>
            <a:off x="1755648" y="1682496"/>
            <a:ext cx="329184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70" b="0">
                <a:solidFill>
                  <a:srgbClr val="4B5563"/>
                </a:solidFill>
                <a:latin typeface="Arial"/>
              </a:rPr>
              <a:t>x_2</a:t>
            </a:r>
          </a:p>
        </p:txBody>
      </p:sp>
      <p:pic>
        <p:nvPicPr>
          <p:cNvPr id="13" name="Prefix frame 3"/>
          <p:cNvPicPr>
            <a:picLocks noChangeAspect="1"/>
          </p:cNvPicPr>
          <p:nvPr/>
        </p:nvPicPr>
        <p:blipFill>
          <a:blip r:embed="rId4"/>
          <a:srcRect t="9000" b="9000"/>
          <a:stretch>
            <a:fillRect/>
          </a:stretch>
        </p:blipFill>
        <p:spPr>
          <a:xfrm>
            <a:off x="2304288" y="1575998"/>
            <a:ext cx="219587" cy="197938"/>
          </a:xfrm>
          <a:prstGeom prst="rect">
            <a:avLst/>
          </a:prstGeom>
        </p:spPr>
      </p:pic>
      <p:sp>
        <p:nvSpPr>
          <p:cNvPr id="14" name="Frame border"/>
          <p:cNvSpPr/>
          <p:nvPr/>
        </p:nvSpPr>
        <p:spPr>
          <a:xfrm>
            <a:off x="2468880" y="1060704"/>
            <a:ext cx="987552" cy="585216"/>
          </a:xfrm>
          <a:prstGeom prst="rect">
            <a:avLst/>
          </a:prstGeom>
          <a:noFill/>
          <a:ln w="7620">
            <a:solidFill>
              <a:srgbClr val="D1D5D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5" name="Frame index"/>
          <p:cNvSpPr txBox="1"/>
          <p:nvPr/>
        </p:nvSpPr>
        <p:spPr>
          <a:xfrm>
            <a:off x="2798064" y="1682496"/>
            <a:ext cx="329184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70" b="0">
                <a:solidFill>
                  <a:srgbClr val="4B5563"/>
                </a:solidFill>
                <a:latin typeface="Arial"/>
              </a:rPr>
              <a:t>x_3</a:t>
            </a:r>
          </a:p>
        </p:txBody>
      </p:sp>
      <p:pic>
        <p:nvPicPr>
          <p:cNvPr id="16" name="Prefix frame 4"/>
          <p:cNvPicPr>
            <a:picLocks noChangeAspect="1"/>
          </p:cNvPicPr>
          <p:nvPr/>
        </p:nvPicPr>
        <p:blipFill>
          <a:blip r:embed="rId5"/>
          <a:srcRect t="9000" b="9000"/>
          <a:stretch>
            <a:fillRect/>
          </a:stretch>
        </p:blipFill>
        <p:spPr>
          <a:xfrm>
            <a:off x="3346704" y="1575998"/>
            <a:ext cx="219587" cy="197938"/>
          </a:xfrm>
          <a:prstGeom prst="rect">
            <a:avLst/>
          </a:prstGeom>
        </p:spPr>
      </p:pic>
      <p:sp>
        <p:nvSpPr>
          <p:cNvPr id="17" name="Frame border"/>
          <p:cNvSpPr/>
          <p:nvPr/>
        </p:nvSpPr>
        <p:spPr>
          <a:xfrm>
            <a:off x="3511296" y="1060704"/>
            <a:ext cx="987552" cy="585216"/>
          </a:xfrm>
          <a:prstGeom prst="rect">
            <a:avLst/>
          </a:prstGeom>
          <a:noFill/>
          <a:ln w="7620">
            <a:solidFill>
              <a:srgbClr val="D1D5D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18" name="Frame index"/>
          <p:cNvSpPr txBox="1"/>
          <p:nvPr/>
        </p:nvSpPr>
        <p:spPr>
          <a:xfrm>
            <a:off x="3840480" y="1682496"/>
            <a:ext cx="329184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70" b="0">
                <a:solidFill>
                  <a:srgbClr val="4B5563"/>
                </a:solidFill>
                <a:latin typeface="Arial"/>
              </a:rPr>
              <a:t>x_4</a:t>
            </a:r>
          </a:p>
        </p:txBody>
      </p:sp>
      <p:pic>
        <p:nvPicPr>
          <p:cNvPr id="19" name="Prefix frame 5"/>
          <p:cNvPicPr>
            <a:picLocks noChangeAspect="1"/>
          </p:cNvPicPr>
          <p:nvPr/>
        </p:nvPicPr>
        <p:blipFill>
          <a:blip r:embed="rId6"/>
          <a:srcRect t="9000" b="9000"/>
          <a:stretch>
            <a:fillRect/>
          </a:stretch>
        </p:blipFill>
        <p:spPr>
          <a:xfrm>
            <a:off x="4389120" y="1575998"/>
            <a:ext cx="219587" cy="197938"/>
          </a:xfrm>
          <a:prstGeom prst="rect">
            <a:avLst/>
          </a:prstGeom>
        </p:spPr>
      </p:pic>
      <p:sp>
        <p:nvSpPr>
          <p:cNvPr id="20" name="Frame border"/>
          <p:cNvSpPr/>
          <p:nvPr/>
        </p:nvSpPr>
        <p:spPr>
          <a:xfrm>
            <a:off x="4553712" y="1060704"/>
            <a:ext cx="987552" cy="585216"/>
          </a:xfrm>
          <a:prstGeom prst="rect">
            <a:avLst/>
          </a:prstGeom>
          <a:noFill/>
          <a:ln w="7620">
            <a:solidFill>
              <a:srgbClr val="D1D5D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1" name="Frame index"/>
          <p:cNvSpPr txBox="1"/>
          <p:nvPr/>
        </p:nvSpPr>
        <p:spPr>
          <a:xfrm>
            <a:off x="4882896" y="1682496"/>
            <a:ext cx="329184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70" b="0">
                <a:solidFill>
                  <a:srgbClr val="4B5563"/>
                </a:solidFill>
                <a:latin typeface="Arial"/>
              </a:rPr>
              <a:t>x_5</a:t>
            </a:r>
          </a:p>
        </p:txBody>
      </p:sp>
      <p:pic>
        <p:nvPicPr>
          <p:cNvPr id="22" name="Prefix frame 6"/>
          <p:cNvPicPr>
            <a:picLocks noChangeAspect="1"/>
          </p:cNvPicPr>
          <p:nvPr/>
        </p:nvPicPr>
        <p:blipFill>
          <a:blip r:embed="rId7"/>
          <a:srcRect t="9000" b="9000"/>
          <a:stretch>
            <a:fillRect/>
          </a:stretch>
        </p:blipFill>
        <p:spPr>
          <a:xfrm>
            <a:off x="5431536" y="1575998"/>
            <a:ext cx="219587" cy="197938"/>
          </a:xfrm>
          <a:prstGeom prst="rect">
            <a:avLst/>
          </a:prstGeom>
        </p:spPr>
      </p:pic>
      <p:sp>
        <p:nvSpPr>
          <p:cNvPr id="23" name="Frame border"/>
          <p:cNvSpPr/>
          <p:nvPr/>
        </p:nvSpPr>
        <p:spPr>
          <a:xfrm>
            <a:off x="5596128" y="1060704"/>
            <a:ext cx="987552" cy="585216"/>
          </a:xfrm>
          <a:prstGeom prst="rect">
            <a:avLst/>
          </a:prstGeom>
          <a:noFill/>
          <a:ln w="7620">
            <a:solidFill>
              <a:srgbClr val="D1D5D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4" name="Frame index"/>
          <p:cNvSpPr txBox="1"/>
          <p:nvPr/>
        </p:nvSpPr>
        <p:spPr>
          <a:xfrm>
            <a:off x="5925312" y="1682496"/>
            <a:ext cx="329184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70" b="0">
                <a:solidFill>
                  <a:srgbClr val="4B5563"/>
                </a:solidFill>
                <a:latin typeface="Arial"/>
              </a:rPr>
              <a:t>x_6</a:t>
            </a:r>
          </a:p>
        </p:txBody>
      </p:sp>
      <p:pic>
        <p:nvPicPr>
          <p:cNvPr id="25" name="Prefix frame 7"/>
          <p:cNvPicPr>
            <a:picLocks noChangeAspect="1"/>
          </p:cNvPicPr>
          <p:nvPr/>
        </p:nvPicPr>
        <p:blipFill>
          <a:blip r:embed="rId8"/>
          <a:srcRect t="9000" b="9000"/>
          <a:stretch>
            <a:fillRect/>
          </a:stretch>
        </p:blipFill>
        <p:spPr>
          <a:xfrm>
            <a:off x="6473952" y="1575998"/>
            <a:ext cx="219587" cy="197938"/>
          </a:xfrm>
          <a:prstGeom prst="rect">
            <a:avLst/>
          </a:prstGeom>
        </p:spPr>
      </p:pic>
      <p:sp>
        <p:nvSpPr>
          <p:cNvPr id="26" name="Frame border"/>
          <p:cNvSpPr/>
          <p:nvPr/>
        </p:nvSpPr>
        <p:spPr>
          <a:xfrm>
            <a:off x="6638544" y="1060704"/>
            <a:ext cx="987552" cy="585216"/>
          </a:xfrm>
          <a:prstGeom prst="rect">
            <a:avLst/>
          </a:prstGeom>
          <a:noFill/>
          <a:ln w="7620">
            <a:solidFill>
              <a:srgbClr val="D1D5D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27" name="Frame index"/>
          <p:cNvSpPr txBox="1"/>
          <p:nvPr/>
        </p:nvSpPr>
        <p:spPr>
          <a:xfrm>
            <a:off x="6967728" y="1682496"/>
            <a:ext cx="329184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70" b="0">
                <a:solidFill>
                  <a:srgbClr val="4B5563"/>
                </a:solidFill>
                <a:latin typeface="Arial"/>
              </a:rPr>
              <a:t>x_7</a:t>
            </a:r>
          </a:p>
        </p:txBody>
      </p:sp>
      <p:pic>
        <p:nvPicPr>
          <p:cNvPr id="28" name="Prefix frame 8"/>
          <p:cNvPicPr>
            <a:picLocks noChangeAspect="1"/>
          </p:cNvPicPr>
          <p:nvPr/>
        </p:nvPicPr>
        <p:blipFill>
          <a:blip r:embed="rId9"/>
          <a:srcRect t="9000" b="9000"/>
          <a:stretch>
            <a:fillRect/>
          </a:stretch>
        </p:blipFill>
        <p:spPr>
          <a:xfrm>
            <a:off x="7516368" y="1575998"/>
            <a:ext cx="219587" cy="197938"/>
          </a:xfrm>
          <a:prstGeom prst="rect">
            <a:avLst/>
          </a:prstGeom>
        </p:spPr>
      </p:pic>
      <p:sp>
        <p:nvSpPr>
          <p:cNvPr id="29" name="Frame border"/>
          <p:cNvSpPr/>
          <p:nvPr/>
        </p:nvSpPr>
        <p:spPr>
          <a:xfrm>
            <a:off x="7680960" y="1060704"/>
            <a:ext cx="987552" cy="585216"/>
          </a:xfrm>
          <a:prstGeom prst="rect">
            <a:avLst/>
          </a:prstGeom>
          <a:noFill/>
          <a:ln w="7620">
            <a:solidFill>
              <a:srgbClr val="D1D5DB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0" name="Frame index"/>
          <p:cNvSpPr txBox="1"/>
          <p:nvPr/>
        </p:nvSpPr>
        <p:spPr>
          <a:xfrm>
            <a:off x="8010144" y="1682496"/>
            <a:ext cx="329184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70" b="0">
                <a:solidFill>
                  <a:srgbClr val="4B5563"/>
                </a:solidFill>
                <a:latin typeface="Arial"/>
              </a:rPr>
              <a:t>x_8</a:t>
            </a:r>
          </a:p>
        </p:txBody>
      </p:sp>
      <p:sp>
        <p:nvSpPr>
          <p:cNvPr id="31" name="Current time border"/>
          <p:cNvSpPr/>
          <p:nvPr/>
        </p:nvSpPr>
        <p:spPr>
          <a:xfrm>
            <a:off x="7680960" y="1060704"/>
            <a:ext cx="987552" cy="585216"/>
          </a:xfrm>
          <a:prstGeom prst="rect">
            <a:avLst/>
          </a:prstGeom>
          <a:noFill/>
          <a:ln w="25400">
            <a:solidFill>
              <a:srgbClr val="D97706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2" name="Current time badge"/>
          <p:cNvSpPr/>
          <p:nvPr/>
        </p:nvSpPr>
        <p:spPr>
          <a:xfrm>
            <a:off x="7680960" y="1060704"/>
            <a:ext cx="384048" cy="18288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rtlCol="0" anchor="ctr"/>
          <a:lstStyle/>
          <a:p>
            <a:endParaRPr/>
          </a:p>
        </p:txBody>
      </p:sp>
      <p:sp>
        <p:nvSpPr>
          <p:cNvPr id="33" name="xt badge text"/>
          <p:cNvSpPr txBox="1"/>
          <p:nvPr/>
        </p:nvSpPr>
        <p:spPr>
          <a:xfrm>
            <a:off x="7717536" y="1088136"/>
            <a:ext cx="310896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50" b="1">
                <a:solidFill>
                  <a:srgbClr val="FFFFFF"/>
                </a:solidFill>
                <a:latin typeface="Arial"/>
              </a:rPr>
              <a:t>x_t</a:t>
            </a:r>
          </a:p>
        </p:txBody>
      </p:sp>
      <p:sp>
        <p:nvSpPr>
          <p:cNvPr id="34" name="Protocol note"/>
          <p:cNvSpPr/>
          <p:nvPr/>
        </p:nvSpPr>
        <p:spPr>
          <a:xfrm>
            <a:off x="9235440" y="960120"/>
            <a:ext cx="2542032" cy="713232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35" name="Protocol note title"/>
          <p:cNvSpPr txBox="1"/>
          <p:nvPr/>
        </p:nvSpPr>
        <p:spPr>
          <a:xfrm>
            <a:off x="9400032" y="107899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40" b="1">
                <a:solidFill>
                  <a:srgbClr val="1D4ED8"/>
                </a:solidFill>
                <a:latin typeface="Arial"/>
              </a:rPr>
              <a:t>strict prefix-only protocol</a:t>
            </a:r>
          </a:p>
        </p:txBody>
      </p:sp>
      <p:sp>
        <p:nvSpPr>
          <p:cNvPr id="36" name="Protocol note body"/>
          <p:cNvSpPr txBox="1"/>
          <p:nvPr/>
        </p:nvSpPr>
        <p:spPr>
          <a:xfrm>
            <a:off x="9400032" y="1298448"/>
            <a:ext cx="219456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0">
                <a:solidFill>
                  <a:srgbClr val="111827"/>
                </a:solidFill>
                <a:latin typeface="Arial"/>
              </a:rPr>
              <a:t>clip ends at t; no future frames</a:t>
            </a:r>
          </a:p>
        </p:txBody>
      </p:sp>
      <p:sp>
        <p:nvSpPr>
          <p:cNvPr id="37" name="Panel label"/>
          <p:cNvSpPr txBox="1"/>
          <p:nvPr/>
        </p:nvSpPr>
        <p:spPr>
          <a:xfrm>
            <a:off x="384048" y="1993392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1">
                <a:solidFill>
                  <a:srgbClr val="111827"/>
                </a:solidFill>
                <a:latin typeface="Arial"/>
              </a:rPr>
              <a:t>1. Visual model path</a:t>
            </a:r>
          </a:p>
        </p:txBody>
      </p:sp>
      <p:sp>
        <p:nvSpPr>
          <p:cNvPr id="38" name="Block"/>
          <p:cNvSpPr/>
          <p:nvPr/>
        </p:nvSpPr>
        <p:spPr>
          <a:xfrm>
            <a:off x="566928" y="2395728"/>
            <a:ext cx="969264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rial"/>
              </a:rPr>
              <a:t>8-frame</a:t>
            </a:r>
          </a:p>
          <a:p>
            <a:pPr algn="ctr"/>
            <a:r>
              <a:rPr sz="700" b="1">
                <a:solidFill>
                  <a:srgbClr val="111827"/>
                </a:solidFill>
                <a:latin typeface="Arial"/>
              </a:rPr>
              <a:t>clip</a:t>
            </a:r>
          </a:p>
        </p:txBody>
      </p:sp>
      <p:cxnSp>
        <p:nvCxnSpPr>
          <p:cNvPr id="39" name="Arrow"/>
          <p:cNvCxnSpPr/>
          <p:nvPr/>
        </p:nvCxnSpPr>
        <p:spPr>
          <a:xfrm>
            <a:off x="1572768" y="2660904"/>
            <a:ext cx="420624" cy="0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sp>
        <p:nvSpPr>
          <p:cNvPr id="40" name="Block"/>
          <p:cNvSpPr/>
          <p:nvPr/>
        </p:nvSpPr>
        <p:spPr>
          <a:xfrm>
            <a:off x="2048256" y="2395728"/>
            <a:ext cx="1188720" cy="530352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rial"/>
              </a:rPr>
              <a:t>ViT-B/16</a:t>
            </a:r>
          </a:p>
          <a:p>
            <a:pPr algn="ctr"/>
            <a:r>
              <a:rPr sz="700" b="1">
                <a:solidFill>
                  <a:srgbClr val="111827"/>
                </a:solidFill>
                <a:latin typeface="Arial"/>
              </a:rPr>
              <a:t>frame encoder</a:t>
            </a:r>
          </a:p>
        </p:txBody>
      </p:sp>
      <p:cxnSp>
        <p:nvCxnSpPr>
          <p:cNvPr id="41" name="Arrow"/>
          <p:cNvCxnSpPr/>
          <p:nvPr/>
        </p:nvCxnSpPr>
        <p:spPr>
          <a:xfrm>
            <a:off x="3273552" y="2660904"/>
            <a:ext cx="420624" cy="0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sp>
        <p:nvSpPr>
          <p:cNvPr id="42" name="Feature matrix"/>
          <p:cNvSpPr/>
          <p:nvPr/>
        </p:nvSpPr>
        <p:spPr>
          <a:xfrm>
            <a:off x="3767328" y="2212848"/>
            <a:ext cx="868680" cy="841248"/>
          </a:xfrm>
          <a:prstGeom prst="rect">
            <a:avLst/>
          </a:prstGeom>
          <a:solidFill>
            <a:srgbClr val="EFF6FF"/>
          </a:solidFill>
          <a:ln w="1143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cxnSp>
        <p:nvCxnSpPr>
          <p:cNvPr id="43" name="Matrix row"/>
          <p:cNvCxnSpPr/>
          <p:nvPr/>
        </p:nvCxnSpPr>
        <p:spPr>
          <a:xfrm>
            <a:off x="3767328" y="2318004"/>
            <a:ext cx="868680" cy="0"/>
          </a:xfrm>
          <a:prstGeom prst="line">
            <a:avLst/>
          </a:prstGeom>
          <a:ln w="5715">
            <a:solidFill>
              <a:srgbClr val="BFDBFE"/>
            </a:solidFill>
          </a:ln>
        </p:spPr>
      </p:cxnSp>
      <p:cxnSp>
        <p:nvCxnSpPr>
          <p:cNvPr id="44" name="Matrix row"/>
          <p:cNvCxnSpPr/>
          <p:nvPr/>
        </p:nvCxnSpPr>
        <p:spPr>
          <a:xfrm>
            <a:off x="3767328" y="2423160"/>
            <a:ext cx="868680" cy="0"/>
          </a:xfrm>
          <a:prstGeom prst="line">
            <a:avLst/>
          </a:prstGeom>
          <a:ln w="5715">
            <a:solidFill>
              <a:srgbClr val="BFDBFE"/>
            </a:solidFill>
          </a:ln>
        </p:spPr>
      </p:cxnSp>
      <p:cxnSp>
        <p:nvCxnSpPr>
          <p:cNvPr id="45" name="Matrix row"/>
          <p:cNvCxnSpPr/>
          <p:nvPr/>
        </p:nvCxnSpPr>
        <p:spPr>
          <a:xfrm>
            <a:off x="3767328" y="2528316"/>
            <a:ext cx="868680" cy="0"/>
          </a:xfrm>
          <a:prstGeom prst="line">
            <a:avLst/>
          </a:prstGeom>
          <a:ln w="5715">
            <a:solidFill>
              <a:srgbClr val="BFDBFE"/>
            </a:solidFill>
          </a:ln>
        </p:spPr>
      </p:cxnSp>
      <p:cxnSp>
        <p:nvCxnSpPr>
          <p:cNvPr id="46" name="Matrix row"/>
          <p:cNvCxnSpPr/>
          <p:nvPr/>
        </p:nvCxnSpPr>
        <p:spPr>
          <a:xfrm>
            <a:off x="3767328" y="2633472"/>
            <a:ext cx="868680" cy="0"/>
          </a:xfrm>
          <a:prstGeom prst="line">
            <a:avLst/>
          </a:prstGeom>
          <a:ln w="5715">
            <a:solidFill>
              <a:srgbClr val="BFDBFE"/>
            </a:solidFill>
          </a:ln>
        </p:spPr>
      </p:cxnSp>
      <p:cxnSp>
        <p:nvCxnSpPr>
          <p:cNvPr id="47" name="Matrix row"/>
          <p:cNvCxnSpPr/>
          <p:nvPr/>
        </p:nvCxnSpPr>
        <p:spPr>
          <a:xfrm>
            <a:off x="3767328" y="2738628"/>
            <a:ext cx="868680" cy="0"/>
          </a:xfrm>
          <a:prstGeom prst="line">
            <a:avLst/>
          </a:prstGeom>
          <a:ln w="5715">
            <a:solidFill>
              <a:srgbClr val="BFDBFE"/>
            </a:solidFill>
          </a:ln>
        </p:spPr>
      </p:cxnSp>
      <p:cxnSp>
        <p:nvCxnSpPr>
          <p:cNvPr id="48" name="Matrix row"/>
          <p:cNvCxnSpPr/>
          <p:nvPr/>
        </p:nvCxnSpPr>
        <p:spPr>
          <a:xfrm>
            <a:off x="3767328" y="2843784"/>
            <a:ext cx="868680" cy="0"/>
          </a:xfrm>
          <a:prstGeom prst="line">
            <a:avLst/>
          </a:prstGeom>
          <a:ln w="5715">
            <a:solidFill>
              <a:srgbClr val="BFDBFE"/>
            </a:solidFill>
          </a:ln>
        </p:spPr>
      </p:cxnSp>
      <p:cxnSp>
        <p:nvCxnSpPr>
          <p:cNvPr id="49" name="Matrix row"/>
          <p:cNvCxnSpPr/>
          <p:nvPr/>
        </p:nvCxnSpPr>
        <p:spPr>
          <a:xfrm>
            <a:off x="3767328" y="2948940"/>
            <a:ext cx="868680" cy="0"/>
          </a:xfrm>
          <a:prstGeom prst="line">
            <a:avLst/>
          </a:prstGeom>
          <a:ln w="5715">
            <a:solidFill>
              <a:srgbClr val="BFDBFE"/>
            </a:solidFill>
          </a:ln>
        </p:spPr>
      </p:cxnSp>
      <p:sp>
        <p:nvSpPr>
          <p:cNvPr id="50" name="row label"/>
          <p:cNvSpPr txBox="1"/>
          <p:nvPr/>
        </p:nvSpPr>
        <p:spPr>
          <a:xfrm>
            <a:off x="3547872" y="2219706"/>
            <a:ext cx="164592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80" b="0">
                <a:solidFill>
                  <a:srgbClr val="111827"/>
                </a:solidFill>
                <a:latin typeface="Arial"/>
              </a:rPr>
              <a:t>t_1</a:t>
            </a:r>
          </a:p>
        </p:txBody>
      </p:sp>
      <p:sp>
        <p:nvSpPr>
          <p:cNvPr id="51" name="Feature dot"/>
          <p:cNvSpPr/>
          <p:nvPr/>
        </p:nvSpPr>
        <p:spPr>
          <a:xfrm>
            <a:off x="3854196" y="2242566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2" name="Feature dot"/>
          <p:cNvSpPr/>
          <p:nvPr/>
        </p:nvSpPr>
        <p:spPr>
          <a:xfrm>
            <a:off x="4016502" y="2242566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3" name="Feature dot"/>
          <p:cNvSpPr/>
          <p:nvPr/>
        </p:nvSpPr>
        <p:spPr>
          <a:xfrm>
            <a:off x="4178808" y="2242566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4" name="Feature dot"/>
          <p:cNvSpPr/>
          <p:nvPr/>
        </p:nvSpPr>
        <p:spPr>
          <a:xfrm>
            <a:off x="4341114" y="2242566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5" name="Feature dot"/>
          <p:cNvSpPr/>
          <p:nvPr/>
        </p:nvSpPr>
        <p:spPr>
          <a:xfrm>
            <a:off x="4503420" y="2242566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6" name="row label"/>
          <p:cNvSpPr txBox="1"/>
          <p:nvPr/>
        </p:nvSpPr>
        <p:spPr>
          <a:xfrm>
            <a:off x="3547872" y="2324862"/>
            <a:ext cx="164592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80" b="0">
                <a:solidFill>
                  <a:srgbClr val="111827"/>
                </a:solidFill>
                <a:latin typeface="Arial"/>
              </a:rPr>
              <a:t>t_2</a:t>
            </a:r>
          </a:p>
        </p:txBody>
      </p:sp>
      <p:sp>
        <p:nvSpPr>
          <p:cNvPr id="57" name="Feature dot"/>
          <p:cNvSpPr/>
          <p:nvPr/>
        </p:nvSpPr>
        <p:spPr>
          <a:xfrm>
            <a:off x="3854196" y="2347722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8" name="Feature dot"/>
          <p:cNvSpPr/>
          <p:nvPr/>
        </p:nvSpPr>
        <p:spPr>
          <a:xfrm>
            <a:off x="4016502" y="2347722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59" name="Feature dot"/>
          <p:cNvSpPr/>
          <p:nvPr/>
        </p:nvSpPr>
        <p:spPr>
          <a:xfrm>
            <a:off x="4178808" y="2347722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0" name="Feature dot"/>
          <p:cNvSpPr/>
          <p:nvPr/>
        </p:nvSpPr>
        <p:spPr>
          <a:xfrm>
            <a:off x="4341114" y="2347722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1" name="Feature dot"/>
          <p:cNvSpPr/>
          <p:nvPr/>
        </p:nvSpPr>
        <p:spPr>
          <a:xfrm>
            <a:off x="4503420" y="2347722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2" name="row label"/>
          <p:cNvSpPr txBox="1"/>
          <p:nvPr/>
        </p:nvSpPr>
        <p:spPr>
          <a:xfrm>
            <a:off x="3547872" y="2430018"/>
            <a:ext cx="164592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80" b="0">
                <a:solidFill>
                  <a:srgbClr val="111827"/>
                </a:solidFill>
                <a:latin typeface="Arial"/>
              </a:rPr>
              <a:t>t_3</a:t>
            </a:r>
          </a:p>
        </p:txBody>
      </p:sp>
      <p:sp>
        <p:nvSpPr>
          <p:cNvPr id="63" name="Feature dot"/>
          <p:cNvSpPr/>
          <p:nvPr/>
        </p:nvSpPr>
        <p:spPr>
          <a:xfrm>
            <a:off x="3854196" y="2452878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4" name="Feature dot"/>
          <p:cNvSpPr/>
          <p:nvPr/>
        </p:nvSpPr>
        <p:spPr>
          <a:xfrm>
            <a:off x="4016502" y="2452878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5" name="Feature dot"/>
          <p:cNvSpPr/>
          <p:nvPr/>
        </p:nvSpPr>
        <p:spPr>
          <a:xfrm>
            <a:off x="4178808" y="2452878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6" name="Feature dot"/>
          <p:cNvSpPr/>
          <p:nvPr/>
        </p:nvSpPr>
        <p:spPr>
          <a:xfrm>
            <a:off x="4341114" y="2452878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7" name="Feature dot"/>
          <p:cNvSpPr/>
          <p:nvPr/>
        </p:nvSpPr>
        <p:spPr>
          <a:xfrm>
            <a:off x="4503420" y="2452878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68" name="row label"/>
          <p:cNvSpPr txBox="1"/>
          <p:nvPr/>
        </p:nvSpPr>
        <p:spPr>
          <a:xfrm>
            <a:off x="3547872" y="2535174"/>
            <a:ext cx="164592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80" b="0">
                <a:solidFill>
                  <a:srgbClr val="111827"/>
                </a:solidFill>
                <a:latin typeface="Arial"/>
              </a:rPr>
              <a:t>t_4</a:t>
            </a:r>
          </a:p>
        </p:txBody>
      </p:sp>
      <p:sp>
        <p:nvSpPr>
          <p:cNvPr id="69" name="Feature dot"/>
          <p:cNvSpPr/>
          <p:nvPr/>
        </p:nvSpPr>
        <p:spPr>
          <a:xfrm>
            <a:off x="3854196" y="2558034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0" name="Feature dot"/>
          <p:cNvSpPr/>
          <p:nvPr/>
        </p:nvSpPr>
        <p:spPr>
          <a:xfrm>
            <a:off x="4016502" y="2558034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1" name="Feature dot"/>
          <p:cNvSpPr/>
          <p:nvPr/>
        </p:nvSpPr>
        <p:spPr>
          <a:xfrm>
            <a:off x="4178808" y="2558034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2" name="Feature dot"/>
          <p:cNvSpPr/>
          <p:nvPr/>
        </p:nvSpPr>
        <p:spPr>
          <a:xfrm>
            <a:off x="4341114" y="2558034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3" name="Feature dot"/>
          <p:cNvSpPr/>
          <p:nvPr/>
        </p:nvSpPr>
        <p:spPr>
          <a:xfrm>
            <a:off x="4503420" y="2558034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4" name="row label"/>
          <p:cNvSpPr txBox="1"/>
          <p:nvPr/>
        </p:nvSpPr>
        <p:spPr>
          <a:xfrm>
            <a:off x="3547872" y="2640330"/>
            <a:ext cx="164592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80" b="0">
                <a:solidFill>
                  <a:srgbClr val="111827"/>
                </a:solidFill>
                <a:latin typeface="Arial"/>
              </a:rPr>
              <a:t>t_5</a:t>
            </a:r>
          </a:p>
        </p:txBody>
      </p:sp>
      <p:sp>
        <p:nvSpPr>
          <p:cNvPr id="75" name="Feature dot"/>
          <p:cNvSpPr/>
          <p:nvPr/>
        </p:nvSpPr>
        <p:spPr>
          <a:xfrm>
            <a:off x="3854196" y="2663190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6" name="Feature dot"/>
          <p:cNvSpPr/>
          <p:nvPr/>
        </p:nvSpPr>
        <p:spPr>
          <a:xfrm>
            <a:off x="4016502" y="2663190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7" name="Feature dot"/>
          <p:cNvSpPr/>
          <p:nvPr/>
        </p:nvSpPr>
        <p:spPr>
          <a:xfrm>
            <a:off x="4178808" y="2663190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8" name="Feature dot"/>
          <p:cNvSpPr/>
          <p:nvPr/>
        </p:nvSpPr>
        <p:spPr>
          <a:xfrm>
            <a:off x="4341114" y="2663190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79" name="Feature dot"/>
          <p:cNvSpPr/>
          <p:nvPr/>
        </p:nvSpPr>
        <p:spPr>
          <a:xfrm>
            <a:off x="4503420" y="2663190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0" name="row label"/>
          <p:cNvSpPr txBox="1"/>
          <p:nvPr/>
        </p:nvSpPr>
        <p:spPr>
          <a:xfrm>
            <a:off x="3547872" y="2745486"/>
            <a:ext cx="164592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80" b="0">
                <a:solidFill>
                  <a:srgbClr val="111827"/>
                </a:solidFill>
                <a:latin typeface="Arial"/>
              </a:rPr>
              <a:t>t_6</a:t>
            </a:r>
          </a:p>
        </p:txBody>
      </p:sp>
      <p:sp>
        <p:nvSpPr>
          <p:cNvPr id="81" name="Feature dot"/>
          <p:cNvSpPr/>
          <p:nvPr/>
        </p:nvSpPr>
        <p:spPr>
          <a:xfrm>
            <a:off x="3854196" y="2768346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2" name="Feature dot"/>
          <p:cNvSpPr/>
          <p:nvPr/>
        </p:nvSpPr>
        <p:spPr>
          <a:xfrm>
            <a:off x="4016502" y="2768346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3" name="Feature dot"/>
          <p:cNvSpPr/>
          <p:nvPr/>
        </p:nvSpPr>
        <p:spPr>
          <a:xfrm>
            <a:off x="4178808" y="2768346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4" name="Feature dot"/>
          <p:cNvSpPr/>
          <p:nvPr/>
        </p:nvSpPr>
        <p:spPr>
          <a:xfrm>
            <a:off x="4341114" y="2768346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5" name="Feature dot"/>
          <p:cNvSpPr/>
          <p:nvPr/>
        </p:nvSpPr>
        <p:spPr>
          <a:xfrm>
            <a:off x="4503420" y="2768346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6" name="row label"/>
          <p:cNvSpPr txBox="1"/>
          <p:nvPr/>
        </p:nvSpPr>
        <p:spPr>
          <a:xfrm>
            <a:off x="3547872" y="2850642"/>
            <a:ext cx="164592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80" b="0">
                <a:solidFill>
                  <a:srgbClr val="111827"/>
                </a:solidFill>
                <a:latin typeface="Arial"/>
              </a:rPr>
              <a:t>t_7</a:t>
            </a:r>
          </a:p>
        </p:txBody>
      </p:sp>
      <p:sp>
        <p:nvSpPr>
          <p:cNvPr id="87" name="Feature dot"/>
          <p:cNvSpPr/>
          <p:nvPr/>
        </p:nvSpPr>
        <p:spPr>
          <a:xfrm>
            <a:off x="3854196" y="2873502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8" name="Feature dot"/>
          <p:cNvSpPr/>
          <p:nvPr/>
        </p:nvSpPr>
        <p:spPr>
          <a:xfrm>
            <a:off x="4016502" y="2873502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89" name="Feature dot"/>
          <p:cNvSpPr/>
          <p:nvPr/>
        </p:nvSpPr>
        <p:spPr>
          <a:xfrm>
            <a:off x="4178808" y="2873502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0" name="Feature dot"/>
          <p:cNvSpPr/>
          <p:nvPr/>
        </p:nvSpPr>
        <p:spPr>
          <a:xfrm>
            <a:off x="4341114" y="2873502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1" name="Feature dot"/>
          <p:cNvSpPr/>
          <p:nvPr/>
        </p:nvSpPr>
        <p:spPr>
          <a:xfrm>
            <a:off x="4503420" y="2873502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2" name="row label"/>
          <p:cNvSpPr txBox="1"/>
          <p:nvPr/>
        </p:nvSpPr>
        <p:spPr>
          <a:xfrm>
            <a:off x="3547872" y="2955798"/>
            <a:ext cx="164592" cy="914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580" b="0">
                <a:solidFill>
                  <a:srgbClr val="111827"/>
                </a:solidFill>
                <a:latin typeface="Arial"/>
              </a:rPr>
              <a:t>t_8</a:t>
            </a:r>
          </a:p>
        </p:txBody>
      </p:sp>
      <p:sp>
        <p:nvSpPr>
          <p:cNvPr id="93" name="Feature dot"/>
          <p:cNvSpPr/>
          <p:nvPr/>
        </p:nvSpPr>
        <p:spPr>
          <a:xfrm>
            <a:off x="3854196" y="2978658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4" name="Feature dot"/>
          <p:cNvSpPr/>
          <p:nvPr/>
        </p:nvSpPr>
        <p:spPr>
          <a:xfrm>
            <a:off x="4016502" y="2978658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5" name="Feature dot"/>
          <p:cNvSpPr/>
          <p:nvPr/>
        </p:nvSpPr>
        <p:spPr>
          <a:xfrm>
            <a:off x="4178808" y="2978658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6" name="Feature dot"/>
          <p:cNvSpPr/>
          <p:nvPr/>
        </p:nvSpPr>
        <p:spPr>
          <a:xfrm>
            <a:off x="4341114" y="2978658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7" name="Feature dot"/>
          <p:cNvSpPr/>
          <p:nvPr/>
        </p:nvSpPr>
        <p:spPr>
          <a:xfrm>
            <a:off x="4503420" y="2978658"/>
            <a:ext cx="45720" cy="45720"/>
          </a:xfrm>
          <a:prstGeom prst="ellipse">
            <a:avLst/>
          </a:prstGeom>
          <a:solidFill>
            <a:srgbClr val="1D4ED8"/>
          </a:solidFill>
          <a:ln w="1270">
            <a:solidFill>
              <a:srgbClr val="1D4ED8"/>
            </a:solidFill>
          </a:ln>
        </p:spPr>
        <p:txBody>
          <a:bodyPr rtlCol="0" anchor="ctr"/>
          <a:lstStyle/>
          <a:p>
            <a:endParaRPr/>
          </a:p>
        </p:txBody>
      </p:sp>
      <p:sp>
        <p:nvSpPr>
          <p:cNvPr id="98" name="Tensor label"/>
          <p:cNvSpPr txBox="1"/>
          <p:nvPr/>
        </p:nvSpPr>
        <p:spPr>
          <a:xfrm>
            <a:off x="3538728" y="1938528"/>
            <a:ext cx="13258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60" b="1">
                <a:solidFill>
                  <a:srgbClr val="1D4ED8"/>
                </a:solidFill>
                <a:latin typeface="Arial"/>
              </a:rPr>
              <a:t>8 x 768 frame tensor</a:t>
            </a:r>
          </a:p>
        </p:txBody>
      </p:sp>
      <p:sp>
        <p:nvSpPr>
          <p:cNvPr id="99" name="768 label"/>
          <p:cNvSpPr txBox="1"/>
          <p:nvPr/>
        </p:nvSpPr>
        <p:spPr>
          <a:xfrm>
            <a:off x="3968496" y="3081528"/>
            <a:ext cx="466344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40" b="0">
                <a:solidFill>
                  <a:srgbClr val="4B5563"/>
                </a:solidFill>
                <a:latin typeface="Arial"/>
              </a:rPr>
              <a:t>768</a:t>
            </a:r>
          </a:p>
        </p:txBody>
      </p:sp>
      <p:cxnSp>
        <p:nvCxnSpPr>
          <p:cNvPr id="100" name="Arrow"/>
          <p:cNvCxnSpPr/>
          <p:nvPr/>
        </p:nvCxnSpPr>
        <p:spPr>
          <a:xfrm>
            <a:off x="4681728" y="2660904"/>
            <a:ext cx="438912" cy="0"/>
          </a:xfrm>
          <a:prstGeom prst="line">
            <a:avLst/>
          </a:prstGeom>
          <a:ln w="13970">
            <a:solidFill>
              <a:srgbClr val="0F766E"/>
            </a:solidFill>
            <a:tailEnd type="triangle" w="med"/>
          </a:ln>
        </p:spPr>
      </p:cxnSp>
      <p:sp>
        <p:nvSpPr>
          <p:cNvPr id="101" name="Block"/>
          <p:cNvSpPr/>
          <p:nvPr/>
        </p:nvSpPr>
        <p:spPr>
          <a:xfrm>
            <a:off x="5175504" y="2395728"/>
            <a:ext cx="1188720" cy="530352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append</a:t>
            </a:r>
          </a:p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workflow token</a:t>
            </a:r>
          </a:p>
        </p:txBody>
      </p:sp>
      <p:cxnSp>
        <p:nvCxnSpPr>
          <p:cNvPr id="102" name="Arrow"/>
          <p:cNvCxnSpPr/>
          <p:nvPr/>
        </p:nvCxnSpPr>
        <p:spPr>
          <a:xfrm>
            <a:off x="6400800" y="2660904"/>
            <a:ext cx="384048" cy="0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sp>
        <p:nvSpPr>
          <p:cNvPr id="103" name="Block"/>
          <p:cNvSpPr/>
          <p:nvPr/>
        </p:nvSpPr>
        <p:spPr>
          <a:xfrm>
            <a:off x="6839712" y="2395728"/>
            <a:ext cx="1170432" cy="53035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9-token</a:t>
            </a:r>
          </a:p>
          <a:p>
            <a:pPr algn="ctr"/>
            <a:r>
              <a:rPr sz="680" b="1">
                <a:solidFill>
                  <a:srgbClr val="111827"/>
                </a:solidFill>
                <a:latin typeface="Arial"/>
              </a:rPr>
              <a:t>sequence</a:t>
            </a:r>
          </a:p>
        </p:txBody>
      </p:sp>
      <p:cxnSp>
        <p:nvCxnSpPr>
          <p:cNvPr id="104" name="Arrow"/>
          <p:cNvCxnSpPr/>
          <p:nvPr/>
        </p:nvCxnSpPr>
        <p:spPr>
          <a:xfrm>
            <a:off x="8046720" y="2660904"/>
            <a:ext cx="420624" cy="0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sp>
        <p:nvSpPr>
          <p:cNvPr id="105" name="Block"/>
          <p:cNvSpPr/>
          <p:nvPr/>
        </p:nvSpPr>
        <p:spPr>
          <a:xfrm>
            <a:off x="8522208" y="2240280"/>
            <a:ext cx="1298448" cy="8412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700" b="1">
                <a:solidFill>
                  <a:srgbClr val="111827"/>
                </a:solidFill>
                <a:latin typeface="Arial"/>
              </a:rPr>
              <a:t>HTA-inspired</a:t>
            </a:r>
          </a:p>
          <a:p>
            <a:pPr algn="ctr"/>
            <a:r>
              <a:rPr sz="700" b="1">
                <a:solidFill>
                  <a:srgbClr val="111827"/>
                </a:solidFill>
                <a:latin typeface="Arial"/>
              </a:rPr>
              <a:t>6-block</a:t>
            </a:r>
          </a:p>
          <a:p>
            <a:pPr algn="ctr"/>
            <a:r>
              <a:rPr sz="700" b="1">
                <a:solidFill>
                  <a:srgbClr val="111827"/>
                </a:solidFill>
                <a:latin typeface="Arial"/>
              </a:rPr>
              <a:t>temporal head</a:t>
            </a:r>
          </a:p>
        </p:txBody>
      </p:sp>
      <p:cxnSp>
        <p:nvCxnSpPr>
          <p:cNvPr id="106" name="Arrow"/>
          <p:cNvCxnSpPr/>
          <p:nvPr/>
        </p:nvCxnSpPr>
        <p:spPr>
          <a:xfrm flipV="1">
            <a:off x="9838944" y="2240280"/>
            <a:ext cx="438912" cy="420624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sp>
        <p:nvSpPr>
          <p:cNvPr id="107" name="Block"/>
          <p:cNvSpPr/>
          <p:nvPr/>
        </p:nvSpPr>
        <p:spPr>
          <a:xfrm>
            <a:off x="10314432" y="2057400"/>
            <a:ext cx="804672" cy="3657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D4ED8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RSD</a:t>
            </a:r>
          </a:p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head</a:t>
            </a:r>
          </a:p>
        </p:txBody>
      </p:sp>
      <p:cxnSp>
        <p:nvCxnSpPr>
          <p:cNvPr id="108" name="Arrow"/>
          <p:cNvCxnSpPr/>
          <p:nvPr/>
        </p:nvCxnSpPr>
        <p:spPr>
          <a:xfrm>
            <a:off x="9838944" y="2660904"/>
            <a:ext cx="438912" cy="64008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sp>
        <p:nvSpPr>
          <p:cNvPr id="109" name="Block"/>
          <p:cNvSpPr/>
          <p:nvPr/>
        </p:nvSpPr>
        <p:spPr>
          <a:xfrm>
            <a:off x="10314432" y="2542032"/>
            <a:ext cx="804672" cy="36576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phase</a:t>
            </a:r>
          </a:p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head</a:t>
            </a:r>
          </a:p>
        </p:txBody>
      </p:sp>
      <p:cxnSp>
        <p:nvCxnSpPr>
          <p:cNvPr id="110" name="Arrow"/>
          <p:cNvCxnSpPr/>
          <p:nvPr/>
        </p:nvCxnSpPr>
        <p:spPr>
          <a:xfrm>
            <a:off x="9838944" y="2660904"/>
            <a:ext cx="438912" cy="548640"/>
          </a:xfrm>
          <a:prstGeom prst="line">
            <a:avLst/>
          </a:prstGeom>
          <a:ln w="13970">
            <a:solidFill>
              <a:srgbClr val="334155"/>
            </a:solidFill>
            <a:tailEnd type="triangle" w="med"/>
          </a:ln>
        </p:spPr>
      </p:cxnSp>
      <p:sp>
        <p:nvSpPr>
          <p:cNvPr id="111" name="Block"/>
          <p:cNvSpPr/>
          <p:nvPr/>
        </p:nvSpPr>
        <p:spPr>
          <a:xfrm>
            <a:off x="10314432" y="3026664"/>
            <a:ext cx="804672" cy="365760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deviation</a:t>
            </a:r>
          </a:p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head</a:t>
            </a:r>
          </a:p>
        </p:txBody>
      </p:sp>
      <p:sp>
        <p:nvSpPr>
          <p:cNvPr id="112" name="Block"/>
          <p:cNvSpPr/>
          <p:nvPr/>
        </p:nvSpPr>
        <p:spPr>
          <a:xfrm>
            <a:off x="11320272" y="2139696"/>
            <a:ext cx="896112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1D4ED8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11827"/>
                </a:solidFill>
                <a:latin typeface="Arial"/>
              </a:rPr>
              <a:t>remaining</a:t>
            </a:r>
          </a:p>
          <a:p>
            <a:pPr algn="ctr"/>
            <a:r>
              <a:rPr sz="600" b="1">
                <a:solidFill>
                  <a:srgbClr val="111827"/>
                </a:solidFill>
                <a:latin typeface="Arial"/>
              </a:rPr>
              <a:t>surgery</a:t>
            </a:r>
          </a:p>
          <a:p>
            <a:pPr algn="ctr"/>
            <a:r>
              <a:rPr sz="600" b="1">
                <a:solidFill>
                  <a:srgbClr val="111827"/>
                </a:solidFill>
                <a:latin typeface="Arial"/>
              </a:rPr>
              <a:t>duration</a:t>
            </a:r>
          </a:p>
        </p:txBody>
      </p:sp>
      <p:cxnSp>
        <p:nvCxnSpPr>
          <p:cNvPr id="113" name="Arrow"/>
          <p:cNvCxnSpPr/>
          <p:nvPr/>
        </p:nvCxnSpPr>
        <p:spPr>
          <a:xfrm>
            <a:off x="11137392" y="2240280"/>
            <a:ext cx="164592" cy="118872"/>
          </a:xfrm>
          <a:prstGeom prst="line">
            <a:avLst/>
          </a:prstGeom>
          <a:ln w="13970">
            <a:solidFill>
              <a:srgbClr val="1D4ED8"/>
            </a:solidFill>
            <a:tailEnd type="triangle" w="med"/>
          </a:ln>
        </p:spPr>
      </p:cxnSp>
      <p:sp>
        <p:nvSpPr>
          <p:cNvPr id="114" name="Panel label"/>
          <p:cNvSpPr txBox="1"/>
          <p:nvPr/>
        </p:nvSpPr>
        <p:spPr>
          <a:xfrm>
            <a:off x="384048" y="352958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1">
                <a:solidFill>
                  <a:srgbClr val="111827"/>
                </a:solidFill>
                <a:latin typeface="Arial"/>
              </a:rPr>
              <a:t>2. Workflow signal</a:t>
            </a:r>
          </a:p>
        </p:txBody>
      </p:sp>
      <p:sp>
        <p:nvSpPr>
          <p:cNvPr id="115" name="Oracle path label"/>
          <p:cNvSpPr txBox="1"/>
          <p:nvPr/>
        </p:nvSpPr>
        <p:spPr>
          <a:xfrm>
            <a:off x="512064" y="3877056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20" b="1">
                <a:solidFill>
                  <a:srgbClr val="7C3AED"/>
                </a:solidFill>
                <a:latin typeface="Arial"/>
              </a:rPr>
              <a:t>oracle diagnostic path</a:t>
            </a:r>
          </a:p>
        </p:txBody>
      </p:sp>
      <p:sp>
        <p:nvSpPr>
          <p:cNvPr id="116" name="Block"/>
          <p:cNvSpPr/>
          <p:nvPr/>
        </p:nvSpPr>
        <p:spPr>
          <a:xfrm>
            <a:off x="512064" y="4133088"/>
            <a:ext cx="987552" cy="42062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full phase</a:t>
            </a:r>
          </a:p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sequence</a:t>
            </a:r>
          </a:p>
        </p:txBody>
      </p:sp>
      <p:sp>
        <p:nvSpPr>
          <p:cNvPr id="117" name="Phase segment"/>
          <p:cNvSpPr/>
          <p:nvPr/>
        </p:nvSpPr>
        <p:spPr>
          <a:xfrm>
            <a:off x="621792" y="4663440"/>
            <a:ext cx="105156" cy="146304"/>
          </a:xfrm>
          <a:prstGeom prst="rect">
            <a:avLst/>
          </a:prstGeom>
          <a:solidFill>
            <a:srgbClr val="2563EB"/>
          </a:solidFill>
          <a:ln w="3810">
            <a:solidFill>
              <a:srgbClr val="FFFF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rial"/>
              </a:rPr>
              <a:t>P1</a:t>
            </a:r>
          </a:p>
        </p:txBody>
      </p:sp>
      <p:sp>
        <p:nvSpPr>
          <p:cNvPr id="118" name="Phase segment"/>
          <p:cNvSpPr/>
          <p:nvPr/>
        </p:nvSpPr>
        <p:spPr>
          <a:xfrm>
            <a:off x="754380" y="4663440"/>
            <a:ext cx="105156" cy="146304"/>
          </a:xfrm>
          <a:prstGeom prst="rect">
            <a:avLst/>
          </a:prstGeom>
          <a:solidFill>
            <a:srgbClr val="0F766E"/>
          </a:solidFill>
          <a:ln w="3810">
            <a:solidFill>
              <a:srgbClr val="FFFF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rial"/>
              </a:rPr>
              <a:t>P2</a:t>
            </a:r>
          </a:p>
        </p:txBody>
      </p:sp>
      <p:sp>
        <p:nvSpPr>
          <p:cNvPr id="119" name="Phase segment"/>
          <p:cNvSpPr/>
          <p:nvPr/>
        </p:nvSpPr>
        <p:spPr>
          <a:xfrm>
            <a:off x="886968" y="4663440"/>
            <a:ext cx="105156" cy="146304"/>
          </a:xfrm>
          <a:prstGeom prst="rect">
            <a:avLst/>
          </a:prstGeom>
          <a:solidFill>
            <a:srgbClr val="D97706"/>
          </a:solidFill>
          <a:ln w="3810">
            <a:solidFill>
              <a:srgbClr val="FFFF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rial"/>
              </a:rPr>
              <a:t>P3</a:t>
            </a:r>
          </a:p>
        </p:txBody>
      </p:sp>
      <p:sp>
        <p:nvSpPr>
          <p:cNvPr id="120" name="Phase segment"/>
          <p:cNvSpPr/>
          <p:nvPr/>
        </p:nvSpPr>
        <p:spPr>
          <a:xfrm>
            <a:off x="1019556" y="4663440"/>
            <a:ext cx="105156" cy="146304"/>
          </a:xfrm>
          <a:prstGeom prst="rect">
            <a:avLst/>
          </a:prstGeom>
          <a:solidFill>
            <a:srgbClr val="0F766E"/>
          </a:solidFill>
          <a:ln w="3810">
            <a:solidFill>
              <a:srgbClr val="FFFF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rial"/>
              </a:rPr>
              <a:t>P2</a:t>
            </a:r>
          </a:p>
        </p:txBody>
      </p:sp>
      <p:sp>
        <p:nvSpPr>
          <p:cNvPr id="121" name="Phase segment"/>
          <p:cNvSpPr/>
          <p:nvPr/>
        </p:nvSpPr>
        <p:spPr>
          <a:xfrm>
            <a:off x="1152144" y="4663440"/>
            <a:ext cx="105156" cy="146304"/>
          </a:xfrm>
          <a:prstGeom prst="rect">
            <a:avLst/>
          </a:prstGeom>
          <a:solidFill>
            <a:srgbClr val="7C3AED"/>
          </a:solidFill>
          <a:ln w="3810">
            <a:solidFill>
              <a:srgbClr val="FFFF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rial"/>
              </a:rPr>
              <a:t>P4</a:t>
            </a:r>
          </a:p>
        </p:txBody>
      </p:sp>
      <p:sp>
        <p:nvSpPr>
          <p:cNvPr id="122" name="Phase segment"/>
          <p:cNvSpPr/>
          <p:nvPr/>
        </p:nvSpPr>
        <p:spPr>
          <a:xfrm>
            <a:off x="1284732" y="4663440"/>
            <a:ext cx="105156" cy="146304"/>
          </a:xfrm>
          <a:prstGeom prst="rect">
            <a:avLst/>
          </a:prstGeom>
          <a:solidFill>
            <a:srgbClr val="DB2777"/>
          </a:solidFill>
          <a:ln w="3810">
            <a:solidFill>
              <a:srgbClr val="FFFFFF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 b="1">
                <a:solidFill>
                  <a:srgbClr val="FFFFFF"/>
                </a:solidFill>
                <a:latin typeface="Arial"/>
              </a:rPr>
              <a:t>P5</a:t>
            </a:r>
          </a:p>
        </p:txBody>
      </p:sp>
      <p:cxnSp>
        <p:nvCxnSpPr>
          <p:cNvPr id="123" name="Arrow"/>
          <p:cNvCxnSpPr/>
          <p:nvPr/>
        </p:nvCxnSpPr>
        <p:spPr>
          <a:xfrm>
            <a:off x="1536192" y="4343400"/>
            <a:ext cx="384048" cy="0"/>
          </a:xfrm>
          <a:prstGeom prst="line">
            <a:avLst/>
          </a:prstGeom>
          <a:ln w="13970">
            <a:solidFill>
              <a:srgbClr val="7C3AED"/>
            </a:solidFill>
            <a:tailEnd type="triangle" w="med"/>
          </a:ln>
        </p:spPr>
      </p:cxnSp>
      <p:sp>
        <p:nvSpPr>
          <p:cNvPr id="124" name="Causal path label"/>
          <p:cNvSpPr txBox="1"/>
          <p:nvPr/>
        </p:nvSpPr>
        <p:spPr>
          <a:xfrm>
            <a:off x="512064" y="5074920"/>
            <a:ext cx="1554480" cy="1645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720" b="1">
                <a:solidFill>
                  <a:srgbClr val="0F766E"/>
                </a:solidFill>
                <a:latin typeface="Arial"/>
              </a:rPr>
              <a:t>causal-at-inference path</a:t>
            </a:r>
          </a:p>
        </p:txBody>
      </p:sp>
      <p:sp>
        <p:nvSpPr>
          <p:cNvPr id="125" name="Block"/>
          <p:cNvSpPr/>
          <p:nvPr/>
        </p:nvSpPr>
        <p:spPr>
          <a:xfrm>
            <a:off x="512064" y="5321808"/>
            <a:ext cx="987552" cy="384048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prefix</a:t>
            </a:r>
          </a:p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pixels</a:t>
            </a:r>
          </a:p>
        </p:txBody>
      </p:sp>
      <p:cxnSp>
        <p:nvCxnSpPr>
          <p:cNvPr id="126" name="Arrow"/>
          <p:cNvCxnSpPr/>
          <p:nvPr/>
        </p:nvCxnSpPr>
        <p:spPr>
          <a:xfrm>
            <a:off x="1536192" y="5513832"/>
            <a:ext cx="384048" cy="0"/>
          </a:xfrm>
          <a:prstGeom prst="line">
            <a:avLst/>
          </a:prstGeom>
          <a:ln w="13970">
            <a:solidFill>
              <a:srgbClr val="0F766E"/>
            </a:solidFill>
            <a:tailEnd type="triangle" w="med"/>
          </a:ln>
        </p:spPr>
      </p:cxnSp>
      <p:sp>
        <p:nvSpPr>
          <p:cNvPr id="127" name="Block"/>
          <p:cNvSpPr/>
          <p:nvPr/>
        </p:nvSpPr>
        <p:spPr>
          <a:xfrm>
            <a:off x="1975104" y="5321808"/>
            <a:ext cx="987552" cy="38404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 b="1">
                <a:solidFill>
                  <a:srgbClr val="111827"/>
                </a:solidFill>
                <a:latin typeface="Arial"/>
              </a:rPr>
              <a:t>phase-head</a:t>
            </a:r>
          </a:p>
          <a:p>
            <a:pPr algn="ctr"/>
            <a:r>
              <a:rPr sz="580" b="1">
                <a:solidFill>
                  <a:srgbClr val="111827"/>
                </a:solidFill>
                <a:latin typeface="Arial"/>
              </a:rPr>
              <a:t>predictions</a:t>
            </a:r>
          </a:p>
        </p:txBody>
      </p:sp>
      <p:cxnSp>
        <p:nvCxnSpPr>
          <p:cNvPr id="128" name="Arrow"/>
          <p:cNvCxnSpPr/>
          <p:nvPr/>
        </p:nvCxnSpPr>
        <p:spPr>
          <a:xfrm>
            <a:off x="2999232" y="5513832"/>
            <a:ext cx="384048" cy="0"/>
          </a:xfrm>
          <a:prstGeom prst="line">
            <a:avLst/>
          </a:prstGeom>
          <a:ln w="13970">
            <a:solidFill>
              <a:srgbClr val="0F766E"/>
            </a:solidFill>
            <a:tailEnd type="triangle" w="med"/>
          </a:ln>
        </p:spPr>
      </p:cxnSp>
      <p:sp>
        <p:nvSpPr>
          <p:cNvPr id="129" name="Block"/>
          <p:cNvSpPr/>
          <p:nvPr/>
        </p:nvSpPr>
        <p:spPr>
          <a:xfrm>
            <a:off x="3438144" y="5321808"/>
            <a:ext cx="1097280" cy="384048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 b="1">
                <a:solidFill>
                  <a:srgbClr val="111827"/>
                </a:solidFill>
                <a:latin typeface="Arial"/>
              </a:rPr>
              <a:t>prefix phase</a:t>
            </a:r>
          </a:p>
          <a:p>
            <a:pPr algn="ctr"/>
            <a:r>
              <a:rPr sz="580" b="1">
                <a:solidFill>
                  <a:srgbClr val="111827"/>
                </a:solidFill>
                <a:latin typeface="Arial"/>
              </a:rPr>
              <a:t>sequence</a:t>
            </a:r>
          </a:p>
        </p:txBody>
      </p:sp>
      <p:sp>
        <p:nvSpPr>
          <p:cNvPr id="130" name="Block"/>
          <p:cNvSpPr/>
          <p:nvPr/>
        </p:nvSpPr>
        <p:spPr>
          <a:xfrm>
            <a:off x="1975104" y="4133088"/>
            <a:ext cx="1042416" cy="42062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phase</a:t>
            </a:r>
          </a:p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bigrams</a:t>
            </a:r>
          </a:p>
        </p:txBody>
      </p:sp>
      <p:cxnSp>
        <p:nvCxnSpPr>
          <p:cNvPr id="131" name="Arrow"/>
          <p:cNvCxnSpPr/>
          <p:nvPr/>
        </p:nvCxnSpPr>
        <p:spPr>
          <a:xfrm>
            <a:off x="3054096" y="4343400"/>
            <a:ext cx="365760" cy="0"/>
          </a:xfrm>
          <a:prstGeom prst="line">
            <a:avLst/>
          </a:prstGeom>
          <a:ln w="13970">
            <a:solidFill>
              <a:srgbClr val="64748B"/>
            </a:solidFill>
            <a:tailEnd type="triangle" w="med"/>
          </a:ln>
        </p:spPr>
      </p:cxnSp>
      <p:sp>
        <p:nvSpPr>
          <p:cNvPr id="132" name="Block"/>
          <p:cNvSpPr/>
          <p:nvPr/>
        </p:nvSpPr>
        <p:spPr>
          <a:xfrm>
            <a:off x="3474720" y="4133088"/>
            <a:ext cx="1188720" cy="42062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TF-IDF</a:t>
            </a:r>
          </a:p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+ PCA</a:t>
            </a:r>
          </a:p>
        </p:txBody>
      </p:sp>
      <p:cxnSp>
        <p:nvCxnSpPr>
          <p:cNvPr id="133" name="Arrow"/>
          <p:cNvCxnSpPr/>
          <p:nvPr/>
        </p:nvCxnSpPr>
        <p:spPr>
          <a:xfrm>
            <a:off x="4690872" y="4343400"/>
            <a:ext cx="374904" cy="0"/>
          </a:xfrm>
          <a:prstGeom prst="line">
            <a:avLst/>
          </a:prstGeom>
          <a:ln w="13970">
            <a:solidFill>
              <a:srgbClr val="64748B"/>
            </a:solidFill>
            <a:tailEnd type="triangle" w="med"/>
          </a:ln>
        </p:spPr>
      </p:cxnSp>
      <p:sp>
        <p:nvSpPr>
          <p:cNvPr id="134" name="Block"/>
          <p:cNvSpPr/>
          <p:nvPr/>
        </p:nvSpPr>
        <p:spPr>
          <a:xfrm>
            <a:off x="5120640" y="4133088"/>
            <a:ext cx="1097280" cy="420624"/>
          </a:xfrm>
          <a:prstGeom prst="roundRect">
            <a:avLst/>
          </a:prstGeom>
          <a:solidFill>
            <a:srgbClr val="FFF7ED"/>
          </a:solidFill>
          <a:ln w="12700">
            <a:solidFill>
              <a:srgbClr val="D97706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centroid</a:t>
            </a:r>
          </a:p>
          <a:p>
            <a:pPr algn="ctr"/>
            <a:r>
              <a:rPr sz="620" b="1">
                <a:solidFill>
                  <a:srgbClr val="111827"/>
                </a:solidFill>
                <a:latin typeface="Arial"/>
              </a:rPr>
              <a:t>map</a:t>
            </a:r>
          </a:p>
        </p:txBody>
      </p:sp>
      <p:cxnSp>
        <p:nvCxnSpPr>
          <p:cNvPr id="135" name="Arrow"/>
          <p:cNvCxnSpPr/>
          <p:nvPr/>
        </p:nvCxnSpPr>
        <p:spPr>
          <a:xfrm flipV="1">
            <a:off x="4535424" y="4572000"/>
            <a:ext cx="822960" cy="941832"/>
          </a:xfrm>
          <a:prstGeom prst="line">
            <a:avLst/>
          </a:prstGeom>
          <a:ln w="13970">
            <a:solidFill>
              <a:srgbClr val="0F766E"/>
            </a:solidFill>
            <a:tailEnd type="triangle" w="med"/>
          </a:ln>
        </p:spPr>
      </p:cxnSp>
      <p:cxnSp>
        <p:nvCxnSpPr>
          <p:cNvPr id="136" name="Arrow"/>
          <p:cNvCxnSpPr/>
          <p:nvPr/>
        </p:nvCxnSpPr>
        <p:spPr>
          <a:xfrm>
            <a:off x="6236208" y="4343400"/>
            <a:ext cx="384048" cy="0"/>
          </a:xfrm>
          <a:prstGeom prst="line">
            <a:avLst/>
          </a:prstGeom>
          <a:ln w="13970">
            <a:solidFill>
              <a:srgbClr val="0F766E"/>
            </a:solidFill>
            <a:tailEnd type="triangle" w="med"/>
          </a:ln>
        </p:spPr>
      </p:cxnSp>
      <p:sp>
        <p:nvSpPr>
          <p:cNvPr id="137" name="Block"/>
          <p:cNvSpPr/>
          <p:nvPr/>
        </p:nvSpPr>
        <p:spPr>
          <a:xfrm>
            <a:off x="6675120" y="4133088"/>
            <a:ext cx="1225296" cy="42062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00" b="1">
                <a:solidFill>
                  <a:srgbClr val="111827"/>
                </a:solidFill>
                <a:latin typeface="Arial"/>
              </a:rPr>
              <a:t>z or posterior q</a:t>
            </a:r>
          </a:p>
        </p:txBody>
      </p:sp>
      <p:cxnSp>
        <p:nvCxnSpPr>
          <p:cNvPr id="138" name="Arrow"/>
          <p:cNvCxnSpPr/>
          <p:nvPr/>
        </p:nvCxnSpPr>
        <p:spPr>
          <a:xfrm>
            <a:off x="7936992" y="4343400"/>
            <a:ext cx="365760" cy="0"/>
          </a:xfrm>
          <a:prstGeom prst="line">
            <a:avLst/>
          </a:prstGeom>
          <a:ln w="13970">
            <a:solidFill>
              <a:srgbClr val="0F766E"/>
            </a:solidFill>
            <a:tailEnd type="triangle" w="med"/>
          </a:ln>
        </p:spPr>
      </p:cxnSp>
      <p:sp>
        <p:nvSpPr>
          <p:cNvPr id="139" name="Block"/>
          <p:cNvSpPr/>
          <p:nvPr/>
        </p:nvSpPr>
        <p:spPr>
          <a:xfrm>
            <a:off x="8357616" y="4069080"/>
            <a:ext cx="1243584" cy="548640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 b="1">
                <a:solidFill>
                  <a:srgbClr val="111827"/>
                </a:solidFill>
                <a:latin typeface="Arial"/>
              </a:rPr>
              <a:t>workflow token</a:t>
            </a:r>
          </a:p>
          <a:p>
            <a:pPr algn="ctr"/>
            <a:r>
              <a:rPr sz="580" b="1">
                <a:solidFill>
                  <a:srgbClr val="111827"/>
                </a:solidFill>
                <a:latin typeface="Arial"/>
              </a:rPr>
              <a:t>E[z] or sum q_k E[k]</a:t>
            </a:r>
          </a:p>
        </p:txBody>
      </p:sp>
      <p:cxnSp>
        <p:nvCxnSpPr>
          <p:cNvPr id="140" name="Arrow"/>
          <p:cNvCxnSpPr/>
          <p:nvPr/>
        </p:nvCxnSpPr>
        <p:spPr>
          <a:xfrm flipH="1" flipV="1">
            <a:off x="5870448" y="2935224"/>
            <a:ext cx="3108960" cy="1115568"/>
          </a:xfrm>
          <a:prstGeom prst="line">
            <a:avLst/>
          </a:prstGeom>
          <a:ln w="13970">
            <a:solidFill>
              <a:srgbClr val="0F766E"/>
            </a:solidFill>
            <a:tailEnd type="triangle" w="med"/>
          </a:ln>
        </p:spPr>
      </p:cxnSp>
      <p:sp>
        <p:nvSpPr>
          <p:cNvPr id="141" name="No label note"/>
          <p:cNvSpPr txBox="1"/>
          <p:nvPr/>
        </p:nvSpPr>
        <p:spPr>
          <a:xfrm>
            <a:off x="4800600" y="5340096"/>
            <a:ext cx="4754880" cy="1828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670" b="0">
                <a:solidFill>
                  <a:srgbClr val="0F766E"/>
                </a:solidFill>
                <a:latin typeface="Arial"/>
              </a:rPr>
              <a:t>At inference: no ground-truth phase labels and no full-case workflow labels.</a:t>
            </a:r>
          </a:p>
        </p:txBody>
      </p:sp>
      <p:sp>
        <p:nvSpPr>
          <p:cNvPr id="142" name="Panel label"/>
          <p:cNvSpPr txBox="1"/>
          <p:nvPr/>
        </p:nvSpPr>
        <p:spPr>
          <a:xfrm>
            <a:off x="9857232" y="3529584"/>
            <a:ext cx="438912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030" b="1">
                <a:solidFill>
                  <a:srgbClr val="111827"/>
                </a:solidFill>
                <a:latin typeface="Arial"/>
              </a:rPr>
              <a:t>3. Evaluation question</a:t>
            </a:r>
          </a:p>
        </p:txBody>
      </p:sp>
      <p:sp>
        <p:nvSpPr>
          <p:cNvPr id="143" name="Block"/>
          <p:cNvSpPr/>
          <p:nvPr/>
        </p:nvSpPr>
        <p:spPr>
          <a:xfrm>
            <a:off x="9966960" y="3968496"/>
            <a:ext cx="987552" cy="42062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10" b="1">
                <a:solidFill>
                  <a:srgbClr val="111827"/>
                </a:solidFill>
                <a:latin typeface="Arial"/>
              </a:rPr>
              <a:t>MB140</a:t>
            </a:r>
          </a:p>
          <a:p>
            <a:pPr algn="ctr"/>
            <a:r>
              <a:rPr sz="610" b="1">
                <a:solidFill>
                  <a:srgbClr val="111827"/>
                </a:solidFill>
                <a:latin typeface="Arial"/>
              </a:rPr>
              <a:t>within-center</a:t>
            </a:r>
          </a:p>
        </p:txBody>
      </p:sp>
      <p:sp>
        <p:nvSpPr>
          <p:cNvPr id="144" name="Block"/>
          <p:cNvSpPr/>
          <p:nvPr/>
        </p:nvSpPr>
        <p:spPr>
          <a:xfrm>
            <a:off x="11082528" y="3968496"/>
            <a:ext cx="1005840" cy="420624"/>
          </a:xfrm>
          <a:prstGeom prst="roundRect">
            <a:avLst/>
          </a:prstGeom>
          <a:solidFill>
            <a:srgbClr val="ECFDF5"/>
          </a:solidFill>
          <a:ln w="12700">
            <a:solidFill>
              <a:srgbClr val="0F766E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10" b="1">
                <a:solidFill>
                  <a:srgbClr val="111827"/>
                </a:solidFill>
                <a:latin typeface="Arial"/>
              </a:rPr>
              <a:t>MB140</a:t>
            </a:r>
          </a:p>
          <a:p>
            <a:pPr algn="ctr"/>
            <a:r>
              <a:rPr sz="610" b="1">
                <a:solidFill>
                  <a:srgbClr val="111827"/>
                </a:solidFill>
                <a:latin typeface="Arial"/>
              </a:rPr>
              <a:t>cross-center</a:t>
            </a:r>
          </a:p>
        </p:txBody>
      </p:sp>
      <p:sp>
        <p:nvSpPr>
          <p:cNvPr id="145" name="Block"/>
          <p:cNvSpPr/>
          <p:nvPr/>
        </p:nvSpPr>
        <p:spPr>
          <a:xfrm>
            <a:off x="9966960" y="4608576"/>
            <a:ext cx="987552" cy="4206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4748B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10" b="1">
                <a:solidFill>
                  <a:srgbClr val="111827"/>
                </a:solidFill>
                <a:latin typeface="Arial"/>
              </a:rPr>
              <a:t>Cholec80</a:t>
            </a:r>
          </a:p>
          <a:p>
            <a:pPr algn="ctr"/>
            <a:r>
              <a:rPr sz="610" b="1">
                <a:solidFill>
                  <a:srgbClr val="111827"/>
                </a:solidFill>
                <a:latin typeface="Arial"/>
              </a:rPr>
              <a:t>contrast</a:t>
            </a:r>
          </a:p>
        </p:txBody>
      </p:sp>
      <p:sp>
        <p:nvSpPr>
          <p:cNvPr id="146" name="Block"/>
          <p:cNvSpPr/>
          <p:nvPr/>
        </p:nvSpPr>
        <p:spPr>
          <a:xfrm>
            <a:off x="11082528" y="4608576"/>
            <a:ext cx="1005840" cy="420624"/>
          </a:xfrm>
          <a:prstGeom prst="roundRect">
            <a:avLst/>
          </a:prstGeom>
          <a:solidFill>
            <a:srgbClr val="F5F3FF"/>
          </a:solidFill>
          <a:ln w="12700">
            <a:solidFill>
              <a:srgbClr val="7C3AED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80" b="1">
                <a:solidFill>
                  <a:srgbClr val="111827"/>
                </a:solidFill>
                <a:latin typeface="Arial"/>
              </a:rPr>
              <a:t>shuffled-token</a:t>
            </a:r>
          </a:p>
          <a:p>
            <a:pPr algn="ctr"/>
            <a:r>
              <a:rPr sz="580" b="1">
                <a:solidFill>
                  <a:srgbClr val="111827"/>
                </a:solidFill>
                <a:latin typeface="Arial"/>
              </a:rPr>
              <a:t>control</a:t>
            </a:r>
          </a:p>
        </p:txBody>
      </p:sp>
      <p:sp>
        <p:nvSpPr>
          <p:cNvPr id="147" name="Block"/>
          <p:cNvSpPr/>
          <p:nvPr/>
        </p:nvSpPr>
        <p:spPr>
          <a:xfrm>
            <a:off x="9966960" y="5248656"/>
            <a:ext cx="2121408" cy="402336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1D4ED8"/>
            </a:solidFill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590" b="1">
                <a:solidFill>
                  <a:srgbClr val="111827"/>
                </a:solidFill>
                <a:latin typeface="Arial"/>
              </a:rPr>
              <a:t>strict prefix-only vs centered-window</a:t>
            </a:r>
          </a:p>
        </p:txBody>
      </p:sp>
      <p:sp>
        <p:nvSpPr>
          <p:cNvPr id="148" name="Claim"/>
          <p:cNvSpPr txBox="1"/>
          <p:nvPr/>
        </p:nvSpPr>
        <p:spPr>
          <a:xfrm>
            <a:off x="9948672" y="5797296"/>
            <a:ext cx="2176272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40" b="1">
                <a:solidFill>
                  <a:srgbClr val="111827"/>
                </a:solidFill>
                <a:latin typeface="Arial"/>
              </a:rPr>
              <a:t>Claim: workflow conditioning helps when workflow variation exists and the token carries meaning.</a:t>
            </a:r>
          </a:p>
        </p:txBody>
      </p:sp>
      <p:cxnSp>
        <p:nvCxnSpPr>
          <p:cNvPr id="149" name="Footer rule"/>
          <p:cNvCxnSpPr/>
          <p:nvPr/>
        </p:nvCxnSpPr>
        <p:spPr>
          <a:xfrm>
            <a:off x="347472" y="6199632"/>
            <a:ext cx="11740896" cy="0"/>
          </a:xfrm>
          <a:prstGeom prst="line">
            <a:avLst/>
          </a:prstGeom>
          <a:ln w="7620">
            <a:solidFill>
              <a:srgbClr val="E5E7EB"/>
            </a:solidFill>
          </a:ln>
        </p:spPr>
      </p:cxnSp>
      <p:sp>
        <p:nvSpPr>
          <p:cNvPr id="150" name="Footer"/>
          <p:cNvSpPr txBox="1"/>
          <p:nvPr/>
        </p:nvSpPr>
        <p:spPr>
          <a:xfrm>
            <a:off x="960120" y="6272784"/>
            <a:ext cx="10515600" cy="1097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620" b="0">
                <a:solidFill>
                  <a:srgbClr val="4B5563"/>
                </a:solidFill>
                <a:latin typeface="Arial"/>
              </a:rPr>
              <a:t>Study scope: MultiBypass140 + Cholec80 | conditions: no-token, retrospective oracle, causal-at-inference | metric: validation MAE in minutes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268</Words>
  <Application>Microsoft Macintosh PowerPoint</Application>
  <PresentationFormat>Custom</PresentationFormat>
  <Paragraphs>85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Xi Chen</cp:lastModifiedBy>
  <cp:revision>2</cp:revision>
  <dcterms:created xsi:type="dcterms:W3CDTF">2013-01-27T09:14:16Z</dcterms:created>
  <dcterms:modified xsi:type="dcterms:W3CDTF">2026-05-01T16:58:43Z</dcterms:modified>
  <cp:category/>
</cp:coreProperties>
</file>