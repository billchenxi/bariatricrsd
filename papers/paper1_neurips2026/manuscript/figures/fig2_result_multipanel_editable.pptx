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9436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Panel frame"/>
          <p:cNvSpPr/>
          <p:nvPr/>
        </p:nvSpPr>
        <p:spPr>
          <a:xfrm>
            <a:off x="320040" y="182880"/>
            <a:ext cx="4059936" cy="250545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BD5E1"/>
            </a:solidFill>
          </a:ln>
        </p:spPr>
        <p:txBody>
          <a:bodyPr rtlCol="0" anchor="ctr"/>
          <a:lstStyle/>
          <a:p/>
        </p:txBody>
      </p:sp>
      <p:sp>
        <p:nvSpPr>
          <p:cNvPr id="4" name="Panel title"/>
          <p:cNvSpPr txBox="1"/>
          <p:nvPr/>
        </p:nvSpPr>
        <p:spPr>
          <a:xfrm>
            <a:off x="429768" y="274320"/>
            <a:ext cx="38404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80" b="1">
                <a:solidFill>
                  <a:srgbClr val="111827"/>
                </a:solidFill>
                <a:latin typeface="Arial"/>
              </a:rPr>
              <a:t>A. MB140 within-center (strict)</a:t>
            </a:r>
          </a:p>
        </p:txBody>
      </p:sp>
      <p:sp>
        <p:nvSpPr>
          <p:cNvPr id="5" name="Y label"/>
          <p:cNvSpPr txBox="1"/>
          <p:nvPr/>
        </p:nvSpPr>
        <p:spPr>
          <a:xfrm>
            <a:off x="850392" y="521208"/>
            <a:ext cx="1243584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60" b="0">
                <a:solidFill>
                  <a:srgbClr val="4B5563"/>
                </a:solidFill>
                <a:latin typeface="Arial"/>
              </a:rPr>
              <a:t>MAE (min)</a:t>
            </a:r>
          </a:p>
        </p:txBody>
      </p:sp>
      <p:cxnSp>
        <p:nvCxnSpPr>
          <p:cNvPr id="6" name="Y gridline"/>
          <p:cNvCxnSpPr/>
          <p:nvPr/>
        </p:nvCxnSpPr>
        <p:spPr>
          <a:xfrm>
            <a:off x="850392" y="2158270"/>
            <a:ext cx="3346704" cy="0"/>
          </a:xfrm>
          <a:prstGeom prst="line">
            <a:avLst/>
          </a:prstGeom>
          <a:ln w="5715">
            <a:solidFill>
              <a:srgbClr val="E5E7EB"/>
            </a:solidFill>
          </a:ln>
        </p:spPr>
      </p:cxnSp>
      <p:sp>
        <p:nvSpPr>
          <p:cNvPr id="7" name="Y tick"/>
          <p:cNvSpPr txBox="1"/>
          <p:nvPr/>
        </p:nvSpPr>
        <p:spPr>
          <a:xfrm>
            <a:off x="429768" y="2103406"/>
            <a:ext cx="329184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20" b="0">
                <a:solidFill>
                  <a:srgbClr val="4B5563"/>
                </a:solidFill>
                <a:latin typeface="Arial"/>
              </a:rPr>
              <a:t>12</a:t>
            </a:r>
          </a:p>
        </p:txBody>
      </p:sp>
      <p:cxnSp>
        <p:nvCxnSpPr>
          <p:cNvPr id="8" name="Y gridline"/>
          <p:cNvCxnSpPr/>
          <p:nvPr/>
        </p:nvCxnSpPr>
        <p:spPr>
          <a:xfrm>
            <a:off x="850392" y="1703927"/>
            <a:ext cx="3346704" cy="0"/>
          </a:xfrm>
          <a:prstGeom prst="line">
            <a:avLst/>
          </a:prstGeom>
          <a:ln w="5715">
            <a:solidFill>
              <a:srgbClr val="E5E7EB"/>
            </a:solidFill>
          </a:ln>
        </p:spPr>
      </p:cxnSp>
      <p:sp>
        <p:nvSpPr>
          <p:cNvPr id="9" name="Y tick"/>
          <p:cNvSpPr txBox="1"/>
          <p:nvPr/>
        </p:nvSpPr>
        <p:spPr>
          <a:xfrm>
            <a:off x="429768" y="1649063"/>
            <a:ext cx="329184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20" b="0">
                <a:solidFill>
                  <a:srgbClr val="4B5563"/>
                </a:solidFill>
                <a:latin typeface="Arial"/>
              </a:rPr>
              <a:t>12.5</a:t>
            </a:r>
          </a:p>
        </p:txBody>
      </p:sp>
      <p:cxnSp>
        <p:nvCxnSpPr>
          <p:cNvPr id="10" name="Y gridline"/>
          <p:cNvCxnSpPr/>
          <p:nvPr/>
        </p:nvCxnSpPr>
        <p:spPr>
          <a:xfrm>
            <a:off x="850392" y="1249585"/>
            <a:ext cx="3346704" cy="0"/>
          </a:xfrm>
          <a:prstGeom prst="line">
            <a:avLst/>
          </a:prstGeom>
          <a:ln w="5715">
            <a:solidFill>
              <a:srgbClr val="E5E7EB"/>
            </a:solidFill>
          </a:ln>
        </p:spPr>
      </p:cxnSp>
      <p:sp>
        <p:nvSpPr>
          <p:cNvPr id="11" name="Y tick"/>
          <p:cNvSpPr txBox="1"/>
          <p:nvPr/>
        </p:nvSpPr>
        <p:spPr>
          <a:xfrm>
            <a:off x="429768" y="1194721"/>
            <a:ext cx="329184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20" b="0">
                <a:solidFill>
                  <a:srgbClr val="4B5563"/>
                </a:solidFill>
                <a:latin typeface="Arial"/>
              </a:rPr>
              <a:t>13</a:t>
            </a:r>
          </a:p>
        </p:txBody>
      </p:sp>
      <p:cxnSp>
        <p:nvCxnSpPr>
          <p:cNvPr id="12" name="Y gridline"/>
          <p:cNvCxnSpPr/>
          <p:nvPr/>
        </p:nvCxnSpPr>
        <p:spPr>
          <a:xfrm>
            <a:off x="850392" y="795242"/>
            <a:ext cx="3346704" cy="0"/>
          </a:xfrm>
          <a:prstGeom prst="line">
            <a:avLst/>
          </a:prstGeom>
          <a:ln w="5715">
            <a:solidFill>
              <a:srgbClr val="E5E7EB"/>
            </a:solidFill>
          </a:ln>
        </p:spPr>
      </p:cxnSp>
      <p:sp>
        <p:nvSpPr>
          <p:cNvPr id="13" name="Y tick"/>
          <p:cNvSpPr txBox="1"/>
          <p:nvPr/>
        </p:nvSpPr>
        <p:spPr>
          <a:xfrm>
            <a:off x="429768" y="740378"/>
            <a:ext cx="329184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20" b="0">
                <a:solidFill>
                  <a:srgbClr val="4B5563"/>
                </a:solidFill>
                <a:latin typeface="Arial"/>
              </a:rPr>
              <a:t>13.5</a:t>
            </a:r>
          </a:p>
        </p:txBody>
      </p:sp>
      <p:cxnSp>
        <p:nvCxnSpPr>
          <p:cNvPr id="14" name="Y axis"/>
          <p:cNvCxnSpPr/>
          <p:nvPr/>
        </p:nvCxnSpPr>
        <p:spPr>
          <a:xfrm>
            <a:off x="850392" y="749808"/>
            <a:ext cx="0" cy="1453896"/>
          </a:xfrm>
          <a:prstGeom prst="line">
            <a:avLst/>
          </a:prstGeom>
          <a:ln w="7620">
            <a:solidFill>
              <a:srgbClr val="374151"/>
            </a:solidFill>
          </a:ln>
        </p:spPr>
      </p:cxnSp>
      <p:cxnSp>
        <p:nvCxnSpPr>
          <p:cNvPr id="15" name="X axis"/>
          <p:cNvCxnSpPr/>
          <p:nvPr/>
        </p:nvCxnSpPr>
        <p:spPr>
          <a:xfrm>
            <a:off x="850392" y="2203704"/>
            <a:ext cx="3346704" cy="0"/>
          </a:xfrm>
          <a:prstGeom prst="line">
            <a:avLst/>
          </a:prstGeom>
          <a:ln w="7620">
            <a:solidFill>
              <a:srgbClr val="374151"/>
            </a:solidFill>
          </a:ln>
        </p:spPr>
      </p:cxnSp>
      <p:cxnSp>
        <p:nvCxnSpPr>
          <p:cNvPr id="16" name="Mean connector"/>
          <p:cNvCxnSpPr/>
          <p:nvPr/>
        </p:nvCxnSpPr>
        <p:spPr>
          <a:xfrm>
            <a:off x="1452799" y="1222324"/>
            <a:ext cx="1070945" cy="699687"/>
          </a:xfrm>
          <a:prstGeom prst="line">
            <a:avLst/>
          </a:prstGeom>
          <a:ln w="9525">
            <a:solidFill>
              <a:srgbClr val="CBD5E1"/>
            </a:solidFill>
          </a:ln>
        </p:spPr>
      </p:cxnSp>
      <p:cxnSp>
        <p:nvCxnSpPr>
          <p:cNvPr id="17" name="Mean connector"/>
          <p:cNvCxnSpPr/>
          <p:nvPr/>
        </p:nvCxnSpPr>
        <p:spPr>
          <a:xfrm>
            <a:off x="2523744" y="1922012"/>
            <a:ext cx="1070945" cy="72695"/>
          </a:xfrm>
          <a:prstGeom prst="line">
            <a:avLst/>
          </a:prstGeom>
          <a:ln w="9525">
            <a:solidFill>
              <a:srgbClr val="CBD5E1"/>
            </a:solidFill>
          </a:ln>
        </p:spPr>
      </p:cxnSp>
      <p:cxnSp>
        <p:nvCxnSpPr>
          <p:cNvPr id="18" name="Error bar"/>
          <p:cNvCxnSpPr/>
          <p:nvPr/>
        </p:nvCxnSpPr>
        <p:spPr>
          <a:xfrm>
            <a:off x="1452799" y="1058761"/>
            <a:ext cx="0" cy="327127"/>
          </a:xfrm>
          <a:prstGeom prst="line">
            <a:avLst/>
          </a:prstGeom>
          <a:ln w="10160">
            <a:solidFill>
              <a:srgbClr val="6B7280"/>
            </a:solidFill>
          </a:ln>
        </p:spPr>
      </p:cxnSp>
      <p:cxnSp>
        <p:nvCxnSpPr>
          <p:cNvPr id="19" name="Error cap"/>
          <p:cNvCxnSpPr/>
          <p:nvPr/>
        </p:nvCxnSpPr>
        <p:spPr>
          <a:xfrm>
            <a:off x="1384219" y="1058761"/>
            <a:ext cx="137160" cy="0"/>
          </a:xfrm>
          <a:prstGeom prst="line">
            <a:avLst/>
          </a:prstGeom>
          <a:ln w="10160">
            <a:solidFill>
              <a:srgbClr val="6B7280"/>
            </a:solidFill>
          </a:ln>
        </p:spPr>
      </p:cxnSp>
      <p:cxnSp>
        <p:nvCxnSpPr>
          <p:cNvPr id="20" name="Error cap"/>
          <p:cNvCxnSpPr/>
          <p:nvPr/>
        </p:nvCxnSpPr>
        <p:spPr>
          <a:xfrm>
            <a:off x="1384219" y="1385888"/>
            <a:ext cx="137160" cy="0"/>
          </a:xfrm>
          <a:prstGeom prst="line">
            <a:avLst/>
          </a:prstGeom>
          <a:ln w="10160">
            <a:solidFill>
              <a:srgbClr val="6B7280"/>
            </a:solidFill>
          </a:ln>
        </p:spPr>
      </p:cxnSp>
      <p:sp>
        <p:nvSpPr>
          <p:cNvPr id="21" name="Data point"/>
          <p:cNvSpPr/>
          <p:nvPr/>
        </p:nvSpPr>
        <p:spPr>
          <a:xfrm>
            <a:off x="1397935" y="1167460"/>
            <a:ext cx="109728" cy="109728"/>
          </a:xfrm>
          <a:prstGeom prst="ellipse">
            <a:avLst/>
          </a:prstGeom>
          <a:solidFill>
            <a:srgbClr val="6B7280"/>
          </a:solidFill>
          <a:ln w="444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22" name="Value label"/>
          <p:cNvSpPr txBox="1"/>
          <p:nvPr/>
        </p:nvSpPr>
        <p:spPr>
          <a:xfrm>
            <a:off x="1178479" y="766153"/>
            <a:ext cx="548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30" b="0">
                <a:solidFill>
                  <a:srgbClr val="111827"/>
                </a:solidFill>
                <a:latin typeface="Arial"/>
              </a:rPr>
              <a:t>13.03</a:t>
            </a:r>
          </a:p>
          <a:p>
            <a:pPr algn="ctr"/>
            <a:r>
              <a:rPr sz="630" b="0">
                <a:solidFill>
                  <a:srgbClr val="111827"/>
                </a:solidFill>
                <a:latin typeface="Arial"/>
              </a:rPr>
              <a:t>+/- 0.18</a:t>
            </a:r>
          </a:p>
        </p:txBody>
      </p:sp>
      <p:sp>
        <p:nvSpPr>
          <p:cNvPr id="23" name="X label"/>
          <p:cNvSpPr txBox="1"/>
          <p:nvPr/>
        </p:nvSpPr>
        <p:spPr>
          <a:xfrm>
            <a:off x="1068751" y="2295144"/>
            <a:ext cx="76809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0">
                <a:solidFill>
                  <a:srgbClr val="111827"/>
                </a:solidFill>
                <a:latin typeface="Arial"/>
              </a:rPr>
              <a:t>no token</a:t>
            </a:r>
          </a:p>
        </p:txBody>
      </p:sp>
      <p:cxnSp>
        <p:nvCxnSpPr>
          <p:cNvPr id="24" name="Error bar"/>
          <p:cNvCxnSpPr/>
          <p:nvPr/>
        </p:nvCxnSpPr>
        <p:spPr>
          <a:xfrm>
            <a:off x="2523744" y="1840230"/>
            <a:ext cx="0" cy="163563"/>
          </a:xfrm>
          <a:prstGeom prst="line">
            <a:avLst/>
          </a:prstGeom>
          <a:ln w="10160">
            <a:solidFill>
              <a:srgbClr val="2563EB"/>
            </a:solidFill>
          </a:ln>
        </p:spPr>
      </p:cxnSp>
      <p:cxnSp>
        <p:nvCxnSpPr>
          <p:cNvPr id="25" name="Error cap"/>
          <p:cNvCxnSpPr/>
          <p:nvPr/>
        </p:nvCxnSpPr>
        <p:spPr>
          <a:xfrm>
            <a:off x="2455164" y="1840230"/>
            <a:ext cx="137160" cy="0"/>
          </a:xfrm>
          <a:prstGeom prst="line">
            <a:avLst/>
          </a:prstGeom>
          <a:ln w="10160">
            <a:solidFill>
              <a:srgbClr val="2563EB"/>
            </a:solidFill>
          </a:ln>
        </p:spPr>
      </p:cxnSp>
      <p:cxnSp>
        <p:nvCxnSpPr>
          <p:cNvPr id="26" name="Error cap"/>
          <p:cNvCxnSpPr/>
          <p:nvPr/>
        </p:nvCxnSpPr>
        <p:spPr>
          <a:xfrm>
            <a:off x="2455164" y="2003793"/>
            <a:ext cx="137160" cy="0"/>
          </a:xfrm>
          <a:prstGeom prst="line">
            <a:avLst/>
          </a:prstGeom>
          <a:ln w="10160">
            <a:solidFill>
              <a:srgbClr val="2563EB"/>
            </a:solidFill>
          </a:ln>
        </p:spPr>
      </p:cxnSp>
      <p:sp>
        <p:nvSpPr>
          <p:cNvPr id="27" name="Data point"/>
          <p:cNvSpPr/>
          <p:nvPr/>
        </p:nvSpPr>
        <p:spPr>
          <a:xfrm>
            <a:off x="2468880" y="1867148"/>
            <a:ext cx="109728" cy="109728"/>
          </a:xfrm>
          <a:prstGeom prst="ellipse">
            <a:avLst/>
          </a:prstGeom>
          <a:solidFill>
            <a:srgbClr val="2563EB"/>
          </a:solidFill>
          <a:ln w="444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28" name="Value label"/>
          <p:cNvSpPr txBox="1"/>
          <p:nvPr/>
        </p:nvSpPr>
        <p:spPr>
          <a:xfrm>
            <a:off x="2249424" y="1547622"/>
            <a:ext cx="548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30" b="0">
                <a:solidFill>
                  <a:srgbClr val="111827"/>
                </a:solidFill>
                <a:latin typeface="Arial"/>
              </a:rPr>
              <a:t>12.26</a:t>
            </a:r>
          </a:p>
          <a:p>
            <a:pPr algn="ctr"/>
            <a:r>
              <a:rPr sz="630" b="0">
                <a:solidFill>
                  <a:srgbClr val="111827"/>
                </a:solidFill>
                <a:latin typeface="Arial"/>
              </a:rPr>
              <a:t>+/- 0.09</a:t>
            </a:r>
          </a:p>
        </p:txBody>
      </p:sp>
      <p:sp>
        <p:nvSpPr>
          <p:cNvPr id="29" name="X label"/>
          <p:cNvSpPr txBox="1"/>
          <p:nvPr/>
        </p:nvSpPr>
        <p:spPr>
          <a:xfrm>
            <a:off x="2139696" y="2295144"/>
            <a:ext cx="76809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0">
                <a:solidFill>
                  <a:srgbClr val="111827"/>
                </a:solidFill>
                <a:latin typeface="Arial"/>
              </a:rPr>
              <a:t>oracle</a:t>
            </a:r>
          </a:p>
        </p:txBody>
      </p:sp>
      <p:cxnSp>
        <p:nvCxnSpPr>
          <p:cNvPr id="30" name="Error bar"/>
          <p:cNvCxnSpPr/>
          <p:nvPr/>
        </p:nvCxnSpPr>
        <p:spPr>
          <a:xfrm>
            <a:off x="3594689" y="1894751"/>
            <a:ext cx="0" cy="199911"/>
          </a:xfrm>
          <a:prstGeom prst="line">
            <a:avLst/>
          </a:prstGeom>
          <a:ln w="10160">
            <a:solidFill>
              <a:srgbClr val="0F766E"/>
            </a:solidFill>
          </a:ln>
        </p:spPr>
      </p:cxnSp>
      <p:cxnSp>
        <p:nvCxnSpPr>
          <p:cNvPr id="31" name="Error cap"/>
          <p:cNvCxnSpPr/>
          <p:nvPr/>
        </p:nvCxnSpPr>
        <p:spPr>
          <a:xfrm>
            <a:off x="3526109" y="1894751"/>
            <a:ext cx="137160" cy="0"/>
          </a:xfrm>
          <a:prstGeom prst="line">
            <a:avLst/>
          </a:prstGeom>
          <a:ln w="10160">
            <a:solidFill>
              <a:srgbClr val="0F766E"/>
            </a:solidFill>
          </a:ln>
        </p:spPr>
      </p:cxnSp>
      <p:cxnSp>
        <p:nvCxnSpPr>
          <p:cNvPr id="32" name="Error cap"/>
          <p:cNvCxnSpPr/>
          <p:nvPr/>
        </p:nvCxnSpPr>
        <p:spPr>
          <a:xfrm>
            <a:off x="3526109" y="2094662"/>
            <a:ext cx="137160" cy="0"/>
          </a:xfrm>
          <a:prstGeom prst="line">
            <a:avLst/>
          </a:prstGeom>
          <a:ln w="10160">
            <a:solidFill>
              <a:srgbClr val="0F766E"/>
            </a:solidFill>
          </a:ln>
        </p:spPr>
      </p:cxnSp>
      <p:sp>
        <p:nvSpPr>
          <p:cNvPr id="33" name="Data point"/>
          <p:cNvSpPr/>
          <p:nvPr/>
        </p:nvSpPr>
        <p:spPr>
          <a:xfrm>
            <a:off x="3539825" y="1939842"/>
            <a:ext cx="109728" cy="109728"/>
          </a:xfrm>
          <a:prstGeom prst="ellipse">
            <a:avLst/>
          </a:prstGeom>
          <a:solidFill>
            <a:srgbClr val="0F766E"/>
          </a:solidFill>
          <a:ln w="444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34" name="Value label"/>
          <p:cNvSpPr txBox="1"/>
          <p:nvPr/>
        </p:nvSpPr>
        <p:spPr>
          <a:xfrm>
            <a:off x="3320369" y="1602143"/>
            <a:ext cx="548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30" b="0">
                <a:solidFill>
                  <a:srgbClr val="111827"/>
                </a:solidFill>
                <a:latin typeface="Arial"/>
              </a:rPr>
              <a:t>12.18</a:t>
            </a:r>
          </a:p>
          <a:p>
            <a:pPr algn="ctr"/>
            <a:r>
              <a:rPr sz="630" b="0">
                <a:solidFill>
                  <a:srgbClr val="111827"/>
                </a:solidFill>
                <a:latin typeface="Arial"/>
              </a:rPr>
              <a:t>+/- 0.11</a:t>
            </a:r>
          </a:p>
        </p:txBody>
      </p:sp>
      <p:sp>
        <p:nvSpPr>
          <p:cNvPr id="35" name="X label"/>
          <p:cNvSpPr txBox="1"/>
          <p:nvPr/>
        </p:nvSpPr>
        <p:spPr>
          <a:xfrm>
            <a:off x="3210641" y="2295144"/>
            <a:ext cx="76809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0">
                <a:solidFill>
                  <a:srgbClr val="111827"/>
                </a:solidFill>
                <a:latin typeface="Arial"/>
              </a:rPr>
              <a:t>decoupled</a:t>
            </a:r>
          </a:p>
        </p:txBody>
      </p:sp>
      <p:sp>
        <p:nvSpPr>
          <p:cNvPr id="36" name="Result callout"/>
          <p:cNvSpPr/>
          <p:nvPr/>
        </p:nvSpPr>
        <p:spPr>
          <a:xfrm>
            <a:off x="2734056" y="566928"/>
            <a:ext cx="1481328" cy="219456"/>
          </a:xfrm>
          <a:prstGeom prst="roundRect">
            <a:avLst/>
          </a:prstGeom>
          <a:solidFill>
            <a:srgbClr val="ECFDF5"/>
          </a:solidFill>
          <a:ln w="6985">
            <a:solidFill>
              <a:srgbClr val="99F6E4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80" b="1">
                <a:solidFill>
                  <a:srgbClr val="0F5132"/>
                </a:solidFill>
                <a:latin typeface="Arial"/>
              </a:rPr>
              <a:t>decoupled gain: -0.85 min</a:t>
            </a:r>
          </a:p>
        </p:txBody>
      </p:sp>
      <p:sp>
        <p:nvSpPr>
          <p:cNvPr id="37" name="Panel frame"/>
          <p:cNvSpPr/>
          <p:nvPr/>
        </p:nvSpPr>
        <p:spPr>
          <a:xfrm>
            <a:off x="4764024" y="182880"/>
            <a:ext cx="4059936" cy="250545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BD5E1"/>
            </a:solidFill>
          </a:ln>
        </p:spPr>
        <p:txBody>
          <a:bodyPr rtlCol="0" anchor="ctr"/>
          <a:lstStyle/>
          <a:p/>
        </p:txBody>
      </p:sp>
      <p:sp>
        <p:nvSpPr>
          <p:cNvPr id="38" name="Panel title"/>
          <p:cNvSpPr txBox="1"/>
          <p:nvPr/>
        </p:nvSpPr>
        <p:spPr>
          <a:xfrm>
            <a:off x="4873752" y="274320"/>
            <a:ext cx="38404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80" b="1">
                <a:solidFill>
                  <a:srgbClr val="111827"/>
                </a:solidFill>
                <a:latin typeface="Arial"/>
              </a:rPr>
              <a:t>B. MB140 Bern -&gt; Strasbourg (strict)</a:t>
            </a:r>
          </a:p>
        </p:txBody>
      </p:sp>
      <p:sp>
        <p:nvSpPr>
          <p:cNvPr id="39" name="Y label"/>
          <p:cNvSpPr txBox="1"/>
          <p:nvPr/>
        </p:nvSpPr>
        <p:spPr>
          <a:xfrm>
            <a:off x="5294376" y="521208"/>
            <a:ext cx="1243584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60" b="0">
                <a:solidFill>
                  <a:srgbClr val="4B5563"/>
                </a:solidFill>
                <a:latin typeface="Arial"/>
              </a:rPr>
              <a:t>MAE (min)</a:t>
            </a:r>
          </a:p>
        </p:txBody>
      </p:sp>
      <p:cxnSp>
        <p:nvCxnSpPr>
          <p:cNvPr id="40" name="Y gridline"/>
          <p:cNvCxnSpPr/>
          <p:nvPr/>
        </p:nvCxnSpPr>
        <p:spPr>
          <a:xfrm>
            <a:off x="5294376" y="2165444"/>
            <a:ext cx="3346704" cy="0"/>
          </a:xfrm>
          <a:prstGeom prst="line">
            <a:avLst/>
          </a:prstGeom>
          <a:ln w="5715">
            <a:solidFill>
              <a:srgbClr val="E5E7EB"/>
            </a:solidFill>
          </a:ln>
        </p:spPr>
      </p:cxnSp>
      <p:sp>
        <p:nvSpPr>
          <p:cNvPr id="41" name="Y tick"/>
          <p:cNvSpPr txBox="1"/>
          <p:nvPr/>
        </p:nvSpPr>
        <p:spPr>
          <a:xfrm>
            <a:off x="4873752" y="2110580"/>
            <a:ext cx="329184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20" b="0">
                <a:solidFill>
                  <a:srgbClr val="4B5563"/>
                </a:solidFill>
                <a:latin typeface="Arial"/>
              </a:rPr>
              <a:t>17</a:t>
            </a:r>
          </a:p>
        </p:txBody>
      </p:sp>
      <p:cxnSp>
        <p:nvCxnSpPr>
          <p:cNvPr id="42" name="Y gridline"/>
          <p:cNvCxnSpPr/>
          <p:nvPr/>
        </p:nvCxnSpPr>
        <p:spPr>
          <a:xfrm>
            <a:off x="5294376" y="1782839"/>
            <a:ext cx="3346704" cy="0"/>
          </a:xfrm>
          <a:prstGeom prst="line">
            <a:avLst/>
          </a:prstGeom>
          <a:ln w="5715">
            <a:solidFill>
              <a:srgbClr val="E5E7EB"/>
            </a:solidFill>
          </a:ln>
        </p:spPr>
      </p:cxnSp>
      <p:sp>
        <p:nvSpPr>
          <p:cNvPr id="43" name="Y tick"/>
          <p:cNvSpPr txBox="1"/>
          <p:nvPr/>
        </p:nvSpPr>
        <p:spPr>
          <a:xfrm>
            <a:off x="4873752" y="1727975"/>
            <a:ext cx="329184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20" b="0">
                <a:solidFill>
                  <a:srgbClr val="4B5563"/>
                </a:solidFill>
                <a:latin typeface="Arial"/>
              </a:rPr>
              <a:t>17.5</a:t>
            </a:r>
          </a:p>
        </p:txBody>
      </p:sp>
      <p:cxnSp>
        <p:nvCxnSpPr>
          <p:cNvPr id="44" name="Y gridline"/>
          <p:cNvCxnSpPr/>
          <p:nvPr/>
        </p:nvCxnSpPr>
        <p:spPr>
          <a:xfrm>
            <a:off x="5294376" y="1400235"/>
            <a:ext cx="3346704" cy="0"/>
          </a:xfrm>
          <a:prstGeom prst="line">
            <a:avLst/>
          </a:prstGeom>
          <a:ln w="5715">
            <a:solidFill>
              <a:srgbClr val="E5E7EB"/>
            </a:solidFill>
          </a:ln>
        </p:spPr>
      </p:cxnSp>
      <p:sp>
        <p:nvSpPr>
          <p:cNvPr id="45" name="Y tick"/>
          <p:cNvSpPr txBox="1"/>
          <p:nvPr/>
        </p:nvSpPr>
        <p:spPr>
          <a:xfrm>
            <a:off x="4873752" y="1345371"/>
            <a:ext cx="329184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20" b="0">
                <a:solidFill>
                  <a:srgbClr val="4B5563"/>
                </a:solidFill>
                <a:latin typeface="Arial"/>
              </a:rPr>
              <a:t>18</a:t>
            </a:r>
          </a:p>
        </p:txBody>
      </p:sp>
      <p:cxnSp>
        <p:nvCxnSpPr>
          <p:cNvPr id="46" name="Y gridline"/>
          <p:cNvCxnSpPr/>
          <p:nvPr/>
        </p:nvCxnSpPr>
        <p:spPr>
          <a:xfrm>
            <a:off x="5294376" y="1017631"/>
            <a:ext cx="3346704" cy="0"/>
          </a:xfrm>
          <a:prstGeom prst="line">
            <a:avLst/>
          </a:prstGeom>
          <a:ln w="5715">
            <a:solidFill>
              <a:srgbClr val="E5E7EB"/>
            </a:solidFill>
          </a:ln>
        </p:spPr>
      </p:cxnSp>
      <p:sp>
        <p:nvSpPr>
          <p:cNvPr id="47" name="Y tick"/>
          <p:cNvSpPr txBox="1"/>
          <p:nvPr/>
        </p:nvSpPr>
        <p:spPr>
          <a:xfrm>
            <a:off x="4873752" y="962767"/>
            <a:ext cx="329184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20" b="0">
                <a:solidFill>
                  <a:srgbClr val="4B5563"/>
                </a:solidFill>
                <a:latin typeface="Arial"/>
              </a:rPr>
              <a:t>18.5</a:t>
            </a:r>
          </a:p>
        </p:txBody>
      </p:sp>
      <p:cxnSp>
        <p:nvCxnSpPr>
          <p:cNvPr id="48" name="Y axis"/>
          <p:cNvCxnSpPr/>
          <p:nvPr/>
        </p:nvCxnSpPr>
        <p:spPr>
          <a:xfrm>
            <a:off x="5294376" y="749808"/>
            <a:ext cx="0" cy="1453896"/>
          </a:xfrm>
          <a:prstGeom prst="line">
            <a:avLst/>
          </a:prstGeom>
          <a:ln w="7620">
            <a:solidFill>
              <a:srgbClr val="374151"/>
            </a:solidFill>
          </a:ln>
        </p:spPr>
      </p:cxnSp>
      <p:cxnSp>
        <p:nvCxnSpPr>
          <p:cNvPr id="49" name="X axis"/>
          <p:cNvCxnSpPr/>
          <p:nvPr/>
        </p:nvCxnSpPr>
        <p:spPr>
          <a:xfrm>
            <a:off x="5294376" y="2203704"/>
            <a:ext cx="3346704" cy="0"/>
          </a:xfrm>
          <a:prstGeom prst="line">
            <a:avLst/>
          </a:prstGeom>
          <a:ln w="7620">
            <a:solidFill>
              <a:srgbClr val="374151"/>
            </a:solidFill>
          </a:ln>
        </p:spPr>
      </p:cxnSp>
      <p:cxnSp>
        <p:nvCxnSpPr>
          <p:cNvPr id="50" name="Mean connector"/>
          <p:cNvCxnSpPr/>
          <p:nvPr/>
        </p:nvCxnSpPr>
        <p:spPr>
          <a:xfrm>
            <a:off x="5896783" y="1553277"/>
            <a:ext cx="1070945" cy="68869"/>
          </a:xfrm>
          <a:prstGeom prst="line">
            <a:avLst/>
          </a:prstGeom>
          <a:ln w="9525">
            <a:solidFill>
              <a:srgbClr val="CBD5E1"/>
            </a:solidFill>
          </a:ln>
        </p:spPr>
      </p:cxnSp>
      <p:cxnSp>
        <p:nvCxnSpPr>
          <p:cNvPr id="51" name="Mean connector"/>
          <p:cNvCxnSpPr/>
          <p:nvPr/>
        </p:nvCxnSpPr>
        <p:spPr>
          <a:xfrm>
            <a:off x="6967728" y="1622146"/>
            <a:ext cx="1070945" cy="290779"/>
          </a:xfrm>
          <a:prstGeom prst="line">
            <a:avLst/>
          </a:prstGeom>
          <a:ln w="9525">
            <a:solidFill>
              <a:srgbClr val="CBD5E1"/>
            </a:solidFill>
          </a:ln>
        </p:spPr>
      </p:cxnSp>
      <p:cxnSp>
        <p:nvCxnSpPr>
          <p:cNvPr id="52" name="Error bar"/>
          <p:cNvCxnSpPr/>
          <p:nvPr/>
        </p:nvCxnSpPr>
        <p:spPr>
          <a:xfrm>
            <a:off x="5896783" y="1132412"/>
            <a:ext cx="0" cy="841729"/>
          </a:xfrm>
          <a:prstGeom prst="line">
            <a:avLst/>
          </a:prstGeom>
          <a:ln w="10160">
            <a:solidFill>
              <a:srgbClr val="6B7280"/>
            </a:solidFill>
          </a:ln>
        </p:spPr>
      </p:cxnSp>
      <p:cxnSp>
        <p:nvCxnSpPr>
          <p:cNvPr id="53" name="Error cap"/>
          <p:cNvCxnSpPr/>
          <p:nvPr/>
        </p:nvCxnSpPr>
        <p:spPr>
          <a:xfrm>
            <a:off x="5828203" y="1132412"/>
            <a:ext cx="137160" cy="0"/>
          </a:xfrm>
          <a:prstGeom prst="line">
            <a:avLst/>
          </a:prstGeom>
          <a:ln w="10160">
            <a:solidFill>
              <a:srgbClr val="6B7280"/>
            </a:solidFill>
          </a:ln>
        </p:spPr>
      </p:cxnSp>
      <p:cxnSp>
        <p:nvCxnSpPr>
          <p:cNvPr id="54" name="Error cap"/>
          <p:cNvCxnSpPr/>
          <p:nvPr/>
        </p:nvCxnSpPr>
        <p:spPr>
          <a:xfrm>
            <a:off x="5828203" y="1974141"/>
            <a:ext cx="137160" cy="0"/>
          </a:xfrm>
          <a:prstGeom prst="line">
            <a:avLst/>
          </a:prstGeom>
          <a:ln w="10160">
            <a:solidFill>
              <a:srgbClr val="6B7280"/>
            </a:solidFill>
          </a:ln>
        </p:spPr>
      </p:cxnSp>
      <p:sp>
        <p:nvSpPr>
          <p:cNvPr id="55" name="Data point"/>
          <p:cNvSpPr/>
          <p:nvPr/>
        </p:nvSpPr>
        <p:spPr>
          <a:xfrm>
            <a:off x="5841919" y="1498413"/>
            <a:ext cx="109728" cy="109728"/>
          </a:xfrm>
          <a:prstGeom prst="ellipse">
            <a:avLst/>
          </a:prstGeom>
          <a:solidFill>
            <a:srgbClr val="6B7280"/>
          </a:solidFill>
          <a:ln w="444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56" name="Value label"/>
          <p:cNvSpPr txBox="1"/>
          <p:nvPr/>
        </p:nvSpPr>
        <p:spPr>
          <a:xfrm>
            <a:off x="5622463" y="839804"/>
            <a:ext cx="548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30" b="0">
                <a:solidFill>
                  <a:srgbClr val="111827"/>
                </a:solidFill>
                <a:latin typeface="Arial"/>
              </a:rPr>
              <a:t>17.80</a:t>
            </a:r>
          </a:p>
          <a:p>
            <a:pPr algn="ctr"/>
            <a:r>
              <a:rPr sz="630" b="0">
                <a:solidFill>
                  <a:srgbClr val="111827"/>
                </a:solidFill>
                <a:latin typeface="Arial"/>
              </a:rPr>
              <a:t>+/- 0.55</a:t>
            </a:r>
          </a:p>
        </p:txBody>
      </p:sp>
      <p:sp>
        <p:nvSpPr>
          <p:cNvPr id="57" name="X label"/>
          <p:cNvSpPr txBox="1"/>
          <p:nvPr/>
        </p:nvSpPr>
        <p:spPr>
          <a:xfrm>
            <a:off x="5512735" y="2295144"/>
            <a:ext cx="76809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0">
                <a:solidFill>
                  <a:srgbClr val="111827"/>
                </a:solidFill>
                <a:latin typeface="Arial"/>
              </a:rPr>
              <a:t>no token</a:t>
            </a:r>
          </a:p>
        </p:txBody>
      </p:sp>
      <p:cxnSp>
        <p:nvCxnSpPr>
          <p:cNvPr id="58" name="Error bar"/>
          <p:cNvCxnSpPr/>
          <p:nvPr/>
        </p:nvCxnSpPr>
        <p:spPr>
          <a:xfrm>
            <a:off x="6967728" y="1446148"/>
            <a:ext cx="0" cy="351996"/>
          </a:xfrm>
          <a:prstGeom prst="line">
            <a:avLst/>
          </a:prstGeom>
          <a:ln w="10160">
            <a:solidFill>
              <a:srgbClr val="2563EB"/>
            </a:solidFill>
          </a:ln>
        </p:spPr>
      </p:cxnSp>
      <p:cxnSp>
        <p:nvCxnSpPr>
          <p:cNvPr id="59" name="Error cap"/>
          <p:cNvCxnSpPr/>
          <p:nvPr/>
        </p:nvCxnSpPr>
        <p:spPr>
          <a:xfrm>
            <a:off x="6899148" y="1446148"/>
            <a:ext cx="137160" cy="0"/>
          </a:xfrm>
          <a:prstGeom prst="line">
            <a:avLst/>
          </a:prstGeom>
          <a:ln w="10160">
            <a:solidFill>
              <a:srgbClr val="2563EB"/>
            </a:solidFill>
          </a:ln>
        </p:spPr>
      </p:cxnSp>
      <p:cxnSp>
        <p:nvCxnSpPr>
          <p:cNvPr id="60" name="Error cap"/>
          <p:cNvCxnSpPr/>
          <p:nvPr/>
        </p:nvCxnSpPr>
        <p:spPr>
          <a:xfrm>
            <a:off x="6899148" y="1798144"/>
            <a:ext cx="137160" cy="0"/>
          </a:xfrm>
          <a:prstGeom prst="line">
            <a:avLst/>
          </a:prstGeom>
          <a:ln w="10160">
            <a:solidFill>
              <a:srgbClr val="2563EB"/>
            </a:solidFill>
          </a:ln>
        </p:spPr>
      </p:cxnSp>
      <p:sp>
        <p:nvSpPr>
          <p:cNvPr id="61" name="Data point"/>
          <p:cNvSpPr/>
          <p:nvPr/>
        </p:nvSpPr>
        <p:spPr>
          <a:xfrm>
            <a:off x="6912864" y="1567282"/>
            <a:ext cx="109728" cy="109728"/>
          </a:xfrm>
          <a:prstGeom prst="ellipse">
            <a:avLst/>
          </a:prstGeom>
          <a:solidFill>
            <a:srgbClr val="2563EB"/>
          </a:solidFill>
          <a:ln w="444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62" name="Value label"/>
          <p:cNvSpPr txBox="1"/>
          <p:nvPr/>
        </p:nvSpPr>
        <p:spPr>
          <a:xfrm>
            <a:off x="6693408" y="1153540"/>
            <a:ext cx="548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30" b="0">
                <a:solidFill>
                  <a:srgbClr val="111827"/>
                </a:solidFill>
                <a:latin typeface="Arial"/>
              </a:rPr>
              <a:t>17.71</a:t>
            </a:r>
          </a:p>
          <a:p>
            <a:pPr algn="ctr"/>
            <a:r>
              <a:rPr sz="630" b="0">
                <a:solidFill>
                  <a:srgbClr val="111827"/>
                </a:solidFill>
                <a:latin typeface="Arial"/>
              </a:rPr>
              <a:t>+/- 0.23</a:t>
            </a:r>
          </a:p>
        </p:txBody>
      </p:sp>
      <p:sp>
        <p:nvSpPr>
          <p:cNvPr id="63" name="X label"/>
          <p:cNvSpPr txBox="1"/>
          <p:nvPr/>
        </p:nvSpPr>
        <p:spPr>
          <a:xfrm>
            <a:off x="6583680" y="2295144"/>
            <a:ext cx="76809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0">
                <a:solidFill>
                  <a:srgbClr val="111827"/>
                </a:solidFill>
                <a:latin typeface="Arial"/>
              </a:rPr>
              <a:t>oracle</a:t>
            </a:r>
          </a:p>
        </p:txBody>
      </p:sp>
      <p:cxnSp>
        <p:nvCxnSpPr>
          <p:cNvPr id="64" name="Error bar"/>
          <p:cNvCxnSpPr/>
          <p:nvPr/>
        </p:nvCxnSpPr>
        <p:spPr>
          <a:xfrm>
            <a:off x="8038673" y="1798144"/>
            <a:ext cx="0" cy="229563"/>
          </a:xfrm>
          <a:prstGeom prst="line">
            <a:avLst/>
          </a:prstGeom>
          <a:ln w="10160">
            <a:solidFill>
              <a:srgbClr val="0F766E"/>
            </a:solidFill>
          </a:ln>
        </p:spPr>
      </p:cxnSp>
      <p:cxnSp>
        <p:nvCxnSpPr>
          <p:cNvPr id="65" name="Error cap"/>
          <p:cNvCxnSpPr/>
          <p:nvPr/>
        </p:nvCxnSpPr>
        <p:spPr>
          <a:xfrm>
            <a:off x="7970093" y="1798144"/>
            <a:ext cx="137160" cy="0"/>
          </a:xfrm>
          <a:prstGeom prst="line">
            <a:avLst/>
          </a:prstGeom>
          <a:ln w="10160">
            <a:solidFill>
              <a:srgbClr val="0F766E"/>
            </a:solidFill>
          </a:ln>
        </p:spPr>
      </p:cxnSp>
      <p:cxnSp>
        <p:nvCxnSpPr>
          <p:cNvPr id="66" name="Error cap"/>
          <p:cNvCxnSpPr/>
          <p:nvPr/>
        </p:nvCxnSpPr>
        <p:spPr>
          <a:xfrm>
            <a:off x="7970093" y="2027706"/>
            <a:ext cx="137160" cy="0"/>
          </a:xfrm>
          <a:prstGeom prst="line">
            <a:avLst/>
          </a:prstGeom>
          <a:ln w="10160">
            <a:solidFill>
              <a:srgbClr val="0F766E"/>
            </a:solidFill>
          </a:ln>
        </p:spPr>
      </p:cxnSp>
      <p:sp>
        <p:nvSpPr>
          <p:cNvPr id="67" name="Data point"/>
          <p:cNvSpPr/>
          <p:nvPr/>
        </p:nvSpPr>
        <p:spPr>
          <a:xfrm>
            <a:off x="7983809" y="1858061"/>
            <a:ext cx="109728" cy="109728"/>
          </a:xfrm>
          <a:prstGeom prst="ellipse">
            <a:avLst/>
          </a:prstGeom>
          <a:solidFill>
            <a:srgbClr val="0F766E"/>
          </a:solidFill>
          <a:ln w="444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68" name="Value label"/>
          <p:cNvSpPr txBox="1"/>
          <p:nvPr/>
        </p:nvSpPr>
        <p:spPr>
          <a:xfrm>
            <a:off x="7764353" y="1505536"/>
            <a:ext cx="548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30" b="0">
                <a:solidFill>
                  <a:srgbClr val="111827"/>
                </a:solidFill>
                <a:latin typeface="Arial"/>
              </a:rPr>
              <a:t>17.33</a:t>
            </a:r>
          </a:p>
          <a:p>
            <a:pPr algn="ctr"/>
            <a:r>
              <a:rPr sz="630" b="0">
                <a:solidFill>
                  <a:srgbClr val="111827"/>
                </a:solidFill>
                <a:latin typeface="Arial"/>
              </a:rPr>
              <a:t>+/- 0.15</a:t>
            </a:r>
          </a:p>
        </p:txBody>
      </p:sp>
      <p:sp>
        <p:nvSpPr>
          <p:cNvPr id="69" name="X label"/>
          <p:cNvSpPr txBox="1"/>
          <p:nvPr/>
        </p:nvSpPr>
        <p:spPr>
          <a:xfrm>
            <a:off x="7654625" y="2295144"/>
            <a:ext cx="76809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0">
                <a:solidFill>
                  <a:srgbClr val="111827"/>
                </a:solidFill>
                <a:latin typeface="Arial"/>
              </a:rPr>
              <a:t>decoupled</a:t>
            </a:r>
          </a:p>
        </p:txBody>
      </p:sp>
      <p:sp>
        <p:nvSpPr>
          <p:cNvPr id="70" name="Result callout"/>
          <p:cNvSpPr/>
          <p:nvPr/>
        </p:nvSpPr>
        <p:spPr>
          <a:xfrm>
            <a:off x="7178040" y="566928"/>
            <a:ext cx="1481328" cy="219456"/>
          </a:xfrm>
          <a:prstGeom prst="roundRect">
            <a:avLst/>
          </a:prstGeom>
          <a:solidFill>
            <a:srgbClr val="ECFDF5"/>
          </a:solidFill>
          <a:ln w="6985">
            <a:solidFill>
              <a:srgbClr val="99F6E4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80" b="1">
                <a:solidFill>
                  <a:srgbClr val="0F5132"/>
                </a:solidFill>
                <a:latin typeface="Arial"/>
              </a:rPr>
              <a:t>decoupled gain: -0.47 min</a:t>
            </a:r>
          </a:p>
        </p:txBody>
      </p:sp>
      <p:sp>
        <p:nvSpPr>
          <p:cNvPr id="71" name="Panel frame"/>
          <p:cNvSpPr/>
          <p:nvPr/>
        </p:nvSpPr>
        <p:spPr>
          <a:xfrm>
            <a:off x="320040" y="3108960"/>
            <a:ext cx="4059936" cy="250545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BD5E1"/>
            </a:solidFill>
          </a:ln>
        </p:spPr>
        <p:txBody>
          <a:bodyPr rtlCol="0" anchor="ctr"/>
          <a:lstStyle/>
          <a:p/>
        </p:txBody>
      </p:sp>
      <p:sp>
        <p:nvSpPr>
          <p:cNvPr id="72" name="Panel title"/>
          <p:cNvSpPr txBox="1"/>
          <p:nvPr/>
        </p:nvSpPr>
        <p:spPr>
          <a:xfrm>
            <a:off x="429768" y="3200400"/>
            <a:ext cx="38404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80" b="1">
                <a:solidFill>
                  <a:srgbClr val="111827"/>
                </a:solidFill>
                <a:latin typeface="Arial"/>
              </a:rPr>
              <a:t>C. Cholec80 contrast</a:t>
            </a:r>
          </a:p>
        </p:txBody>
      </p:sp>
      <p:sp>
        <p:nvSpPr>
          <p:cNvPr id="73" name="Y label"/>
          <p:cNvSpPr txBox="1"/>
          <p:nvPr/>
        </p:nvSpPr>
        <p:spPr>
          <a:xfrm>
            <a:off x="850392" y="3447288"/>
            <a:ext cx="1243584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60" b="0">
                <a:solidFill>
                  <a:srgbClr val="4B5563"/>
                </a:solidFill>
                <a:latin typeface="Arial"/>
              </a:rPr>
              <a:t>MAE (min)</a:t>
            </a:r>
          </a:p>
        </p:txBody>
      </p:sp>
      <p:cxnSp>
        <p:nvCxnSpPr>
          <p:cNvPr id="74" name="Y gridline"/>
          <p:cNvCxnSpPr/>
          <p:nvPr/>
        </p:nvCxnSpPr>
        <p:spPr>
          <a:xfrm>
            <a:off x="850392" y="4997612"/>
            <a:ext cx="3346704" cy="0"/>
          </a:xfrm>
          <a:prstGeom prst="line">
            <a:avLst/>
          </a:prstGeom>
          <a:ln w="5715">
            <a:solidFill>
              <a:srgbClr val="E5E7EB"/>
            </a:solidFill>
          </a:ln>
        </p:spPr>
      </p:cxnSp>
      <p:sp>
        <p:nvSpPr>
          <p:cNvPr id="75" name="Y tick"/>
          <p:cNvSpPr txBox="1"/>
          <p:nvPr/>
        </p:nvSpPr>
        <p:spPr>
          <a:xfrm>
            <a:off x="429768" y="4942748"/>
            <a:ext cx="329184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20" b="0">
                <a:solidFill>
                  <a:srgbClr val="4B5563"/>
                </a:solidFill>
                <a:latin typeface="Arial"/>
              </a:rPr>
              <a:t>4.2</a:t>
            </a:r>
          </a:p>
        </p:txBody>
      </p:sp>
      <p:cxnSp>
        <p:nvCxnSpPr>
          <p:cNvPr id="76" name="Y gridline"/>
          <p:cNvCxnSpPr/>
          <p:nvPr/>
        </p:nvCxnSpPr>
        <p:spPr>
          <a:xfrm>
            <a:off x="850392" y="4468922"/>
            <a:ext cx="3346704" cy="0"/>
          </a:xfrm>
          <a:prstGeom prst="line">
            <a:avLst/>
          </a:prstGeom>
          <a:ln w="5715">
            <a:solidFill>
              <a:srgbClr val="E5E7EB"/>
            </a:solidFill>
          </a:ln>
        </p:spPr>
      </p:cxnSp>
      <p:sp>
        <p:nvSpPr>
          <p:cNvPr id="77" name="Y tick"/>
          <p:cNvSpPr txBox="1"/>
          <p:nvPr/>
        </p:nvSpPr>
        <p:spPr>
          <a:xfrm>
            <a:off x="429768" y="4414058"/>
            <a:ext cx="329184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20" b="0">
                <a:solidFill>
                  <a:srgbClr val="4B5563"/>
                </a:solidFill>
                <a:latin typeface="Arial"/>
              </a:rPr>
              <a:t>4.6</a:t>
            </a:r>
          </a:p>
        </p:txBody>
      </p:sp>
      <p:cxnSp>
        <p:nvCxnSpPr>
          <p:cNvPr id="78" name="Y gridline"/>
          <p:cNvCxnSpPr/>
          <p:nvPr/>
        </p:nvCxnSpPr>
        <p:spPr>
          <a:xfrm>
            <a:off x="850392" y="3940233"/>
            <a:ext cx="3346704" cy="0"/>
          </a:xfrm>
          <a:prstGeom prst="line">
            <a:avLst/>
          </a:prstGeom>
          <a:ln w="5715">
            <a:solidFill>
              <a:srgbClr val="E5E7EB"/>
            </a:solidFill>
          </a:ln>
        </p:spPr>
      </p:cxnSp>
      <p:sp>
        <p:nvSpPr>
          <p:cNvPr id="79" name="Y tick"/>
          <p:cNvSpPr txBox="1"/>
          <p:nvPr/>
        </p:nvSpPr>
        <p:spPr>
          <a:xfrm>
            <a:off x="429768" y="3885369"/>
            <a:ext cx="329184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20" b="0">
                <a:solidFill>
                  <a:srgbClr val="4B5563"/>
                </a:solidFill>
                <a:latin typeface="Arial"/>
              </a:rPr>
              <a:t>5</a:t>
            </a:r>
          </a:p>
        </p:txBody>
      </p:sp>
      <p:cxnSp>
        <p:nvCxnSpPr>
          <p:cNvPr id="80" name="Y axis"/>
          <p:cNvCxnSpPr/>
          <p:nvPr/>
        </p:nvCxnSpPr>
        <p:spPr>
          <a:xfrm>
            <a:off x="850392" y="3675888"/>
            <a:ext cx="0" cy="1453896"/>
          </a:xfrm>
          <a:prstGeom prst="line">
            <a:avLst/>
          </a:prstGeom>
          <a:ln w="7620">
            <a:solidFill>
              <a:srgbClr val="374151"/>
            </a:solidFill>
          </a:ln>
        </p:spPr>
      </p:cxnSp>
      <p:cxnSp>
        <p:nvCxnSpPr>
          <p:cNvPr id="81" name="X axis"/>
          <p:cNvCxnSpPr/>
          <p:nvPr/>
        </p:nvCxnSpPr>
        <p:spPr>
          <a:xfrm>
            <a:off x="850392" y="5129784"/>
            <a:ext cx="3346704" cy="0"/>
          </a:xfrm>
          <a:prstGeom prst="line">
            <a:avLst/>
          </a:prstGeom>
          <a:ln w="7620">
            <a:solidFill>
              <a:srgbClr val="374151"/>
            </a:solidFill>
          </a:ln>
        </p:spPr>
      </p:cxnSp>
      <p:sp>
        <p:nvSpPr>
          <p:cNvPr id="82" name="Data point"/>
          <p:cNvSpPr/>
          <p:nvPr/>
        </p:nvSpPr>
        <p:spPr>
          <a:xfrm>
            <a:off x="1737360" y="3461004"/>
            <a:ext cx="91440" cy="91440"/>
          </a:xfrm>
          <a:prstGeom prst="ellipse">
            <a:avLst/>
          </a:prstGeom>
          <a:solidFill>
            <a:srgbClr val="2563EB"/>
          </a:solidFill>
          <a:ln w="444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83" name="Legend label"/>
          <p:cNvSpPr txBox="1"/>
          <p:nvPr/>
        </p:nvSpPr>
        <p:spPr>
          <a:xfrm>
            <a:off x="1856232" y="3456432"/>
            <a:ext cx="566928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90" b="0">
                <a:solidFill>
                  <a:srgbClr val="111827"/>
                </a:solidFill>
                <a:latin typeface="Arial"/>
              </a:rPr>
              <a:t>oracle</a:t>
            </a:r>
          </a:p>
        </p:txBody>
      </p:sp>
      <p:sp>
        <p:nvSpPr>
          <p:cNvPr id="84" name="Data point"/>
          <p:cNvSpPr/>
          <p:nvPr/>
        </p:nvSpPr>
        <p:spPr>
          <a:xfrm>
            <a:off x="2359152" y="3461004"/>
            <a:ext cx="91440" cy="91440"/>
          </a:xfrm>
          <a:prstGeom prst="ellipse">
            <a:avLst/>
          </a:prstGeom>
          <a:solidFill>
            <a:srgbClr val="6B7280"/>
          </a:solidFill>
          <a:ln w="444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85" name="Legend label"/>
          <p:cNvSpPr txBox="1"/>
          <p:nvPr/>
        </p:nvSpPr>
        <p:spPr>
          <a:xfrm>
            <a:off x="2478024" y="3456432"/>
            <a:ext cx="566928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90" b="0">
                <a:solidFill>
                  <a:srgbClr val="111827"/>
                </a:solidFill>
                <a:latin typeface="Arial"/>
              </a:rPr>
              <a:t>no token</a:t>
            </a:r>
          </a:p>
        </p:txBody>
      </p:sp>
      <p:sp>
        <p:nvSpPr>
          <p:cNvPr id="86" name="Data point"/>
          <p:cNvSpPr/>
          <p:nvPr/>
        </p:nvSpPr>
        <p:spPr>
          <a:xfrm>
            <a:off x="3063240" y="3461004"/>
            <a:ext cx="91440" cy="91440"/>
          </a:xfrm>
          <a:prstGeom prst="ellipse">
            <a:avLst/>
          </a:prstGeom>
          <a:solidFill>
            <a:srgbClr val="D97706"/>
          </a:solidFill>
          <a:ln w="444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87" name="Legend label"/>
          <p:cNvSpPr txBox="1"/>
          <p:nvPr/>
        </p:nvSpPr>
        <p:spPr>
          <a:xfrm>
            <a:off x="3182112" y="3456432"/>
            <a:ext cx="566928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90" b="0">
                <a:solidFill>
                  <a:srgbClr val="111827"/>
                </a:solidFill>
                <a:latin typeface="Arial"/>
              </a:rPr>
              <a:t>prefix</a:t>
            </a:r>
          </a:p>
        </p:txBody>
      </p:sp>
      <p:cxnSp>
        <p:nvCxnSpPr>
          <p:cNvPr id="88" name="Error bar"/>
          <p:cNvCxnSpPr/>
          <p:nvPr/>
        </p:nvCxnSpPr>
        <p:spPr>
          <a:xfrm>
            <a:off x="1644091" y="4429270"/>
            <a:ext cx="0" cy="370083"/>
          </a:xfrm>
          <a:prstGeom prst="line">
            <a:avLst/>
          </a:prstGeom>
          <a:ln w="10160">
            <a:solidFill>
              <a:srgbClr val="2563EB"/>
            </a:solidFill>
          </a:ln>
        </p:spPr>
      </p:cxnSp>
      <p:cxnSp>
        <p:nvCxnSpPr>
          <p:cNvPr id="89" name="Error cap"/>
          <p:cNvCxnSpPr/>
          <p:nvPr/>
        </p:nvCxnSpPr>
        <p:spPr>
          <a:xfrm>
            <a:off x="1575511" y="4429270"/>
            <a:ext cx="137160" cy="0"/>
          </a:xfrm>
          <a:prstGeom prst="line">
            <a:avLst/>
          </a:prstGeom>
          <a:ln w="10160">
            <a:solidFill>
              <a:srgbClr val="2563EB"/>
            </a:solidFill>
          </a:ln>
        </p:spPr>
      </p:cxnSp>
      <p:cxnSp>
        <p:nvCxnSpPr>
          <p:cNvPr id="90" name="Error cap"/>
          <p:cNvCxnSpPr/>
          <p:nvPr/>
        </p:nvCxnSpPr>
        <p:spPr>
          <a:xfrm>
            <a:off x="1575511" y="4799353"/>
            <a:ext cx="137160" cy="0"/>
          </a:xfrm>
          <a:prstGeom prst="line">
            <a:avLst/>
          </a:prstGeom>
          <a:ln w="10160">
            <a:solidFill>
              <a:srgbClr val="2563EB"/>
            </a:solidFill>
          </a:ln>
        </p:spPr>
      </p:cxnSp>
      <p:sp>
        <p:nvSpPr>
          <p:cNvPr id="91" name="Data point"/>
          <p:cNvSpPr/>
          <p:nvPr/>
        </p:nvSpPr>
        <p:spPr>
          <a:xfrm>
            <a:off x="1593799" y="4564020"/>
            <a:ext cx="100584" cy="100584"/>
          </a:xfrm>
          <a:prstGeom prst="ellipse">
            <a:avLst/>
          </a:prstGeom>
          <a:solidFill>
            <a:srgbClr val="2563EB"/>
          </a:solidFill>
          <a:ln w="444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92" name="Data point"/>
          <p:cNvSpPr/>
          <p:nvPr/>
        </p:nvSpPr>
        <p:spPr>
          <a:xfrm>
            <a:off x="2999415" y="4775496"/>
            <a:ext cx="100584" cy="100584"/>
          </a:xfrm>
          <a:prstGeom prst="ellipse">
            <a:avLst/>
          </a:prstGeom>
          <a:solidFill>
            <a:srgbClr val="2563EB"/>
          </a:solidFill>
          <a:ln w="444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cxnSp>
        <p:nvCxnSpPr>
          <p:cNvPr id="93" name="Condition connector"/>
          <p:cNvCxnSpPr/>
          <p:nvPr/>
        </p:nvCxnSpPr>
        <p:spPr>
          <a:xfrm>
            <a:off x="1644091" y="4614312"/>
            <a:ext cx="1405616" cy="211476"/>
          </a:xfrm>
          <a:prstGeom prst="line">
            <a:avLst/>
          </a:prstGeom>
          <a:ln w="6985">
            <a:solidFill>
              <a:srgbClr val="2563EB"/>
            </a:solidFill>
          </a:ln>
        </p:spPr>
      </p:cxnSp>
      <p:sp>
        <p:nvSpPr>
          <p:cNvPr id="94" name="Cholec centered value"/>
          <p:cNvSpPr txBox="1"/>
          <p:nvPr/>
        </p:nvSpPr>
        <p:spPr>
          <a:xfrm>
            <a:off x="1406347" y="4200670"/>
            <a:ext cx="47548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0">
                <a:solidFill>
                  <a:srgbClr val="111827"/>
                </a:solidFill>
                <a:latin typeface="Arial"/>
              </a:rPr>
              <a:t>4.49</a:t>
            </a:r>
          </a:p>
          <a:p>
            <a:pPr algn="ctr"/>
            <a:r>
              <a:rPr sz="550" b="0">
                <a:solidFill>
                  <a:srgbClr val="111827"/>
                </a:solidFill>
                <a:latin typeface="Arial"/>
              </a:rPr>
              <a:t>+/- 0.14</a:t>
            </a:r>
          </a:p>
        </p:txBody>
      </p:sp>
      <p:sp>
        <p:nvSpPr>
          <p:cNvPr id="95" name="Cholec strict value"/>
          <p:cNvSpPr txBox="1"/>
          <p:nvPr/>
        </p:nvSpPr>
        <p:spPr>
          <a:xfrm>
            <a:off x="2885115" y="4551468"/>
            <a:ext cx="329184" cy="100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0">
                <a:solidFill>
                  <a:srgbClr val="111827"/>
                </a:solidFill>
                <a:latin typeface="Arial"/>
              </a:rPr>
              <a:t>4.33</a:t>
            </a:r>
          </a:p>
        </p:txBody>
      </p:sp>
      <p:cxnSp>
        <p:nvCxnSpPr>
          <p:cNvPr id="96" name="Error bar"/>
          <p:cNvCxnSpPr/>
          <p:nvPr/>
        </p:nvCxnSpPr>
        <p:spPr>
          <a:xfrm>
            <a:off x="1854403" y="4204577"/>
            <a:ext cx="0" cy="502255"/>
          </a:xfrm>
          <a:prstGeom prst="line">
            <a:avLst/>
          </a:prstGeom>
          <a:ln w="10160">
            <a:solidFill>
              <a:srgbClr val="6B7280"/>
            </a:solidFill>
          </a:ln>
        </p:spPr>
      </p:cxnSp>
      <p:cxnSp>
        <p:nvCxnSpPr>
          <p:cNvPr id="97" name="Error cap"/>
          <p:cNvCxnSpPr/>
          <p:nvPr/>
        </p:nvCxnSpPr>
        <p:spPr>
          <a:xfrm>
            <a:off x="1785823" y="4204577"/>
            <a:ext cx="137160" cy="0"/>
          </a:xfrm>
          <a:prstGeom prst="line">
            <a:avLst/>
          </a:prstGeom>
          <a:ln w="10160">
            <a:solidFill>
              <a:srgbClr val="6B7280"/>
            </a:solidFill>
          </a:ln>
        </p:spPr>
      </p:cxnSp>
      <p:cxnSp>
        <p:nvCxnSpPr>
          <p:cNvPr id="98" name="Error cap"/>
          <p:cNvCxnSpPr/>
          <p:nvPr/>
        </p:nvCxnSpPr>
        <p:spPr>
          <a:xfrm>
            <a:off x="1785823" y="4706832"/>
            <a:ext cx="137160" cy="0"/>
          </a:xfrm>
          <a:prstGeom prst="line">
            <a:avLst/>
          </a:prstGeom>
          <a:ln w="10160">
            <a:solidFill>
              <a:srgbClr val="6B7280"/>
            </a:solidFill>
          </a:ln>
        </p:spPr>
      </p:cxnSp>
      <p:sp>
        <p:nvSpPr>
          <p:cNvPr id="99" name="Data point"/>
          <p:cNvSpPr/>
          <p:nvPr/>
        </p:nvSpPr>
        <p:spPr>
          <a:xfrm>
            <a:off x="1804111" y="4405413"/>
            <a:ext cx="100584" cy="100584"/>
          </a:xfrm>
          <a:prstGeom prst="ellipse">
            <a:avLst/>
          </a:prstGeom>
          <a:solidFill>
            <a:srgbClr val="6B7280"/>
          </a:solidFill>
          <a:ln w="444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100" name="Data point"/>
          <p:cNvSpPr/>
          <p:nvPr/>
        </p:nvSpPr>
        <p:spPr>
          <a:xfrm>
            <a:off x="3209727" y="4762278"/>
            <a:ext cx="100584" cy="100584"/>
          </a:xfrm>
          <a:prstGeom prst="ellipse">
            <a:avLst/>
          </a:prstGeom>
          <a:solidFill>
            <a:srgbClr val="6B7280"/>
          </a:solidFill>
          <a:ln w="444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cxnSp>
        <p:nvCxnSpPr>
          <p:cNvPr id="101" name="Condition connector"/>
          <p:cNvCxnSpPr/>
          <p:nvPr/>
        </p:nvCxnSpPr>
        <p:spPr>
          <a:xfrm>
            <a:off x="1854403" y="4455705"/>
            <a:ext cx="1405616" cy="356865"/>
          </a:xfrm>
          <a:prstGeom prst="line">
            <a:avLst/>
          </a:prstGeom>
          <a:ln w="6985">
            <a:solidFill>
              <a:srgbClr val="6B7280"/>
            </a:solidFill>
          </a:ln>
        </p:spPr>
      </p:cxnSp>
      <p:sp>
        <p:nvSpPr>
          <p:cNvPr id="102" name="Cholec centered value"/>
          <p:cNvSpPr txBox="1"/>
          <p:nvPr/>
        </p:nvSpPr>
        <p:spPr>
          <a:xfrm>
            <a:off x="1616659" y="3975977"/>
            <a:ext cx="47548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0">
                <a:solidFill>
                  <a:srgbClr val="111827"/>
                </a:solidFill>
                <a:latin typeface="Arial"/>
              </a:rPr>
              <a:t>4.61</a:t>
            </a:r>
          </a:p>
          <a:p>
            <a:pPr algn="ctr"/>
            <a:r>
              <a:rPr sz="550" b="0">
                <a:solidFill>
                  <a:srgbClr val="111827"/>
                </a:solidFill>
                <a:latin typeface="Arial"/>
              </a:rPr>
              <a:t>+/- 0.19</a:t>
            </a:r>
          </a:p>
        </p:txBody>
      </p:sp>
      <p:sp>
        <p:nvSpPr>
          <p:cNvPr id="103" name="Cholec strict value"/>
          <p:cNvSpPr txBox="1"/>
          <p:nvPr/>
        </p:nvSpPr>
        <p:spPr>
          <a:xfrm>
            <a:off x="3095427" y="4693698"/>
            <a:ext cx="329184" cy="100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0">
                <a:solidFill>
                  <a:srgbClr val="111827"/>
                </a:solidFill>
                <a:latin typeface="Arial"/>
              </a:rPr>
              <a:t>4.34</a:t>
            </a:r>
          </a:p>
        </p:txBody>
      </p:sp>
      <p:cxnSp>
        <p:nvCxnSpPr>
          <p:cNvPr id="104" name="Error bar"/>
          <p:cNvCxnSpPr/>
          <p:nvPr/>
        </p:nvCxnSpPr>
        <p:spPr>
          <a:xfrm>
            <a:off x="2064715" y="3808060"/>
            <a:ext cx="0" cy="185041"/>
          </a:xfrm>
          <a:prstGeom prst="line">
            <a:avLst/>
          </a:prstGeom>
          <a:ln w="10160">
            <a:solidFill>
              <a:srgbClr val="D97706"/>
            </a:solidFill>
          </a:ln>
        </p:spPr>
      </p:cxnSp>
      <p:cxnSp>
        <p:nvCxnSpPr>
          <p:cNvPr id="105" name="Error cap"/>
          <p:cNvCxnSpPr/>
          <p:nvPr/>
        </p:nvCxnSpPr>
        <p:spPr>
          <a:xfrm>
            <a:off x="1996135" y="3808060"/>
            <a:ext cx="137160" cy="0"/>
          </a:xfrm>
          <a:prstGeom prst="line">
            <a:avLst/>
          </a:prstGeom>
          <a:ln w="10160">
            <a:solidFill>
              <a:srgbClr val="D97706"/>
            </a:solidFill>
          </a:ln>
        </p:spPr>
      </p:cxnSp>
      <p:cxnSp>
        <p:nvCxnSpPr>
          <p:cNvPr id="106" name="Error cap"/>
          <p:cNvCxnSpPr/>
          <p:nvPr/>
        </p:nvCxnSpPr>
        <p:spPr>
          <a:xfrm>
            <a:off x="1996135" y="3993102"/>
            <a:ext cx="137160" cy="0"/>
          </a:xfrm>
          <a:prstGeom prst="line">
            <a:avLst/>
          </a:prstGeom>
          <a:ln w="10160">
            <a:solidFill>
              <a:srgbClr val="D97706"/>
            </a:solidFill>
          </a:ln>
        </p:spPr>
      </p:cxnSp>
      <p:sp>
        <p:nvSpPr>
          <p:cNvPr id="107" name="Data point"/>
          <p:cNvSpPr/>
          <p:nvPr/>
        </p:nvSpPr>
        <p:spPr>
          <a:xfrm>
            <a:off x="2014423" y="3850289"/>
            <a:ext cx="100584" cy="100584"/>
          </a:xfrm>
          <a:prstGeom prst="ellipse">
            <a:avLst/>
          </a:prstGeom>
          <a:solidFill>
            <a:srgbClr val="D97706"/>
          </a:solidFill>
          <a:ln w="444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108" name="Data point"/>
          <p:cNvSpPr/>
          <p:nvPr/>
        </p:nvSpPr>
        <p:spPr>
          <a:xfrm>
            <a:off x="3420039" y="4868016"/>
            <a:ext cx="100584" cy="100584"/>
          </a:xfrm>
          <a:prstGeom prst="ellipse">
            <a:avLst/>
          </a:prstGeom>
          <a:solidFill>
            <a:srgbClr val="D97706"/>
          </a:solidFill>
          <a:ln w="444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cxnSp>
        <p:nvCxnSpPr>
          <p:cNvPr id="109" name="Condition connector"/>
          <p:cNvCxnSpPr/>
          <p:nvPr/>
        </p:nvCxnSpPr>
        <p:spPr>
          <a:xfrm>
            <a:off x="2064715" y="3900581"/>
            <a:ext cx="1405616" cy="1017727"/>
          </a:xfrm>
          <a:prstGeom prst="line">
            <a:avLst/>
          </a:prstGeom>
          <a:ln w="6985">
            <a:solidFill>
              <a:srgbClr val="D97706"/>
            </a:solidFill>
          </a:ln>
        </p:spPr>
      </p:cxnSp>
      <p:sp>
        <p:nvSpPr>
          <p:cNvPr id="110" name="Cholec centered value"/>
          <p:cNvSpPr txBox="1"/>
          <p:nvPr/>
        </p:nvSpPr>
        <p:spPr>
          <a:xfrm>
            <a:off x="1826971" y="3630168"/>
            <a:ext cx="47548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0">
                <a:solidFill>
                  <a:srgbClr val="111827"/>
                </a:solidFill>
                <a:latin typeface="Arial"/>
              </a:rPr>
              <a:t>5.03</a:t>
            </a:r>
          </a:p>
          <a:p>
            <a:pPr algn="ctr"/>
            <a:r>
              <a:rPr sz="550" b="0">
                <a:solidFill>
                  <a:srgbClr val="111827"/>
                </a:solidFill>
                <a:latin typeface="Arial"/>
              </a:rPr>
              <a:t>+/- 0.07</a:t>
            </a:r>
          </a:p>
        </p:txBody>
      </p:sp>
      <p:sp>
        <p:nvSpPr>
          <p:cNvPr id="111" name="Cholec strict value"/>
          <p:cNvSpPr txBox="1"/>
          <p:nvPr/>
        </p:nvSpPr>
        <p:spPr>
          <a:xfrm>
            <a:off x="3305739" y="4982316"/>
            <a:ext cx="329184" cy="100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50" b="0">
                <a:solidFill>
                  <a:srgbClr val="111827"/>
                </a:solidFill>
                <a:latin typeface="Arial"/>
              </a:rPr>
              <a:t>4.26</a:t>
            </a:r>
          </a:p>
        </p:txBody>
      </p:sp>
      <p:sp>
        <p:nvSpPr>
          <p:cNvPr id="112" name="Group label"/>
          <p:cNvSpPr txBox="1"/>
          <p:nvPr/>
        </p:nvSpPr>
        <p:spPr>
          <a:xfrm>
            <a:off x="1324051" y="5202936"/>
            <a:ext cx="106070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0">
                <a:solidFill>
                  <a:srgbClr val="111827"/>
                </a:solidFill>
                <a:latin typeface="Arial"/>
              </a:rPr>
              <a:t>centered-window</a:t>
            </a:r>
          </a:p>
          <a:p>
            <a:pPr algn="ctr"/>
            <a:r>
              <a:rPr sz="650" b="0">
                <a:solidFill>
                  <a:srgbClr val="111827"/>
                </a:solidFill>
                <a:latin typeface="Arial"/>
              </a:rPr>
              <a:t>3 seeds</a:t>
            </a:r>
          </a:p>
        </p:txBody>
      </p:sp>
      <p:sp>
        <p:nvSpPr>
          <p:cNvPr id="113" name="Group label"/>
          <p:cNvSpPr txBox="1"/>
          <p:nvPr/>
        </p:nvSpPr>
        <p:spPr>
          <a:xfrm>
            <a:off x="2729667" y="5202936"/>
            <a:ext cx="106070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0">
                <a:solidFill>
                  <a:srgbClr val="111827"/>
                </a:solidFill>
                <a:latin typeface="Arial"/>
              </a:rPr>
              <a:t>strict prefix-only</a:t>
            </a:r>
          </a:p>
          <a:p>
            <a:pPr algn="ctr"/>
            <a:r>
              <a:rPr sz="650" b="0">
                <a:solidFill>
                  <a:srgbClr val="111827"/>
                </a:solidFill>
                <a:latin typeface="Arial"/>
              </a:rPr>
              <a:t>1 seed</a:t>
            </a:r>
          </a:p>
        </p:txBody>
      </p:sp>
      <p:sp>
        <p:nvSpPr>
          <p:cNvPr id="114" name="Result callout"/>
          <p:cNvSpPr/>
          <p:nvPr/>
        </p:nvSpPr>
        <p:spPr>
          <a:xfrm>
            <a:off x="2898648" y="5230368"/>
            <a:ext cx="1316736" cy="219456"/>
          </a:xfrm>
          <a:prstGeom prst="roundRect">
            <a:avLst/>
          </a:prstGeom>
          <a:solidFill>
            <a:srgbClr val="F8FAFC"/>
          </a:solidFill>
          <a:ln w="6985">
            <a:solidFill>
              <a:srgbClr val="CBD5E1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80" b="1">
                <a:solidFill>
                  <a:srgbClr val="374151"/>
                </a:solidFill>
                <a:latin typeface="Arial"/>
              </a:rPr>
              <a:t>strict range: 0.08 min</a:t>
            </a:r>
          </a:p>
        </p:txBody>
      </p:sp>
      <p:sp>
        <p:nvSpPr>
          <p:cNvPr id="115" name="Panel frame"/>
          <p:cNvSpPr/>
          <p:nvPr/>
        </p:nvSpPr>
        <p:spPr>
          <a:xfrm>
            <a:off x="4764024" y="3108960"/>
            <a:ext cx="4059936" cy="250545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BD5E1"/>
            </a:solidFill>
          </a:ln>
        </p:spPr>
        <p:txBody>
          <a:bodyPr rtlCol="0" anchor="ctr"/>
          <a:lstStyle/>
          <a:p/>
        </p:txBody>
      </p:sp>
      <p:sp>
        <p:nvSpPr>
          <p:cNvPr id="116" name="Panel title"/>
          <p:cNvSpPr txBox="1"/>
          <p:nvPr/>
        </p:nvSpPr>
        <p:spPr>
          <a:xfrm>
            <a:off x="4873752" y="3200400"/>
            <a:ext cx="38404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80" b="1">
                <a:solidFill>
                  <a:srgbClr val="111827"/>
                </a:solidFill>
                <a:latin typeface="Arial"/>
              </a:rPr>
              <a:t>D. Shuffled-token control (MB140 strict)</a:t>
            </a:r>
          </a:p>
        </p:txBody>
      </p:sp>
      <p:sp>
        <p:nvSpPr>
          <p:cNvPr id="117" name="Y label"/>
          <p:cNvSpPr txBox="1"/>
          <p:nvPr/>
        </p:nvSpPr>
        <p:spPr>
          <a:xfrm>
            <a:off x="5294376" y="3447288"/>
            <a:ext cx="1243584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60" b="0">
                <a:solidFill>
                  <a:srgbClr val="4B5563"/>
                </a:solidFill>
                <a:latin typeface="Arial"/>
              </a:rPr>
              <a:t>MAE (min)</a:t>
            </a:r>
          </a:p>
        </p:txBody>
      </p:sp>
      <p:cxnSp>
        <p:nvCxnSpPr>
          <p:cNvPr id="118" name="Y gridline"/>
          <p:cNvCxnSpPr/>
          <p:nvPr/>
        </p:nvCxnSpPr>
        <p:spPr>
          <a:xfrm>
            <a:off x="5294376" y="5084350"/>
            <a:ext cx="3346704" cy="0"/>
          </a:xfrm>
          <a:prstGeom prst="line">
            <a:avLst/>
          </a:prstGeom>
          <a:ln w="5715">
            <a:solidFill>
              <a:srgbClr val="E5E7EB"/>
            </a:solidFill>
          </a:ln>
        </p:spPr>
      </p:cxnSp>
      <p:sp>
        <p:nvSpPr>
          <p:cNvPr id="119" name="Y tick"/>
          <p:cNvSpPr txBox="1"/>
          <p:nvPr/>
        </p:nvSpPr>
        <p:spPr>
          <a:xfrm>
            <a:off x="4873752" y="5029486"/>
            <a:ext cx="329184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20" b="0">
                <a:solidFill>
                  <a:srgbClr val="4B5563"/>
                </a:solidFill>
                <a:latin typeface="Arial"/>
              </a:rPr>
              <a:t>12</a:t>
            </a:r>
          </a:p>
        </p:txBody>
      </p:sp>
      <p:cxnSp>
        <p:nvCxnSpPr>
          <p:cNvPr id="120" name="Y gridline"/>
          <p:cNvCxnSpPr/>
          <p:nvPr/>
        </p:nvCxnSpPr>
        <p:spPr>
          <a:xfrm>
            <a:off x="5294376" y="4630007"/>
            <a:ext cx="3346704" cy="0"/>
          </a:xfrm>
          <a:prstGeom prst="line">
            <a:avLst/>
          </a:prstGeom>
          <a:ln w="5715">
            <a:solidFill>
              <a:srgbClr val="E5E7EB"/>
            </a:solidFill>
          </a:ln>
        </p:spPr>
      </p:cxnSp>
      <p:sp>
        <p:nvSpPr>
          <p:cNvPr id="121" name="Y tick"/>
          <p:cNvSpPr txBox="1"/>
          <p:nvPr/>
        </p:nvSpPr>
        <p:spPr>
          <a:xfrm>
            <a:off x="4873752" y="4575143"/>
            <a:ext cx="329184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20" b="0">
                <a:solidFill>
                  <a:srgbClr val="4B5563"/>
                </a:solidFill>
                <a:latin typeface="Arial"/>
              </a:rPr>
              <a:t>12.5</a:t>
            </a:r>
          </a:p>
        </p:txBody>
      </p:sp>
      <p:cxnSp>
        <p:nvCxnSpPr>
          <p:cNvPr id="122" name="Y gridline"/>
          <p:cNvCxnSpPr/>
          <p:nvPr/>
        </p:nvCxnSpPr>
        <p:spPr>
          <a:xfrm>
            <a:off x="5294376" y="4175665"/>
            <a:ext cx="3346704" cy="0"/>
          </a:xfrm>
          <a:prstGeom prst="line">
            <a:avLst/>
          </a:prstGeom>
          <a:ln w="5715">
            <a:solidFill>
              <a:srgbClr val="E5E7EB"/>
            </a:solidFill>
          </a:ln>
        </p:spPr>
      </p:cxnSp>
      <p:sp>
        <p:nvSpPr>
          <p:cNvPr id="123" name="Y tick"/>
          <p:cNvSpPr txBox="1"/>
          <p:nvPr/>
        </p:nvSpPr>
        <p:spPr>
          <a:xfrm>
            <a:off x="4873752" y="4120801"/>
            <a:ext cx="329184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20" b="0">
                <a:solidFill>
                  <a:srgbClr val="4B5563"/>
                </a:solidFill>
                <a:latin typeface="Arial"/>
              </a:rPr>
              <a:t>13</a:t>
            </a:r>
          </a:p>
        </p:txBody>
      </p:sp>
      <p:cxnSp>
        <p:nvCxnSpPr>
          <p:cNvPr id="124" name="Y gridline"/>
          <p:cNvCxnSpPr/>
          <p:nvPr/>
        </p:nvCxnSpPr>
        <p:spPr>
          <a:xfrm>
            <a:off x="5294376" y="3721322"/>
            <a:ext cx="3346704" cy="0"/>
          </a:xfrm>
          <a:prstGeom prst="line">
            <a:avLst/>
          </a:prstGeom>
          <a:ln w="5715">
            <a:solidFill>
              <a:srgbClr val="E5E7EB"/>
            </a:solidFill>
          </a:ln>
        </p:spPr>
      </p:cxnSp>
      <p:sp>
        <p:nvSpPr>
          <p:cNvPr id="125" name="Y tick"/>
          <p:cNvSpPr txBox="1"/>
          <p:nvPr/>
        </p:nvSpPr>
        <p:spPr>
          <a:xfrm>
            <a:off x="4873752" y="3666458"/>
            <a:ext cx="329184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20" b="0">
                <a:solidFill>
                  <a:srgbClr val="4B5563"/>
                </a:solidFill>
                <a:latin typeface="Arial"/>
              </a:rPr>
              <a:t>13.5</a:t>
            </a:r>
          </a:p>
        </p:txBody>
      </p:sp>
      <p:cxnSp>
        <p:nvCxnSpPr>
          <p:cNvPr id="126" name="Y axis"/>
          <p:cNvCxnSpPr/>
          <p:nvPr/>
        </p:nvCxnSpPr>
        <p:spPr>
          <a:xfrm>
            <a:off x="5294376" y="3675888"/>
            <a:ext cx="0" cy="1453896"/>
          </a:xfrm>
          <a:prstGeom prst="line">
            <a:avLst/>
          </a:prstGeom>
          <a:ln w="7620">
            <a:solidFill>
              <a:srgbClr val="374151"/>
            </a:solidFill>
          </a:ln>
        </p:spPr>
      </p:cxnSp>
      <p:cxnSp>
        <p:nvCxnSpPr>
          <p:cNvPr id="127" name="X axis"/>
          <p:cNvCxnSpPr/>
          <p:nvPr/>
        </p:nvCxnSpPr>
        <p:spPr>
          <a:xfrm>
            <a:off x="5294376" y="5129784"/>
            <a:ext cx="3346704" cy="0"/>
          </a:xfrm>
          <a:prstGeom prst="line">
            <a:avLst/>
          </a:prstGeom>
          <a:ln w="7620">
            <a:solidFill>
              <a:srgbClr val="374151"/>
            </a:solidFill>
          </a:ln>
        </p:spPr>
      </p:cxnSp>
      <p:cxnSp>
        <p:nvCxnSpPr>
          <p:cNvPr id="128" name="Mean connector"/>
          <p:cNvCxnSpPr/>
          <p:nvPr/>
        </p:nvCxnSpPr>
        <p:spPr>
          <a:xfrm flipV="1">
            <a:off x="5896783" y="4048449"/>
            <a:ext cx="1070945" cy="99955"/>
          </a:xfrm>
          <a:prstGeom prst="line">
            <a:avLst/>
          </a:prstGeom>
          <a:ln w="9525">
            <a:solidFill>
              <a:srgbClr val="CBD5E1"/>
            </a:solidFill>
          </a:ln>
        </p:spPr>
      </p:cxnSp>
      <p:cxnSp>
        <p:nvCxnSpPr>
          <p:cNvPr id="129" name="Mean connector"/>
          <p:cNvCxnSpPr/>
          <p:nvPr/>
        </p:nvCxnSpPr>
        <p:spPr>
          <a:xfrm>
            <a:off x="6967728" y="4048449"/>
            <a:ext cx="1070945" cy="872338"/>
          </a:xfrm>
          <a:prstGeom prst="line">
            <a:avLst/>
          </a:prstGeom>
          <a:ln w="9525">
            <a:solidFill>
              <a:srgbClr val="CBD5E1"/>
            </a:solidFill>
          </a:ln>
        </p:spPr>
      </p:cxnSp>
      <p:cxnSp>
        <p:nvCxnSpPr>
          <p:cNvPr id="130" name="Error bar"/>
          <p:cNvCxnSpPr/>
          <p:nvPr/>
        </p:nvCxnSpPr>
        <p:spPr>
          <a:xfrm>
            <a:off x="5896783" y="3984841"/>
            <a:ext cx="0" cy="327127"/>
          </a:xfrm>
          <a:prstGeom prst="line">
            <a:avLst/>
          </a:prstGeom>
          <a:ln w="10160">
            <a:solidFill>
              <a:srgbClr val="6B7280"/>
            </a:solidFill>
          </a:ln>
        </p:spPr>
      </p:cxnSp>
      <p:cxnSp>
        <p:nvCxnSpPr>
          <p:cNvPr id="131" name="Error cap"/>
          <p:cNvCxnSpPr/>
          <p:nvPr/>
        </p:nvCxnSpPr>
        <p:spPr>
          <a:xfrm>
            <a:off x="5828203" y="3984841"/>
            <a:ext cx="137160" cy="0"/>
          </a:xfrm>
          <a:prstGeom prst="line">
            <a:avLst/>
          </a:prstGeom>
          <a:ln w="10160">
            <a:solidFill>
              <a:srgbClr val="6B7280"/>
            </a:solidFill>
          </a:ln>
        </p:spPr>
      </p:cxnSp>
      <p:cxnSp>
        <p:nvCxnSpPr>
          <p:cNvPr id="132" name="Error cap"/>
          <p:cNvCxnSpPr/>
          <p:nvPr/>
        </p:nvCxnSpPr>
        <p:spPr>
          <a:xfrm>
            <a:off x="5828203" y="4311968"/>
            <a:ext cx="137160" cy="0"/>
          </a:xfrm>
          <a:prstGeom prst="line">
            <a:avLst/>
          </a:prstGeom>
          <a:ln w="10160">
            <a:solidFill>
              <a:srgbClr val="6B7280"/>
            </a:solidFill>
          </a:ln>
        </p:spPr>
      </p:cxnSp>
      <p:sp>
        <p:nvSpPr>
          <p:cNvPr id="133" name="Data point"/>
          <p:cNvSpPr/>
          <p:nvPr/>
        </p:nvSpPr>
        <p:spPr>
          <a:xfrm>
            <a:off x="5841919" y="4093540"/>
            <a:ext cx="109728" cy="109728"/>
          </a:xfrm>
          <a:prstGeom prst="ellipse">
            <a:avLst/>
          </a:prstGeom>
          <a:solidFill>
            <a:srgbClr val="6B7280"/>
          </a:solidFill>
          <a:ln w="444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134" name="Value label"/>
          <p:cNvSpPr txBox="1"/>
          <p:nvPr/>
        </p:nvSpPr>
        <p:spPr>
          <a:xfrm>
            <a:off x="5622463" y="3692233"/>
            <a:ext cx="548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30" b="0">
                <a:solidFill>
                  <a:srgbClr val="111827"/>
                </a:solidFill>
                <a:latin typeface="Arial"/>
              </a:rPr>
              <a:t>13.03</a:t>
            </a:r>
          </a:p>
          <a:p>
            <a:pPr algn="ctr"/>
            <a:r>
              <a:rPr sz="630" b="0">
                <a:solidFill>
                  <a:srgbClr val="111827"/>
                </a:solidFill>
                <a:latin typeface="Arial"/>
              </a:rPr>
              <a:t>+/- 0.18</a:t>
            </a:r>
          </a:p>
        </p:txBody>
      </p:sp>
      <p:sp>
        <p:nvSpPr>
          <p:cNvPr id="135" name="X label"/>
          <p:cNvSpPr txBox="1"/>
          <p:nvPr/>
        </p:nvSpPr>
        <p:spPr>
          <a:xfrm>
            <a:off x="5512735" y="5221224"/>
            <a:ext cx="76809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0">
                <a:solidFill>
                  <a:srgbClr val="111827"/>
                </a:solidFill>
                <a:latin typeface="Arial"/>
              </a:rPr>
              <a:t>no token</a:t>
            </a:r>
          </a:p>
        </p:txBody>
      </p:sp>
      <p:cxnSp>
        <p:nvCxnSpPr>
          <p:cNvPr id="136" name="Error bar"/>
          <p:cNvCxnSpPr/>
          <p:nvPr/>
        </p:nvCxnSpPr>
        <p:spPr>
          <a:xfrm>
            <a:off x="6967728" y="3912146"/>
            <a:ext cx="0" cy="272606"/>
          </a:xfrm>
          <a:prstGeom prst="line">
            <a:avLst/>
          </a:prstGeom>
          <a:ln w="10160">
            <a:solidFill>
              <a:srgbClr val="7C3AED"/>
            </a:solidFill>
          </a:ln>
        </p:spPr>
      </p:cxnSp>
      <p:cxnSp>
        <p:nvCxnSpPr>
          <p:cNvPr id="137" name="Error cap"/>
          <p:cNvCxnSpPr/>
          <p:nvPr/>
        </p:nvCxnSpPr>
        <p:spPr>
          <a:xfrm>
            <a:off x="6899148" y="3912146"/>
            <a:ext cx="137160" cy="0"/>
          </a:xfrm>
          <a:prstGeom prst="line">
            <a:avLst/>
          </a:prstGeom>
          <a:ln w="10160">
            <a:solidFill>
              <a:srgbClr val="7C3AED"/>
            </a:solidFill>
          </a:ln>
        </p:spPr>
      </p:cxnSp>
      <p:cxnSp>
        <p:nvCxnSpPr>
          <p:cNvPr id="138" name="Error cap"/>
          <p:cNvCxnSpPr/>
          <p:nvPr/>
        </p:nvCxnSpPr>
        <p:spPr>
          <a:xfrm>
            <a:off x="6899148" y="4184752"/>
            <a:ext cx="137160" cy="0"/>
          </a:xfrm>
          <a:prstGeom prst="line">
            <a:avLst/>
          </a:prstGeom>
          <a:ln w="10160">
            <a:solidFill>
              <a:srgbClr val="7C3AED"/>
            </a:solidFill>
          </a:ln>
        </p:spPr>
      </p:cxnSp>
      <p:sp>
        <p:nvSpPr>
          <p:cNvPr id="139" name="Data point"/>
          <p:cNvSpPr/>
          <p:nvPr/>
        </p:nvSpPr>
        <p:spPr>
          <a:xfrm>
            <a:off x="6912864" y="3993585"/>
            <a:ext cx="109728" cy="109728"/>
          </a:xfrm>
          <a:prstGeom prst="ellipse">
            <a:avLst/>
          </a:prstGeom>
          <a:solidFill>
            <a:srgbClr val="7C3AED"/>
          </a:solidFill>
          <a:ln w="444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140" name="Value label"/>
          <p:cNvSpPr txBox="1"/>
          <p:nvPr/>
        </p:nvSpPr>
        <p:spPr>
          <a:xfrm>
            <a:off x="6693408" y="3619538"/>
            <a:ext cx="548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30" b="0">
                <a:solidFill>
                  <a:srgbClr val="111827"/>
                </a:solidFill>
                <a:latin typeface="Arial"/>
              </a:rPr>
              <a:t>13.14</a:t>
            </a:r>
          </a:p>
          <a:p>
            <a:pPr algn="ctr"/>
            <a:r>
              <a:rPr sz="630" b="0">
                <a:solidFill>
                  <a:srgbClr val="111827"/>
                </a:solidFill>
                <a:latin typeface="Arial"/>
              </a:rPr>
              <a:t>+/- 0.15</a:t>
            </a:r>
          </a:p>
        </p:txBody>
      </p:sp>
      <p:sp>
        <p:nvSpPr>
          <p:cNvPr id="141" name="X label"/>
          <p:cNvSpPr txBox="1"/>
          <p:nvPr/>
        </p:nvSpPr>
        <p:spPr>
          <a:xfrm>
            <a:off x="6583680" y="5221224"/>
            <a:ext cx="76809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0">
                <a:solidFill>
                  <a:srgbClr val="111827"/>
                </a:solidFill>
                <a:latin typeface="Arial"/>
              </a:rPr>
              <a:t>shuffled</a:t>
            </a:r>
          </a:p>
        </p:txBody>
      </p:sp>
      <p:cxnSp>
        <p:nvCxnSpPr>
          <p:cNvPr id="142" name="Error bar"/>
          <p:cNvCxnSpPr/>
          <p:nvPr/>
        </p:nvCxnSpPr>
        <p:spPr>
          <a:xfrm>
            <a:off x="8038673" y="4820831"/>
            <a:ext cx="0" cy="199911"/>
          </a:xfrm>
          <a:prstGeom prst="line">
            <a:avLst/>
          </a:prstGeom>
          <a:ln w="10160">
            <a:solidFill>
              <a:srgbClr val="0F766E"/>
            </a:solidFill>
          </a:ln>
        </p:spPr>
      </p:cxnSp>
      <p:cxnSp>
        <p:nvCxnSpPr>
          <p:cNvPr id="143" name="Error cap"/>
          <p:cNvCxnSpPr/>
          <p:nvPr/>
        </p:nvCxnSpPr>
        <p:spPr>
          <a:xfrm>
            <a:off x="7970093" y="4820831"/>
            <a:ext cx="137160" cy="0"/>
          </a:xfrm>
          <a:prstGeom prst="line">
            <a:avLst/>
          </a:prstGeom>
          <a:ln w="10160">
            <a:solidFill>
              <a:srgbClr val="0F766E"/>
            </a:solidFill>
          </a:ln>
        </p:spPr>
      </p:cxnSp>
      <p:cxnSp>
        <p:nvCxnSpPr>
          <p:cNvPr id="144" name="Error cap"/>
          <p:cNvCxnSpPr/>
          <p:nvPr/>
        </p:nvCxnSpPr>
        <p:spPr>
          <a:xfrm>
            <a:off x="7970093" y="5020742"/>
            <a:ext cx="137160" cy="0"/>
          </a:xfrm>
          <a:prstGeom prst="line">
            <a:avLst/>
          </a:prstGeom>
          <a:ln w="10160">
            <a:solidFill>
              <a:srgbClr val="0F766E"/>
            </a:solidFill>
          </a:ln>
        </p:spPr>
      </p:cxnSp>
      <p:sp>
        <p:nvSpPr>
          <p:cNvPr id="145" name="Data point"/>
          <p:cNvSpPr/>
          <p:nvPr/>
        </p:nvSpPr>
        <p:spPr>
          <a:xfrm>
            <a:off x="7983809" y="4865922"/>
            <a:ext cx="109728" cy="109728"/>
          </a:xfrm>
          <a:prstGeom prst="ellipse">
            <a:avLst/>
          </a:prstGeom>
          <a:solidFill>
            <a:srgbClr val="0F766E"/>
          </a:solidFill>
          <a:ln w="4445">
            <a:solidFill>
              <a:srgbClr val="111827"/>
            </a:solidFill>
          </a:ln>
        </p:spPr>
        <p:txBody>
          <a:bodyPr rtlCol="0" anchor="ctr"/>
          <a:lstStyle/>
          <a:p/>
        </p:txBody>
      </p:sp>
      <p:sp>
        <p:nvSpPr>
          <p:cNvPr id="146" name="Value label"/>
          <p:cNvSpPr txBox="1"/>
          <p:nvPr/>
        </p:nvSpPr>
        <p:spPr>
          <a:xfrm>
            <a:off x="7764353" y="4528223"/>
            <a:ext cx="548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30" b="0">
                <a:solidFill>
                  <a:srgbClr val="111827"/>
                </a:solidFill>
                <a:latin typeface="Arial"/>
              </a:rPr>
              <a:t>12.18</a:t>
            </a:r>
          </a:p>
          <a:p>
            <a:pPr algn="ctr"/>
            <a:r>
              <a:rPr sz="630" b="0">
                <a:solidFill>
                  <a:srgbClr val="111827"/>
                </a:solidFill>
                <a:latin typeface="Arial"/>
              </a:rPr>
              <a:t>+/- 0.11</a:t>
            </a:r>
          </a:p>
        </p:txBody>
      </p:sp>
      <p:sp>
        <p:nvSpPr>
          <p:cNvPr id="147" name="X label"/>
          <p:cNvSpPr txBox="1"/>
          <p:nvPr/>
        </p:nvSpPr>
        <p:spPr>
          <a:xfrm>
            <a:off x="7654625" y="5221224"/>
            <a:ext cx="76809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0">
                <a:solidFill>
                  <a:srgbClr val="111827"/>
                </a:solidFill>
                <a:latin typeface="Arial"/>
              </a:rPr>
              <a:t>real token</a:t>
            </a:r>
          </a:p>
        </p:txBody>
      </p:sp>
      <p:sp>
        <p:nvSpPr>
          <p:cNvPr id="148" name="Result callout"/>
          <p:cNvSpPr/>
          <p:nvPr/>
        </p:nvSpPr>
        <p:spPr>
          <a:xfrm>
            <a:off x="7178040" y="3493008"/>
            <a:ext cx="1481328" cy="219456"/>
          </a:xfrm>
          <a:prstGeom prst="roundRect">
            <a:avLst/>
          </a:prstGeom>
          <a:solidFill>
            <a:srgbClr val="ECFDF5"/>
          </a:solidFill>
          <a:ln w="6985">
            <a:solidFill>
              <a:srgbClr val="99F6E4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80" b="1">
                <a:solidFill>
                  <a:srgbClr val="0F5132"/>
                </a:solidFill>
                <a:latin typeface="Arial"/>
              </a:rPr>
              <a:t>shuffle fails to</a:t>
            </a:r>
          </a:p>
          <a:p>
            <a:pPr algn="ctr"/>
            <a:r>
              <a:rPr sz="680" b="1">
                <a:solidFill>
                  <a:srgbClr val="0F5132"/>
                </a:solidFill>
                <a:latin typeface="Arial"/>
              </a:rPr>
              <a:t>reproduce gain</a:t>
            </a:r>
          </a:p>
        </p:txBody>
      </p:sp>
      <p:sp>
        <p:nvSpPr>
          <p:cNvPr id="149" name="Figure note"/>
          <p:cNvSpPr txBox="1"/>
          <p:nvPr/>
        </p:nvSpPr>
        <p:spPr>
          <a:xfrm>
            <a:off x="502920" y="5650992"/>
            <a:ext cx="81381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10" b="0">
                <a:solidFill>
                  <a:srgbClr val="4B5563"/>
                </a:solidFill>
                <a:latin typeface="Arial"/>
              </a:rPr>
              <a:t>Oracle and decoupled-oracle rows use retrospective cluster IDs; strict protocol removes future visual frames. Panel C strict Cholec80 uses one seed.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