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435840" cy="4535424" type="custom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29184" y="164592"/>
            <a:ext cx="7132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>
                <a:solidFill>
                  <a:srgbClr val="111827"/>
                </a:solidFill>
                <a:latin typeface="Arial"/>
              </a:rPr>
              <a:t>What does "ViT blocks -&gt; [CLS] output" mean?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29184" y="512064"/>
            <a:ext cx="96926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20" b="0">
                <a:solidFill>
                  <a:srgbClr val="4B5563"/>
                </a:solidFill>
                <a:latin typeface="Arial"/>
              </a:rPr>
              <a:t>The [CLS] token is row 0 of the token matrix. It is updated by self-attention in every block, then row 0 is read as the frame feature.</a:t>
            </a:r>
          </a:p>
        </p:txBody>
      </p:sp>
      <p:sp>
        <p:nvSpPr>
          <p:cNvPr id="4" name="Token matrix title"/>
          <p:cNvSpPr txBox="1"/>
          <p:nvPr/>
        </p:nvSpPr>
        <p:spPr>
          <a:xfrm>
            <a:off x="457200" y="932688"/>
            <a:ext cx="24688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70" b="1">
                <a:solidFill>
                  <a:srgbClr val="111827"/>
                </a:solidFill>
                <a:latin typeface="Arial"/>
              </a:rPr>
              <a:t>Input sequence to ViT block</a:t>
            </a:r>
          </a:p>
        </p:txBody>
      </p:sp>
      <p:sp>
        <p:nvSpPr>
          <p:cNvPr id="5" name="Token matrix subtitle"/>
          <p:cNvSpPr txBox="1"/>
          <p:nvPr/>
        </p:nvSpPr>
        <p:spPr>
          <a:xfrm>
            <a:off x="457200" y="1133856"/>
            <a:ext cx="246888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80" b="0">
                <a:solidFill>
                  <a:srgbClr val="4B5563"/>
                </a:solidFill>
                <a:latin typeface="Arial"/>
              </a:rPr>
              <a:t>X has 197 rows x 768 features</a:t>
            </a:r>
          </a:p>
        </p:txBody>
      </p:sp>
      <p:sp>
        <p:nvSpPr>
          <p:cNvPr id="6" name="Matrix cell"/>
          <p:cNvSpPr/>
          <p:nvPr/>
        </p:nvSpPr>
        <p:spPr>
          <a:xfrm>
            <a:off x="457200" y="1243584"/>
            <a:ext cx="493776" cy="256032"/>
          </a:xfrm>
          <a:prstGeom prst="rect">
            <a:avLst/>
          </a:prstGeom>
          <a:solidFill>
            <a:srgbClr val="F1F5F9"/>
          </a:solidFill>
          <a:ln w="5715">
            <a:solidFill>
              <a:srgbClr val="D1D5D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50" b="1">
                <a:solidFill>
                  <a:srgbClr val="111827"/>
                </a:solidFill>
                <a:latin typeface="Arial"/>
              </a:rPr>
              <a:t>token</a:t>
            </a:r>
          </a:p>
        </p:txBody>
      </p:sp>
      <p:sp>
        <p:nvSpPr>
          <p:cNvPr id="7" name="Matrix cell"/>
          <p:cNvSpPr/>
          <p:nvPr/>
        </p:nvSpPr>
        <p:spPr>
          <a:xfrm>
            <a:off x="950976" y="1243584"/>
            <a:ext cx="292608" cy="256032"/>
          </a:xfrm>
          <a:prstGeom prst="rect">
            <a:avLst/>
          </a:prstGeom>
          <a:solidFill>
            <a:srgbClr val="F1F5F9"/>
          </a:solidFill>
          <a:ln w="5715">
            <a:solidFill>
              <a:srgbClr val="D1D5D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50" b="1">
                <a:solidFill>
                  <a:srgbClr val="111827"/>
                </a:solidFill>
                <a:latin typeface="Arial"/>
              </a:rPr>
              <a:t>d1</a:t>
            </a:r>
          </a:p>
        </p:txBody>
      </p:sp>
      <p:sp>
        <p:nvSpPr>
          <p:cNvPr id="8" name="Matrix cell"/>
          <p:cNvSpPr/>
          <p:nvPr/>
        </p:nvSpPr>
        <p:spPr>
          <a:xfrm>
            <a:off x="1243584" y="1243584"/>
            <a:ext cx="292608" cy="256032"/>
          </a:xfrm>
          <a:prstGeom prst="rect">
            <a:avLst/>
          </a:prstGeom>
          <a:solidFill>
            <a:srgbClr val="F1F5F9"/>
          </a:solidFill>
          <a:ln w="5715">
            <a:solidFill>
              <a:srgbClr val="D1D5D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50" b="1">
                <a:solidFill>
                  <a:srgbClr val="111827"/>
                </a:solidFill>
                <a:latin typeface="Arial"/>
              </a:rPr>
              <a:t>d2</a:t>
            </a:r>
          </a:p>
        </p:txBody>
      </p:sp>
      <p:sp>
        <p:nvSpPr>
          <p:cNvPr id="9" name="Matrix cell"/>
          <p:cNvSpPr/>
          <p:nvPr/>
        </p:nvSpPr>
        <p:spPr>
          <a:xfrm>
            <a:off x="1536192" y="1243584"/>
            <a:ext cx="292608" cy="256032"/>
          </a:xfrm>
          <a:prstGeom prst="rect">
            <a:avLst/>
          </a:prstGeom>
          <a:solidFill>
            <a:srgbClr val="F1F5F9"/>
          </a:solidFill>
          <a:ln w="5715">
            <a:solidFill>
              <a:srgbClr val="D1D5D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50" b="1">
                <a:solidFill>
                  <a:srgbClr val="111827"/>
                </a:solidFill>
                <a:latin typeface="Arial"/>
              </a:rPr>
              <a:t>...</a:t>
            </a:r>
          </a:p>
        </p:txBody>
      </p:sp>
      <p:sp>
        <p:nvSpPr>
          <p:cNvPr id="10" name="Matrix cell"/>
          <p:cNvSpPr/>
          <p:nvPr/>
        </p:nvSpPr>
        <p:spPr>
          <a:xfrm>
            <a:off x="1828800" y="1243584"/>
            <a:ext cx="292608" cy="256032"/>
          </a:xfrm>
          <a:prstGeom prst="rect">
            <a:avLst/>
          </a:prstGeom>
          <a:solidFill>
            <a:srgbClr val="F1F5F9"/>
          </a:solidFill>
          <a:ln w="5715">
            <a:solidFill>
              <a:srgbClr val="D1D5D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50" b="1">
                <a:solidFill>
                  <a:srgbClr val="111827"/>
                </a:solidFill>
                <a:latin typeface="Arial"/>
              </a:rPr>
              <a:t>d768</a:t>
            </a:r>
          </a:p>
        </p:txBody>
      </p:sp>
      <p:sp>
        <p:nvSpPr>
          <p:cNvPr id="11" name="Matrix cell"/>
          <p:cNvSpPr/>
          <p:nvPr/>
        </p:nvSpPr>
        <p:spPr>
          <a:xfrm>
            <a:off x="457200" y="1499616"/>
            <a:ext cx="493776" cy="256032"/>
          </a:xfrm>
          <a:prstGeom prst="rect">
            <a:avLst/>
          </a:prstGeom>
          <a:solidFill>
            <a:srgbClr val="FFF7ED"/>
          </a:solidFill>
          <a:ln w="5715">
            <a:solidFill>
              <a:srgbClr val="D97706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10" b="1">
                <a:solidFill>
                  <a:srgbClr val="D97706"/>
                </a:solidFill>
                <a:latin typeface="Arial"/>
              </a:rPr>
              <a:t>[CLS]</a:t>
            </a:r>
          </a:p>
        </p:txBody>
      </p:sp>
      <p:sp>
        <p:nvSpPr>
          <p:cNvPr id="12" name="Matrix cell"/>
          <p:cNvSpPr/>
          <p:nvPr/>
        </p:nvSpPr>
        <p:spPr>
          <a:xfrm>
            <a:off x="950976" y="1499616"/>
            <a:ext cx="292608" cy="256032"/>
          </a:xfrm>
          <a:prstGeom prst="rect">
            <a:avLst/>
          </a:prstGeom>
          <a:solidFill>
            <a:srgbClr val="FFF7ED"/>
          </a:solidFill>
          <a:ln w="5715">
            <a:solidFill>
              <a:srgbClr val="D97706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60" b="1">
                <a:solidFill>
                  <a:srgbClr val="D97706"/>
                </a:solidFill>
                <a:latin typeface="Arial"/>
              </a:rPr>
              <a:t/>
            </a:r>
          </a:p>
        </p:txBody>
      </p:sp>
      <p:sp>
        <p:nvSpPr>
          <p:cNvPr id="13" name="Matrix cell"/>
          <p:cNvSpPr/>
          <p:nvPr/>
        </p:nvSpPr>
        <p:spPr>
          <a:xfrm>
            <a:off x="1243584" y="1499616"/>
            <a:ext cx="292608" cy="256032"/>
          </a:xfrm>
          <a:prstGeom prst="rect">
            <a:avLst/>
          </a:prstGeom>
          <a:solidFill>
            <a:srgbClr val="FFF7ED"/>
          </a:solidFill>
          <a:ln w="5715">
            <a:solidFill>
              <a:srgbClr val="D97706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60" b="1">
                <a:solidFill>
                  <a:srgbClr val="D97706"/>
                </a:solidFill>
                <a:latin typeface="Arial"/>
              </a:rPr>
              <a:t/>
            </a:r>
          </a:p>
        </p:txBody>
      </p:sp>
      <p:sp>
        <p:nvSpPr>
          <p:cNvPr id="14" name="Matrix cell"/>
          <p:cNvSpPr/>
          <p:nvPr/>
        </p:nvSpPr>
        <p:spPr>
          <a:xfrm>
            <a:off x="1536192" y="1499616"/>
            <a:ext cx="292608" cy="256032"/>
          </a:xfrm>
          <a:prstGeom prst="rect">
            <a:avLst/>
          </a:prstGeom>
          <a:solidFill>
            <a:srgbClr val="FFF7ED"/>
          </a:solidFill>
          <a:ln w="5715">
            <a:solidFill>
              <a:srgbClr val="D97706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60" b="1">
                <a:solidFill>
                  <a:srgbClr val="D97706"/>
                </a:solidFill>
                <a:latin typeface="Arial"/>
              </a:rPr>
              <a:t>...</a:t>
            </a:r>
          </a:p>
        </p:txBody>
      </p:sp>
      <p:sp>
        <p:nvSpPr>
          <p:cNvPr id="15" name="Matrix cell"/>
          <p:cNvSpPr/>
          <p:nvPr/>
        </p:nvSpPr>
        <p:spPr>
          <a:xfrm>
            <a:off x="1828800" y="1499616"/>
            <a:ext cx="292608" cy="256032"/>
          </a:xfrm>
          <a:prstGeom prst="rect">
            <a:avLst/>
          </a:prstGeom>
          <a:solidFill>
            <a:srgbClr val="FFF7ED"/>
          </a:solidFill>
          <a:ln w="5715">
            <a:solidFill>
              <a:srgbClr val="D97706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60" b="1">
                <a:solidFill>
                  <a:srgbClr val="D97706"/>
                </a:solidFill>
                <a:latin typeface="Arial"/>
              </a:rPr>
              <a:t/>
            </a:r>
          </a:p>
        </p:txBody>
      </p:sp>
      <p:sp>
        <p:nvSpPr>
          <p:cNvPr id="16" name="Matrix cell"/>
          <p:cNvSpPr/>
          <p:nvPr/>
        </p:nvSpPr>
        <p:spPr>
          <a:xfrm>
            <a:off x="457200" y="1755648"/>
            <a:ext cx="493776" cy="256032"/>
          </a:xfrm>
          <a:prstGeom prst="rect">
            <a:avLst/>
          </a:prstGeom>
          <a:solidFill>
            <a:srgbClr val="DCE6F2"/>
          </a:solidFill>
          <a:ln w="5715">
            <a:solidFill>
              <a:srgbClr val="9FB6C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10" b="0">
                <a:solidFill>
                  <a:srgbClr val="111827"/>
                </a:solidFill>
                <a:latin typeface="Arial"/>
              </a:rPr>
              <a:t>p1</a:t>
            </a:r>
          </a:p>
        </p:txBody>
      </p:sp>
      <p:sp>
        <p:nvSpPr>
          <p:cNvPr id="17" name="Matrix cell"/>
          <p:cNvSpPr/>
          <p:nvPr/>
        </p:nvSpPr>
        <p:spPr>
          <a:xfrm>
            <a:off x="950976" y="1755648"/>
            <a:ext cx="292608" cy="256032"/>
          </a:xfrm>
          <a:prstGeom prst="rect">
            <a:avLst/>
          </a:prstGeom>
          <a:solidFill>
            <a:srgbClr val="DCE6F2"/>
          </a:solidFill>
          <a:ln w="5715">
            <a:solidFill>
              <a:srgbClr val="9FB6C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60" b="0">
                <a:solidFill>
                  <a:srgbClr val="111827"/>
                </a:solidFill>
                <a:latin typeface="Arial"/>
              </a:rPr>
              <a:t/>
            </a:r>
          </a:p>
        </p:txBody>
      </p:sp>
      <p:sp>
        <p:nvSpPr>
          <p:cNvPr id="18" name="Matrix cell"/>
          <p:cNvSpPr/>
          <p:nvPr/>
        </p:nvSpPr>
        <p:spPr>
          <a:xfrm>
            <a:off x="1243584" y="1755648"/>
            <a:ext cx="292608" cy="256032"/>
          </a:xfrm>
          <a:prstGeom prst="rect">
            <a:avLst/>
          </a:prstGeom>
          <a:solidFill>
            <a:srgbClr val="DCE6F2"/>
          </a:solidFill>
          <a:ln w="5715">
            <a:solidFill>
              <a:srgbClr val="9FB6C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60" b="0">
                <a:solidFill>
                  <a:srgbClr val="111827"/>
                </a:solidFill>
                <a:latin typeface="Arial"/>
              </a:rPr>
              <a:t/>
            </a:r>
          </a:p>
        </p:txBody>
      </p:sp>
      <p:sp>
        <p:nvSpPr>
          <p:cNvPr id="19" name="Matrix cell"/>
          <p:cNvSpPr/>
          <p:nvPr/>
        </p:nvSpPr>
        <p:spPr>
          <a:xfrm>
            <a:off x="1536192" y="1755648"/>
            <a:ext cx="292608" cy="256032"/>
          </a:xfrm>
          <a:prstGeom prst="rect">
            <a:avLst/>
          </a:prstGeom>
          <a:solidFill>
            <a:srgbClr val="DCE6F2"/>
          </a:solidFill>
          <a:ln w="5715">
            <a:solidFill>
              <a:srgbClr val="9FB6C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60" b="0">
                <a:solidFill>
                  <a:srgbClr val="111827"/>
                </a:solidFill>
                <a:latin typeface="Arial"/>
              </a:rPr>
              <a:t>...</a:t>
            </a:r>
          </a:p>
        </p:txBody>
      </p:sp>
      <p:sp>
        <p:nvSpPr>
          <p:cNvPr id="20" name="Matrix cell"/>
          <p:cNvSpPr/>
          <p:nvPr/>
        </p:nvSpPr>
        <p:spPr>
          <a:xfrm>
            <a:off x="1828800" y="1755648"/>
            <a:ext cx="292608" cy="256032"/>
          </a:xfrm>
          <a:prstGeom prst="rect">
            <a:avLst/>
          </a:prstGeom>
          <a:solidFill>
            <a:srgbClr val="DCE6F2"/>
          </a:solidFill>
          <a:ln w="5715">
            <a:solidFill>
              <a:srgbClr val="9FB6C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60" b="0">
                <a:solidFill>
                  <a:srgbClr val="111827"/>
                </a:solidFill>
                <a:latin typeface="Arial"/>
              </a:rPr>
              <a:t/>
            </a:r>
          </a:p>
        </p:txBody>
      </p:sp>
      <p:sp>
        <p:nvSpPr>
          <p:cNvPr id="21" name="Matrix cell"/>
          <p:cNvSpPr/>
          <p:nvPr/>
        </p:nvSpPr>
        <p:spPr>
          <a:xfrm>
            <a:off x="457200" y="2011680"/>
            <a:ext cx="493776" cy="256032"/>
          </a:xfrm>
          <a:prstGeom prst="rect">
            <a:avLst/>
          </a:prstGeom>
          <a:solidFill>
            <a:srgbClr val="DCE6F2"/>
          </a:solidFill>
          <a:ln w="5715">
            <a:solidFill>
              <a:srgbClr val="9FB6C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10" b="0">
                <a:solidFill>
                  <a:srgbClr val="111827"/>
                </a:solidFill>
                <a:latin typeface="Arial"/>
              </a:rPr>
              <a:t>p2</a:t>
            </a:r>
          </a:p>
        </p:txBody>
      </p:sp>
      <p:sp>
        <p:nvSpPr>
          <p:cNvPr id="22" name="Matrix cell"/>
          <p:cNvSpPr/>
          <p:nvPr/>
        </p:nvSpPr>
        <p:spPr>
          <a:xfrm>
            <a:off x="950976" y="2011680"/>
            <a:ext cx="292608" cy="256032"/>
          </a:xfrm>
          <a:prstGeom prst="rect">
            <a:avLst/>
          </a:prstGeom>
          <a:solidFill>
            <a:srgbClr val="DCE6F2"/>
          </a:solidFill>
          <a:ln w="5715">
            <a:solidFill>
              <a:srgbClr val="9FB6C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60" b="0">
                <a:solidFill>
                  <a:srgbClr val="111827"/>
                </a:solidFill>
                <a:latin typeface="Arial"/>
              </a:rPr>
              <a:t/>
            </a:r>
          </a:p>
        </p:txBody>
      </p:sp>
      <p:sp>
        <p:nvSpPr>
          <p:cNvPr id="23" name="Matrix cell"/>
          <p:cNvSpPr/>
          <p:nvPr/>
        </p:nvSpPr>
        <p:spPr>
          <a:xfrm>
            <a:off x="1243584" y="2011680"/>
            <a:ext cx="292608" cy="256032"/>
          </a:xfrm>
          <a:prstGeom prst="rect">
            <a:avLst/>
          </a:prstGeom>
          <a:solidFill>
            <a:srgbClr val="DCE6F2"/>
          </a:solidFill>
          <a:ln w="5715">
            <a:solidFill>
              <a:srgbClr val="9FB6C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60" b="0">
                <a:solidFill>
                  <a:srgbClr val="111827"/>
                </a:solidFill>
                <a:latin typeface="Arial"/>
              </a:rPr>
              <a:t/>
            </a:r>
          </a:p>
        </p:txBody>
      </p:sp>
      <p:sp>
        <p:nvSpPr>
          <p:cNvPr id="24" name="Matrix cell"/>
          <p:cNvSpPr/>
          <p:nvPr/>
        </p:nvSpPr>
        <p:spPr>
          <a:xfrm>
            <a:off x="1536192" y="2011680"/>
            <a:ext cx="292608" cy="256032"/>
          </a:xfrm>
          <a:prstGeom prst="rect">
            <a:avLst/>
          </a:prstGeom>
          <a:solidFill>
            <a:srgbClr val="DCE6F2"/>
          </a:solidFill>
          <a:ln w="5715">
            <a:solidFill>
              <a:srgbClr val="9FB6C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60" b="0">
                <a:solidFill>
                  <a:srgbClr val="111827"/>
                </a:solidFill>
                <a:latin typeface="Arial"/>
              </a:rPr>
              <a:t>...</a:t>
            </a:r>
          </a:p>
        </p:txBody>
      </p:sp>
      <p:sp>
        <p:nvSpPr>
          <p:cNvPr id="25" name="Matrix cell"/>
          <p:cNvSpPr/>
          <p:nvPr/>
        </p:nvSpPr>
        <p:spPr>
          <a:xfrm>
            <a:off x="1828800" y="2011680"/>
            <a:ext cx="292608" cy="256032"/>
          </a:xfrm>
          <a:prstGeom prst="rect">
            <a:avLst/>
          </a:prstGeom>
          <a:solidFill>
            <a:srgbClr val="DCE6F2"/>
          </a:solidFill>
          <a:ln w="5715">
            <a:solidFill>
              <a:srgbClr val="9FB6C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60" b="0">
                <a:solidFill>
                  <a:srgbClr val="111827"/>
                </a:solidFill>
                <a:latin typeface="Arial"/>
              </a:rPr>
              <a:t/>
            </a:r>
          </a:p>
        </p:txBody>
      </p:sp>
      <p:sp>
        <p:nvSpPr>
          <p:cNvPr id="26" name="Matrix cell"/>
          <p:cNvSpPr/>
          <p:nvPr/>
        </p:nvSpPr>
        <p:spPr>
          <a:xfrm>
            <a:off x="457200" y="2267712"/>
            <a:ext cx="493776" cy="256032"/>
          </a:xfrm>
          <a:prstGeom prst="rect">
            <a:avLst/>
          </a:prstGeom>
          <a:solidFill>
            <a:srgbClr val="DCE6F2"/>
          </a:solidFill>
          <a:ln w="5715">
            <a:solidFill>
              <a:srgbClr val="9FB6C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10" b="0">
                <a:solidFill>
                  <a:srgbClr val="111827"/>
                </a:solidFill>
                <a:latin typeface="Arial"/>
              </a:rPr>
              <a:t>...</a:t>
            </a:r>
          </a:p>
        </p:txBody>
      </p:sp>
      <p:sp>
        <p:nvSpPr>
          <p:cNvPr id="27" name="Matrix cell"/>
          <p:cNvSpPr/>
          <p:nvPr/>
        </p:nvSpPr>
        <p:spPr>
          <a:xfrm>
            <a:off x="950976" y="2267712"/>
            <a:ext cx="292608" cy="256032"/>
          </a:xfrm>
          <a:prstGeom prst="rect">
            <a:avLst/>
          </a:prstGeom>
          <a:solidFill>
            <a:srgbClr val="DCE6F2"/>
          </a:solidFill>
          <a:ln w="5715">
            <a:solidFill>
              <a:srgbClr val="9FB6C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60" b="0">
                <a:solidFill>
                  <a:srgbClr val="111827"/>
                </a:solidFill>
                <a:latin typeface="Arial"/>
              </a:rPr>
              <a:t/>
            </a:r>
          </a:p>
        </p:txBody>
      </p:sp>
      <p:sp>
        <p:nvSpPr>
          <p:cNvPr id="28" name="Matrix cell"/>
          <p:cNvSpPr/>
          <p:nvPr/>
        </p:nvSpPr>
        <p:spPr>
          <a:xfrm>
            <a:off x="1243584" y="2267712"/>
            <a:ext cx="292608" cy="256032"/>
          </a:xfrm>
          <a:prstGeom prst="rect">
            <a:avLst/>
          </a:prstGeom>
          <a:solidFill>
            <a:srgbClr val="DCE6F2"/>
          </a:solidFill>
          <a:ln w="5715">
            <a:solidFill>
              <a:srgbClr val="9FB6C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60" b="0">
                <a:solidFill>
                  <a:srgbClr val="111827"/>
                </a:solidFill>
                <a:latin typeface="Arial"/>
              </a:rPr>
              <a:t/>
            </a:r>
          </a:p>
        </p:txBody>
      </p:sp>
      <p:sp>
        <p:nvSpPr>
          <p:cNvPr id="29" name="Matrix cell"/>
          <p:cNvSpPr/>
          <p:nvPr/>
        </p:nvSpPr>
        <p:spPr>
          <a:xfrm>
            <a:off x="1536192" y="2267712"/>
            <a:ext cx="292608" cy="256032"/>
          </a:xfrm>
          <a:prstGeom prst="rect">
            <a:avLst/>
          </a:prstGeom>
          <a:solidFill>
            <a:srgbClr val="DCE6F2"/>
          </a:solidFill>
          <a:ln w="5715">
            <a:solidFill>
              <a:srgbClr val="9FB6C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60" b="0">
                <a:solidFill>
                  <a:srgbClr val="111827"/>
                </a:solidFill>
                <a:latin typeface="Arial"/>
              </a:rPr>
              <a:t>...</a:t>
            </a:r>
          </a:p>
        </p:txBody>
      </p:sp>
      <p:sp>
        <p:nvSpPr>
          <p:cNvPr id="30" name="Matrix cell"/>
          <p:cNvSpPr/>
          <p:nvPr/>
        </p:nvSpPr>
        <p:spPr>
          <a:xfrm>
            <a:off x="1828800" y="2267712"/>
            <a:ext cx="292608" cy="256032"/>
          </a:xfrm>
          <a:prstGeom prst="rect">
            <a:avLst/>
          </a:prstGeom>
          <a:solidFill>
            <a:srgbClr val="DCE6F2"/>
          </a:solidFill>
          <a:ln w="5715">
            <a:solidFill>
              <a:srgbClr val="9FB6C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60" b="0">
                <a:solidFill>
                  <a:srgbClr val="111827"/>
                </a:solidFill>
                <a:latin typeface="Arial"/>
              </a:rPr>
              <a:t/>
            </a:r>
          </a:p>
        </p:txBody>
      </p:sp>
      <p:sp>
        <p:nvSpPr>
          <p:cNvPr id="31" name="Matrix cell"/>
          <p:cNvSpPr/>
          <p:nvPr/>
        </p:nvSpPr>
        <p:spPr>
          <a:xfrm>
            <a:off x="457200" y="2523744"/>
            <a:ext cx="493776" cy="256032"/>
          </a:xfrm>
          <a:prstGeom prst="rect">
            <a:avLst/>
          </a:prstGeom>
          <a:solidFill>
            <a:srgbClr val="DCE6F2"/>
          </a:solidFill>
          <a:ln w="5715">
            <a:solidFill>
              <a:srgbClr val="9FB6C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10" b="0">
                <a:solidFill>
                  <a:srgbClr val="111827"/>
                </a:solidFill>
                <a:latin typeface="Arial"/>
              </a:rPr>
              <a:t>p196</a:t>
            </a:r>
          </a:p>
        </p:txBody>
      </p:sp>
      <p:sp>
        <p:nvSpPr>
          <p:cNvPr id="32" name="Matrix cell"/>
          <p:cNvSpPr/>
          <p:nvPr/>
        </p:nvSpPr>
        <p:spPr>
          <a:xfrm>
            <a:off x="950976" y="2523744"/>
            <a:ext cx="292608" cy="256032"/>
          </a:xfrm>
          <a:prstGeom prst="rect">
            <a:avLst/>
          </a:prstGeom>
          <a:solidFill>
            <a:srgbClr val="DCE6F2"/>
          </a:solidFill>
          <a:ln w="5715">
            <a:solidFill>
              <a:srgbClr val="9FB6C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60" b="0">
                <a:solidFill>
                  <a:srgbClr val="111827"/>
                </a:solidFill>
                <a:latin typeface="Arial"/>
              </a:rPr>
              <a:t/>
            </a:r>
          </a:p>
        </p:txBody>
      </p:sp>
      <p:sp>
        <p:nvSpPr>
          <p:cNvPr id="33" name="Matrix cell"/>
          <p:cNvSpPr/>
          <p:nvPr/>
        </p:nvSpPr>
        <p:spPr>
          <a:xfrm>
            <a:off x="1243584" y="2523744"/>
            <a:ext cx="292608" cy="256032"/>
          </a:xfrm>
          <a:prstGeom prst="rect">
            <a:avLst/>
          </a:prstGeom>
          <a:solidFill>
            <a:srgbClr val="DCE6F2"/>
          </a:solidFill>
          <a:ln w="5715">
            <a:solidFill>
              <a:srgbClr val="9FB6C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60" b="0">
                <a:solidFill>
                  <a:srgbClr val="111827"/>
                </a:solidFill>
                <a:latin typeface="Arial"/>
              </a:rPr>
              <a:t/>
            </a:r>
          </a:p>
        </p:txBody>
      </p:sp>
      <p:sp>
        <p:nvSpPr>
          <p:cNvPr id="34" name="Matrix cell"/>
          <p:cNvSpPr/>
          <p:nvPr/>
        </p:nvSpPr>
        <p:spPr>
          <a:xfrm>
            <a:off x="1536192" y="2523744"/>
            <a:ext cx="292608" cy="256032"/>
          </a:xfrm>
          <a:prstGeom prst="rect">
            <a:avLst/>
          </a:prstGeom>
          <a:solidFill>
            <a:srgbClr val="DCE6F2"/>
          </a:solidFill>
          <a:ln w="5715">
            <a:solidFill>
              <a:srgbClr val="9FB6C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60" b="0">
                <a:solidFill>
                  <a:srgbClr val="111827"/>
                </a:solidFill>
                <a:latin typeface="Arial"/>
              </a:rPr>
              <a:t>...</a:t>
            </a:r>
          </a:p>
        </p:txBody>
      </p:sp>
      <p:sp>
        <p:nvSpPr>
          <p:cNvPr id="35" name="Matrix cell"/>
          <p:cNvSpPr/>
          <p:nvPr/>
        </p:nvSpPr>
        <p:spPr>
          <a:xfrm>
            <a:off x="1828800" y="2523744"/>
            <a:ext cx="292608" cy="256032"/>
          </a:xfrm>
          <a:prstGeom prst="rect">
            <a:avLst/>
          </a:prstGeom>
          <a:solidFill>
            <a:srgbClr val="DCE6F2"/>
          </a:solidFill>
          <a:ln w="5715">
            <a:solidFill>
              <a:srgbClr val="9FB6C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60" b="0">
                <a:solidFill>
                  <a:srgbClr val="111827"/>
                </a:solidFill>
                <a:latin typeface="Arial"/>
              </a:rPr>
              <a:t/>
            </a:r>
          </a:p>
        </p:txBody>
      </p:sp>
      <p:sp>
        <p:nvSpPr>
          <p:cNvPr id="36" name="Row 0 highlight"/>
          <p:cNvSpPr/>
          <p:nvPr/>
        </p:nvSpPr>
        <p:spPr>
          <a:xfrm>
            <a:off x="411480" y="1472184"/>
            <a:ext cx="1755648" cy="310896"/>
          </a:xfrm>
          <a:prstGeom prst="roundRect">
            <a:avLst/>
          </a:prstGeom>
          <a:noFill/>
          <a:ln w="13970">
            <a:solidFill>
              <a:srgbClr val="D97706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37" name="Row 0 note"/>
          <p:cNvSpPr txBox="1"/>
          <p:nvPr/>
        </p:nvSpPr>
        <p:spPr>
          <a:xfrm>
            <a:off x="402336" y="2926080"/>
            <a:ext cx="21031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90" b="1">
                <a:solidFill>
                  <a:srgbClr val="D97706"/>
                </a:solidFill>
                <a:latin typeface="Arial"/>
              </a:rPr>
              <a:t>row 0 is the CLS token</a:t>
            </a:r>
          </a:p>
        </p:txBody>
      </p:sp>
      <p:cxnSp>
        <p:nvCxnSpPr>
          <p:cNvPr id="38" name="Arrow"/>
          <p:cNvCxnSpPr/>
          <p:nvPr/>
        </p:nvCxnSpPr>
        <p:spPr>
          <a:xfrm>
            <a:off x="2688336" y="2084832"/>
            <a:ext cx="402336" cy="0"/>
          </a:xfrm>
          <a:prstGeom prst="line">
            <a:avLst/>
          </a:prstGeom>
          <a:ln w="17145">
            <a:solidFill>
              <a:srgbClr val="334155"/>
            </a:solidFill>
            <a:tailEnd type="triangle" w="med" h="med"/>
          </a:ln>
        </p:spPr>
      </p:cxnSp>
      <p:sp>
        <p:nvSpPr>
          <p:cNvPr id="39" name="Attention title"/>
          <p:cNvSpPr txBox="1"/>
          <p:nvPr/>
        </p:nvSpPr>
        <p:spPr>
          <a:xfrm>
            <a:off x="3145536" y="914400"/>
            <a:ext cx="26974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70" b="1">
                <a:solidFill>
                  <a:srgbClr val="111827"/>
                </a:solidFill>
                <a:latin typeface="Arial"/>
              </a:rPr>
              <a:t>Inside self-attention</a:t>
            </a:r>
          </a:p>
        </p:txBody>
      </p:sp>
      <p:sp>
        <p:nvSpPr>
          <p:cNvPr id="40" name="Attention formula"/>
          <p:cNvSpPr txBox="1"/>
          <p:nvPr/>
        </p:nvSpPr>
        <p:spPr>
          <a:xfrm>
            <a:off x="3145536" y="1133856"/>
            <a:ext cx="269748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70" b="0">
                <a:solidFill>
                  <a:srgbClr val="4B5563"/>
                </a:solidFill>
                <a:latin typeface="Arial"/>
              </a:rPr>
              <a:t>A = softmax(QK^T / sqrt(d))</a:t>
            </a:r>
          </a:p>
        </p:txBody>
      </p:sp>
      <p:sp>
        <p:nvSpPr>
          <p:cNvPr id="41" name="Matrix cell"/>
          <p:cNvSpPr/>
          <p:nvPr/>
        </p:nvSpPr>
        <p:spPr>
          <a:xfrm>
            <a:off x="3236976" y="1261872"/>
            <a:ext cx="393192" cy="274320"/>
          </a:xfrm>
          <a:prstGeom prst="rect">
            <a:avLst/>
          </a:prstGeom>
          <a:solidFill>
            <a:srgbClr val="F1F5F9"/>
          </a:solidFill>
          <a:ln w="5715">
            <a:solidFill>
              <a:srgbClr val="D1D5D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40" b="1">
                <a:solidFill>
                  <a:srgbClr val="111827"/>
                </a:solidFill>
                <a:latin typeface="Arial"/>
              </a:rPr>
              <a:t/>
            </a:r>
          </a:p>
        </p:txBody>
      </p:sp>
      <p:sp>
        <p:nvSpPr>
          <p:cNvPr id="42" name="Matrix cell"/>
          <p:cNvSpPr/>
          <p:nvPr/>
        </p:nvSpPr>
        <p:spPr>
          <a:xfrm>
            <a:off x="3630168" y="1261872"/>
            <a:ext cx="274320" cy="274320"/>
          </a:xfrm>
          <a:prstGeom prst="rect">
            <a:avLst/>
          </a:prstGeom>
          <a:solidFill>
            <a:srgbClr val="F1F5F9"/>
          </a:solidFill>
          <a:ln w="5715">
            <a:solidFill>
              <a:srgbClr val="D1D5D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40" b="1">
                <a:solidFill>
                  <a:srgbClr val="111827"/>
                </a:solidFill>
                <a:latin typeface="Arial"/>
              </a:rPr>
              <a:t>CLS</a:t>
            </a:r>
          </a:p>
        </p:txBody>
      </p:sp>
      <p:sp>
        <p:nvSpPr>
          <p:cNvPr id="43" name="Matrix cell"/>
          <p:cNvSpPr/>
          <p:nvPr/>
        </p:nvSpPr>
        <p:spPr>
          <a:xfrm>
            <a:off x="3904488" y="1261872"/>
            <a:ext cx="274320" cy="274320"/>
          </a:xfrm>
          <a:prstGeom prst="rect">
            <a:avLst/>
          </a:prstGeom>
          <a:solidFill>
            <a:srgbClr val="F1F5F9"/>
          </a:solidFill>
          <a:ln w="5715">
            <a:solidFill>
              <a:srgbClr val="D1D5D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40" b="1">
                <a:solidFill>
                  <a:srgbClr val="111827"/>
                </a:solidFill>
                <a:latin typeface="Arial"/>
              </a:rPr>
              <a:t>p1</a:t>
            </a:r>
          </a:p>
        </p:txBody>
      </p:sp>
      <p:sp>
        <p:nvSpPr>
          <p:cNvPr id="44" name="Matrix cell"/>
          <p:cNvSpPr/>
          <p:nvPr/>
        </p:nvSpPr>
        <p:spPr>
          <a:xfrm>
            <a:off x="4178808" y="1261872"/>
            <a:ext cx="274320" cy="274320"/>
          </a:xfrm>
          <a:prstGeom prst="rect">
            <a:avLst/>
          </a:prstGeom>
          <a:solidFill>
            <a:srgbClr val="F1F5F9"/>
          </a:solidFill>
          <a:ln w="5715">
            <a:solidFill>
              <a:srgbClr val="D1D5D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40" b="1">
                <a:solidFill>
                  <a:srgbClr val="111827"/>
                </a:solidFill>
                <a:latin typeface="Arial"/>
              </a:rPr>
              <a:t>p2</a:t>
            </a:r>
          </a:p>
        </p:txBody>
      </p:sp>
      <p:sp>
        <p:nvSpPr>
          <p:cNvPr id="45" name="Matrix cell"/>
          <p:cNvSpPr/>
          <p:nvPr/>
        </p:nvSpPr>
        <p:spPr>
          <a:xfrm>
            <a:off x="4453128" y="1261872"/>
            <a:ext cx="274320" cy="274320"/>
          </a:xfrm>
          <a:prstGeom prst="rect">
            <a:avLst/>
          </a:prstGeom>
          <a:solidFill>
            <a:srgbClr val="F1F5F9"/>
          </a:solidFill>
          <a:ln w="5715">
            <a:solidFill>
              <a:srgbClr val="D1D5D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40" b="1">
                <a:solidFill>
                  <a:srgbClr val="111827"/>
                </a:solidFill>
                <a:latin typeface="Arial"/>
              </a:rPr>
              <a:t>...</a:t>
            </a:r>
          </a:p>
        </p:txBody>
      </p:sp>
      <p:sp>
        <p:nvSpPr>
          <p:cNvPr id="46" name="Matrix cell"/>
          <p:cNvSpPr/>
          <p:nvPr/>
        </p:nvSpPr>
        <p:spPr>
          <a:xfrm>
            <a:off x="4727448" y="1261872"/>
            <a:ext cx="274320" cy="274320"/>
          </a:xfrm>
          <a:prstGeom prst="rect">
            <a:avLst/>
          </a:prstGeom>
          <a:solidFill>
            <a:srgbClr val="F1F5F9"/>
          </a:solidFill>
          <a:ln w="5715">
            <a:solidFill>
              <a:srgbClr val="D1D5D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40" b="1">
                <a:solidFill>
                  <a:srgbClr val="111827"/>
                </a:solidFill>
                <a:latin typeface="Arial"/>
              </a:rPr>
              <a:t>p196</a:t>
            </a:r>
          </a:p>
        </p:txBody>
      </p:sp>
      <p:sp>
        <p:nvSpPr>
          <p:cNvPr id="47" name="Matrix cell"/>
          <p:cNvSpPr/>
          <p:nvPr/>
        </p:nvSpPr>
        <p:spPr>
          <a:xfrm>
            <a:off x="3236976" y="1536192"/>
            <a:ext cx="393192" cy="274320"/>
          </a:xfrm>
          <a:prstGeom prst="rect">
            <a:avLst/>
          </a:prstGeom>
          <a:solidFill>
            <a:srgbClr val="FFF7ED"/>
          </a:solidFill>
          <a:ln w="5715">
            <a:solidFill>
              <a:srgbClr val="D97706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50" b="1">
                <a:solidFill>
                  <a:srgbClr val="D97706"/>
                </a:solidFill>
                <a:latin typeface="Arial"/>
              </a:rPr>
              <a:t>CLS</a:t>
            </a:r>
          </a:p>
        </p:txBody>
      </p:sp>
      <p:sp>
        <p:nvSpPr>
          <p:cNvPr id="48" name="Matrix cell"/>
          <p:cNvSpPr/>
          <p:nvPr/>
        </p:nvSpPr>
        <p:spPr>
          <a:xfrm>
            <a:off x="3630168" y="1536192"/>
            <a:ext cx="274320" cy="274320"/>
          </a:xfrm>
          <a:prstGeom prst="rect">
            <a:avLst/>
          </a:prstGeom>
          <a:solidFill>
            <a:srgbClr val="FFF7ED"/>
          </a:solidFill>
          <a:ln w="5715">
            <a:solidFill>
              <a:srgbClr val="D97706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" b="1">
                <a:solidFill>
                  <a:srgbClr val="D97706"/>
                </a:solidFill>
                <a:latin typeface="Arial"/>
              </a:rPr>
              <a:t>0.08</a:t>
            </a:r>
          </a:p>
        </p:txBody>
      </p:sp>
      <p:sp>
        <p:nvSpPr>
          <p:cNvPr id="49" name="Matrix cell"/>
          <p:cNvSpPr/>
          <p:nvPr/>
        </p:nvSpPr>
        <p:spPr>
          <a:xfrm>
            <a:off x="3904488" y="1536192"/>
            <a:ext cx="274320" cy="274320"/>
          </a:xfrm>
          <a:prstGeom prst="rect">
            <a:avLst/>
          </a:prstGeom>
          <a:solidFill>
            <a:srgbClr val="FFF7ED"/>
          </a:solidFill>
          <a:ln w="5715">
            <a:solidFill>
              <a:srgbClr val="D97706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" b="1">
                <a:solidFill>
                  <a:srgbClr val="D97706"/>
                </a:solidFill>
                <a:latin typeface="Arial"/>
              </a:rPr>
              <a:t>0.21</a:t>
            </a:r>
          </a:p>
        </p:txBody>
      </p:sp>
      <p:sp>
        <p:nvSpPr>
          <p:cNvPr id="50" name="Matrix cell"/>
          <p:cNvSpPr/>
          <p:nvPr/>
        </p:nvSpPr>
        <p:spPr>
          <a:xfrm>
            <a:off x="4178808" y="1536192"/>
            <a:ext cx="274320" cy="274320"/>
          </a:xfrm>
          <a:prstGeom prst="rect">
            <a:avLst/>
          </a:prstGeom>
          <a:solidFill>
            <a:srgbClr val="FFF7ED"/>
          </a:solidFill>
          <a:ln w="5715">
            <a:solidFill>
              <a:srgbClr val="D97706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" b="1">
                <a:solidFill>
                  <a:srgbClr val="D97706"/>
                </a:solidFill>
                <a:latin typeface="Arial"/>
              </a:rPr>
              <a:t>0.04</a:t>
            </a:r>
          </a:p>
        </p:txBody>
      </p:sp>
      <p:sp>
        <p:nvSpPr>
          <p:cNvPr id="51" name="Matrix cell"/>
          <p:cNvSpPr/>
          <p:nvPr/>
        </p:nvSpPr>
        <p:spPr>
          <a:xfrm>
            <a:off x="4453128" y="1536192"/>
            <a:ext cx="274320" cy="274320"/>
          </a:xfrm>
          <a:prstGeom prst="rect">
            <a:avLst/>
          </a:prstGeom>
          <a:solidFill>
            <a:srgbClr val="FFF7ED"/>
          </a:solidFill>
          <a:ln w="5715">
            <a:solidFill>
              <a:srgbClr val="D97706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" b="1">
                <a:solidFill>
                  <a:srgbClr val="D97706"/>
                </a:solidFill>
                <a:latin typeface="Arial"/>
              </a:rPr>
              <a:t>...</a:t>
            </a:r>
          </a:p>
        </p:txBody>
      </p:sp>
      <p:sp>
        <p:nvSpPr>
          <p:cNvPr id="52" name="Matrix cell"/>
          <p:cNvSpPr/>
          <p:nvPr/>
        </p:nvSpPr>
        <p:spPr>
          <a:xfrm>
            <a:off x="4727448" y="1536192"/>
            <a:ext cx="274320" cy="274320"/>
          </a:xfrm>
          <a:prstGeom prst="rect">
            <a:avLst/>
          </a:prstGeom>
          <a:solidFill>
            <a:srgbClr val="FFF7ED"/>
          </a:solidFill>
          <a:ln w="5715">
            <a:solidFill>
              <a:srgbClr val="D97706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" b="1">
                <a:solidFill>
                  <a:srgbClr val="D97706"/>
                </a:solidFill>
                <a:latin typeface="Arial"/>
              </a:rPr>
              <a:t>0.12</a:t>
            </a:r>
          </a:p>
        </p:txBody>
      </p:sp>
      <p:sp>
        <p:nvSpPr>
          <p:cNvPr id="53" name="Matrix cell"/>
          <p:cNvSpPr/>
          <p:nvPr/>
        </p:nvSpPr>
        <p:spPr>
          <a:xfrm>
            <a:off x="3236976" y="1810512"/>
            <a:ext cx="393192" cy="274320"/>
          </a:xfrm>
          <a:prstGeom prst="rect">
            <a:avLst/>
          </a:prstGeom>
          <a:solidFill>
            <a:srgbClr val="FFFFFF"/>
          </a:solidFill>
          <a:ln w="5715">
            <a:solidFill>
              <a:srgbClr val="D1D5D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50" b="0">
                <a:solidFill>
                  <a:srgbClr val="111827"/>
                </a:solidFill>
                <a:latin typeface="Arial"/>
              </a:rPr>
              <a:t>p1</a:t>
            </a:r>
          </a:p>
        </p:txBody>
      </p:sp>
      <p:sp>
        <p:nvSpPr>
          <p:cNvPr id="54" name="Matrix cell"/>
          <p:cNvSpPr/>
          <p:nvPr/>
        </p:nvSpPr>
        <p:spPr>
          <a:xfrm>
            <a:off x="3630168" y="1810512"/>
            <a:ext cx="274320" cy="274320"/>
          </a:xfrm>
          <a:prstGeom prst="rect">
            <a:avLst/>
          </a:prstGeom>
          <a:solidFill>
            <a:srgbClr val="FFFFFF"/>
          </a:solidFill>
          <a:ln w="5715">
            <a:solidFill>
              <a:srgbClr val="D1D5D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" b="0">
                <a:solidFill>
                  <a:srgbClr val="4B5563"/>
                </a:solidFill>
                <a:latin typeface="Arial"/>
              </a:rPr>
              <a:t/>
            </a:r>
          </a:p>
        </p:txBody>
      </p:sp>
      <p:sp>
        <p:nvSpPr>
          <p:cNvPr id="55" name="Matrix cell"/>
          <p:cNvSpPr/>
          <p:nvPr/>
        </p:nvSpPr>
        <p:spPr>
          <a:xfrm>
            <a:off x="3904488" y="1810512"/>
            <a:ext cx="274320" cy="274320"/>
          </a:xfrm>
          <a:prstGeom prst="rect">
            <a:avLst/>
          </a:prstGeom>
          <a:solidFill>
            <a:srgbClr val="FFFFFF"/>
          </a:solidFill>
          <a:ln w="5715">
            <a:solidFill>
              <a:srgbClr val="D1D5D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" b="0">
                <a:solidFill>
                  <a:srgbClr val="4B5563"/>
                </a:solidFill>
                <a:latin typeface="Arial"/>
              </a:rPr>
              <a:t/>
            </a:r>
          </a:p>
        </p:txBody>
      </p:sp>
      <p:sp>
        <p:nvSpPr>
          <p:cNvPr id="56" name="Matrix cell"/>
          <p:cNvSpPr/>
          <p:nvPr/>
        </p:nvSpPr>
        <p:spPr>
          <a:xfrm>
            <a:off x="4178808" y="1810512"/>
            <a:ext cx="274320" cy="274320"/>
          </a:xfrm>
          <a:prstGeom prst="rect">
            <a:avLst/>
          </a:prstGeom>
          <a:solidFill>
            <a:srgbClr val="FFFFFF"/>
          </a:solidFill>
          <a:ln w="5715">
            <a:solidFill>
              <a:srgbClr val="D1D5D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" b="0">
                <a:solidFill>
                  <a:srgbClr val="4B5563"/>
                </a:solidFill>
                <a:latin typeface="Arial"/>
              </a:rPr>
              <a:t/>
            </a:r>
          </a:p>
        </p:txBody>
      </p:sp>
      <p:sp>
        <p:nvSpPr>
          <p:cNvPr id="57" name="Matrix cell"/>
          <p:cNvSpPr/>
          <p:nvPr/>
        </p:nvSpPr>
        <p:spPr>
          <a:xfrm>
            <a:off x="4453128" y="1810512"/>
            <a:ext cx="274320" cy="274320"/>
          </a:xfrm>
          <a:prstGeom prst="rect">
            <a:avLst/>
          </a:prstGeom>
          <a:solidFill>
            <a:srgbClr val="FFFFFF"/>
          </a:solidFill>
          <a:ln w="5715">
            <a:solidFill>
              <a:srgbClr val="D1D5D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" b="0">
                <a:solidFill>
                  <a:srgbClr val="4B5563"/>
                </a:solidFill>
                <a:latin typeface="Arial"/>
              </a:rPr>
              <a:t/>
            </a:r>
          </a:p>
        </p:txBody>
      </p:sp>
      <p:sp>
        <p:nvSpPr>
          <p:cNvPr id="58" name="Matrix cell"/>
          <p:cNvSpPr/>
          <p:nvPr/>
        </p:nvSpPr>
        <p:spPr>
          <a:xfrm>
            <a:off x="4727448" y="1810512"/>
            <a:ext cx="274320" cy="274320"/>
          </a:xfrm>
          <a:prstGeom prst="rect">
            <a:avLst/>
          </a:prstGeom>
          <a:solidFill>
            <a:srgbClr val="FFFFFF"/>
          </a:solidFill>
          <a:ln w="5715">
            <a:solidFill>
              <a:srgbClr val="D1D5D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" b="0">
                <a:solidFill>
                  <a:srgbClr val="4B5563"/>
                </a:solidFill>
                <a:latin typeface="Arial"/>
              </a:rPr>
              <a:t/>
            </a:r>
          </a:p>
        </p:txBody>
      </p:sp>
      <p:sp>
        <p:nvSpPr>
          <p:cNvPr id="59" name="Matrix cell"/>
          <p:cNvSpPr/>
          <p:nvPr/>
        </p:nvSpPr>
        <p:spPr>
          <a:xfrm>
            <a:off x="3236976" y="2084832"/>
            <a:ext cx="393192" cy="274320"/>
          </a:xfrm>
          <a:prstGeom prst="rect">
            <a:avLst/>
          </a:prstGeom>
          <a:solidFill>
            <a:srgbClr val="FFFFFF"/>
          </a:solidFill>
          <a:ln w="5715">
            <a:solidFill>
              <a:srgbClr val="D1D5D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50" b="0">
                <a:solidFill>
                  <a:srgbClr val="111827"/>
                </a:solidFill>
                <a:latin typeface="Arial"/>
              </a:rPr>
              <a:t>p2</a:t>
            </a:r>
          </a:p>
        </p:txBody>
      </p:sp>
      <p:sp>
        <p:nvSpPr>
          <p:cNvPr id="60" name="Matrix cell"/>
          <p:cNvSpPr/>
          <p:nvPr/>
        </p:nvSpPr>
        <p:spPr>
          <a:xfrm>
            <a:off x="3630168" y="2084832"/>
            <a:ext cx="274320" cy="274320"/>
          </a:xfrm>
          <a:prstGeom prst="rect">
            <a:avLst/>
          </a:prstGeom>
          <a:solidFill>
            <a:srgbClr val="FFFFFF"/>
          </a:solidFill>
          <a:ln w="5715">
            <a:solidFill>
              <a:srgbClr val="D1D5D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" b="0">
                <a:solidFill>
                  <a:srgbClr val="4B5563"/>
                </a:solidFill>
                <a:latin typeface="Arial"/>
              </a:rPr>
              <a:t/>
            </a:r>
          </a:p>
        </p:txBody>
      </p:sp>
      <p:sp>
        <p:nvSpPr>
          <p:cNvPr id="61" name="Matrix cell"/>
          <p:cNvSpPr/>
          <p:nvPr/>
        </p:nvSpPr>
        <p:spPr>
          <a:xfrm>
            <a:off x="3904488" y="2084832"/>
            <a:ext cx="274320" cy="274320"/>
          </a:xfrm>
          <a:prstGeom prst="rect">
            <a:avLst/>
          </a:prstGeom>
          <a:solidFill>
            <a:srgbClr val="FFFFFF"/>
          </a:solidFill>
          <a:ln w="5715">
            <a:solidFill>
              <a:srgbClr val="D1D5D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" b="0">
                <a:solidFill>
                  <a:srgbClr val="4B5563"/>
                </a:solidFill>
                <a:latin typeface="Arial"/>
              </a:rPr>
              <a:t/>
            </a:r>
          </a:p>
        </p:txBody>
      </p:sp>
      <p:sp>
        <p:nvSpPr>
          <p:cNvPr id="62" name="Matrix cell"/>
          <p:cNvSpPr/>
          <p:nvPr/>
        </p:nvSpPr>
        <p:spPr>
          <a:xfrm>
            <a:off x="4178808" y="2084832"/>
            <a:ext cx="274320" cy="274320"/>
          </a:xfrm>
          <a:prstGeom prst="rect">
            <a:avLst/>
          </a:prstGeom>
          <a:solidFill>
            <a:srgbClr val="FFFFFF"/>
          </a:solidFill>
          <a:ln w="5715">
            <a:solidFill>
              <a:srgbClr val="D1D5D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" b="0">
                <a:solidFill>
                  <a:srgbClr val="4B5563"/>
                </a:solidFill>
                <a:latin typeface="Arial"/>
              </a:rPr>
              <a:t/>
            </a:r>
          </a:p>
        </p:txBody>
      </p:sp>
      <p:sp>
        <p:nvSpPr>
          <p:cNvPr id="63" name="Matrix cell"/>
          <p:cNvSpPr/>
          <p:nvPr/>
        </p:nvSpPr>
        <p:spPr>
          <a:xfrm>
            <a:off x="4453128" y="2084832"/>
            <a:ext cx="274320" cy="274320"/>
          </a:xfrm>
          <a:prstGeom prst="rect">
            <a:avLst/>
          </a:prstGeom>
          <a:solidFill>
            <a:srgbClr val="FFFFFF"/>
          </a:solidFill>
          <a:ln w="5715">
            <a:solidFill>
              <a:srgbClr val="D1D5D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" b="0">
                <a:solidFill>
                  <a:srgbClr val="4B5563"/>
                </a:solidFill>
                <a:latin typeface="Arial"/>
              </a:rPr>
              <a:t/>
            </a:r>
          </a:p>
        </p:txBody>
      </p:sp>
      <p:sp>
        <p:nvSpPr>
          <p:cNvPr id="64" name="Matrix cell"/>
          <p:cNvSpPr/>
          <p:nvPr/>
        </p:nvSpPr>
        <p:spPr>
          <a:xfrm>
            <a:off x="4727448" y="2084832"/>
            <a:ext cx="274320" cy="274320"/>
          </a:xfrm>
          <a:prstGeom prst="rect">
            <a:avLst/>
          </a:prstGeom>
          <a:solidFill>
            <a:srgbClr val="FFFFFF"/>
          </a:solidFill>
          <a:ln w="5715">
            <a:solidFill>
              <a:srgbClr val="D1D5D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" b="0">
                <a:solidFill>
                  <a:srgbClr val="4B5563"/>
                </a:solidFill>
                <a:latin typeface="Arial"/>
              </a:rPr>
              <a:t/>
            </a:r>
          </a:p>
        </p:txBody>
      </p:sp>
      <p:sp>
        <p:nvSpPr>
          <p:cNvPr id="65" name="Matrix cell"/>
          <p:cNvSpPr/>
          <p:nvPr/>
        </p:nvSpPr>
        <p:spPr>
          <a:xfrm>
            <a:off x="3236976" y="2359152"/>
            <a:ext cx="393192" cy="274320"/>
          </a:xfrm>
          <a:prstGeom prst="rect">
            <a:avLst/>
          </a:prstGeom>
          <a:solidFill>
            <a:srgbClr val="FFFFFF"/>
          </a:solidFill>
          <a:ln w="5715">
            <a:solidFill>
              <a:srgbClr val="D1D5D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50" b="0">
                <a:solidFill>
                  <a:srgbClr val="111827"/>
                </a:solidFill>
                <a:latin typeface="Arial"/>
              </a:rPr>
              <a:t>...</a:t>
            </a:r>
          </a:p>
        </p:txBody>
      </p:sp>
      <p:sp>
        <p:nvSpPr>
          <p:cNvPr id="66" name="Matrix cell"/>
          <p:cNvSpPr/>
          <p:nvPr/>
        </p:nvSpPr>
        <p:spPr>
          <a:xfrm>
            <a:off x="3630168" y="2359152"/>
            <a:ext cx="274320" cy="274320"/>
          </a:xfrm>
          <a:prstGeom prst="rect">
            <a:avLst/>
          </a:prstGeom>
          <a:solidFill>
            <a:srgbClr val="FFFFFF"/>
          </a:solidFill>
          <a:ln w="5715">
            <a:solidFill>
              <a:srgbClr val="D1D5D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" b="0">
                <a:solidFill>
                  <a:srgbClr val="4B5563"/>
                </a:solidFill>
                <a:latin typeface="Arial"/>
              </a:rPr>
              <a:t/>
            </a:r>
          </a:p>
        </p:txBody>
      </p:sp>
      <p:sp>
        <p:nvSpPr>
          <p:cNvPr id="67" name="Matrix cell"/>
          <p:cNvSpPr/>
          <p:nvPr/>
        </p:nvSpPr>
        <p:spPr>
          <a:xfrm>
            <a:off x="3904488" y="2359152"/>
            <a:ext cx="274320" cy="274320"/>
          </a:xfrm>
          <a:prstGeom prst="rect">
            <a:avLst/>
          </a:prstGeom>
          <a:solidFill>
            <a:srgbClr val="FFFFFF"/>
          </a:solidFill>
          <a:ln w="5715">
            <a:solidFill>
              <a:srgbClr val="D1D5D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" b="0">
                <a:solidFill>
                  <a:srgbClr val="4B5563"/>
                </a:solidFill>
                <a:latin typeface="Arial"/>
              </a:rPr>
              <a:t/>
            </a:r>
          </a:p>
        </p:txBody>
      </p:sp>
      <p:sp>
        <p:nvSpPr>
          <p:cNvPr id="68" name="Matrix cell"/>
          <p:cNvSpPr/>
          <p:nvPr/>
        </p:nvSpPr>
        <p:spPr>
          <a:xfrm>
            <a:off x="4178808" y="2359152"/>
            <a:ext cx="274320" cy="274320"/>
          </a:xfrm>
          <a:prstGeom prst="rect">
            <a:avLst/>
          </a:prstGeom>
          <a:solidFill>
            <a:srgbClr val="FFFFFF"/>
          </a:solidFill>
          <a:ln w="5715">
            <a:solidFill>
              <a:srgbClr val="D1D5D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" b="0">
                <a:solidFill>
                  <a:srgbClr val="4B5563"/>
                </a:solidFill>
                <a:latin typeface="Arial"/>
              </a:rPr>
              <a:t/>
            </a:r>
          </a:p>
        </p:txBody>
      </p:sp>
      <p:sp>
        <p:nvSpPr>
          <p:cNvPr id="69" name="Matrix cell"/>
          <p:cNvSpPr/>
          <p:nvPr/>
        </p:nvSpPr>
        <p:spPr>
          <a:xfrm>
            <a:off x="4453128" y="2359152"/>
            <a:ext cx="274320" cy="274320"/>
          </a:xfrm>
          <a:prstGeom prst="rect">
            <a:avLst/>
          </a:prstGeom>
          <a:solidFill>
            <a:srgbClr val="FFFFFF"/>
          </a:solidFill>
          <a:ln w="5715">
            <a:solidFill>
              <a:srgbClr val="D1D5D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" b="0">
                <a:solidFill>
                  <a:srgbClr val="4B5563"/>
                </a:solidFill>
                <a:latin typeface="Arial"/>
              </a:rPr>
              <a:t/>
            </a:r>
          </a:p>
        </p:txBody>
      </p:sp>
      <p:sp>
        <p:nvSpPr>
          <p:cNvPr id="70" name="Matrix cell"/>
          <p:cNvSpPr/>
          <p:nvPr/>
        </p:nvSpPr>
        <p:spPr>
          <a:xfrm>
            <a:off x="4727448" y="2359152"/>
            <a:ext cx="274320" cy="274320"/>
          </a:xfrm>
          <a:prstGeom prst="rect">
            <a:avLst/>
          </a:prstGeom>
          <a:solidFill>
            <a:srgbClr val="FFFFFF"/>
          </a:solidFill>
          <a:ln w="5715">
            <a:solidFill>
              <a:srgbClr val="D1D5D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" b="0">
                <a:solidFill>
                  <a:srgbClr val="4B5563"/>
                </a:solidFill>
                <a:latin typeface="Arial"/>
              </a:rPr>
              <a:t/>
            </a:r>
          </a:p>
        </p:txBody>
      </p:sp>
      <p:sp>
        <p:nvSpPr>
          <p:cNvPr id="71" name="Matrix cell"/>
          <p:cNvSpPr/>
          <p:nvPr/>
        </p:nvSpPr>
        <p:spPr>
          <a:xfrm>
            <a:off x="3236976" y="2633472"/>
            <a:ext cx="393192" cy="274320"/>
          </a:xfrm>
          <a:prstGeom prst="rect">
            <a:avLst/>
          </a:prstGeom>
          <a:solidFill>
            <a:srgbClr val="FFFFFF"/>
          </a:solidFill>
          <a:ln w="5715">
            <a:solidFill>
              <a:srgbClr val="D1D5D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50" b="0">
                <a:solidFill>
                  <a:srgbClr val="111827"/>
                </a:solidFill>
                <a:latin typeface="Arial"/>
              </a:rPr>
              <a:t>p196</a:t>
            </a:r>
          </a:p>
        </p:txBody>
      </p:sp>
      <p:sp>
        <p:nvSpPr>
          <p:cNvPr id="72" name="Matrix cell"/>
          <p:cNvSpPr/>
          <p:nvPr/>
        </p:nvSpPr>
        <p:spPr>
          <a:xfrm>
            <a:off x="3630168" y="2633472"/>
            <a:ext cx="274320" cy="274320"/>
          </a:xfrm>
          <a:prstGeom prst="rect">
            <a:avLst/>
          </a:prstGeom>
          <a:solidFill>
            <a:srgbClr val="FFFFFF"/>
          </a:solidFill>
          <a:ln w="5715">
            <a:solidFill>
              <a:srgbClr val="D1D5D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" b="0">
                <a:solidFill>
                  <a:srgbClr val="4B5563"/>
                </a:solidFill>
                <a:latin typeface="Arial"/>
              </a:rPr>
              <a:t/>
            </a:r>
          </a:p>
        </p:txBody>
      </p:sp>
      <p:sp>
        <p:nvSpPr>
          <p:cNvPr id="73" name="Matrix cell"/>
          <p:cNvSpPr/>
          <p:nvPr/>
        </p:nvSpPr>
        <p:spPr>
          <a:xfrm>
            <a:off x="3904488" y="2633472"/>
            <a:ext cx="274320" cy="274320"/>
          </a:xfrm>
          <a:prstGeom prst="rect">
            <a:avLst/>
          </a:prstGeom>
          <a:solidFill>
            <a:srgbClr val="FFFFFF"/>
          </a:solidFill>
          <a:ln w="5715">
            <a:solidFill>
              <a:srgbClr val="D1D5D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" b="0">
                <a:solidFill>
                  <a:srgbClr val="4B5563"/>
                </a:solidFill>
                <a:latin typeface="Arial"/>
              </a:rPr>
              <a:t/>
            </a:r>
          </a:p>
        </p:txBody>
      </p:sp>
      <p:sp>
        <p:nvSpPr>
          <p:cNvPr id="74" name="Matrix cell"/>
          <p:cNvSpPr/>
          <p:nvPr/>
        </p:nvSpPr>
        <p:spPr>
          <a:xfrm>
            <a:off x="4178808" y="2633472"/>
            <a:ext cx="274320" cy="274320"/>
          </a:xfrm>
          <a:prstGeom prst="rect">
            <a:avLst/>
          </a:prstGeom>
          <a:solidFill>
            <a:srgbClr val="FFFFFF"/>
          </a:solidFill>
          <a:ln w="5715">
            <a:solidFill>
              <a:srgbClr val="D1D5D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" b="0">
                <a:solidFill>
                  <a:srgbClr val="4B5563"/>
                </a:solidFill>
                <a:latin typeface="Arial"/>
              </a:rPr>
              <a:t/>
            </a:r>
          </a:p>
        </p:txBody>
      </p:sp>
      <p:sp>
        <p:nvSpPr>
          <p:cNvPr id="75" name="Matrix cell"/>
          <p:cNvSpPr/>
          <p:nvPr/>
        </p:nvSpPr>
        <p:spPr>
          <a:xfrm>
            <a:off x="4453128" y="2633472"/>
            <a:ext cx="274320" cy="274320"/>
          </a:xfrm>
          <a:prstGeom prst="rect">
            <a:avLst/>
          </a:prstGeom>
          <a:solidFill>
            <a:srgbClr val="FFFFFF"/>
          </a:solidFill>
          <a:ln w="5715">
            <a:solidFill>
              <a:srgbClr val="D1D5D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" b="0">
                <a:solidFill>
                  <a:srgbClr val="4B5563"/>
                </a:solidFill>
                <a:latin typeface="Arial"/>
              </a:rPr>
              <a:t/>
            </a:r>
          </a:p>
        </p:txBody>
      </p:sp>
      <p:sp>
        <p:nvSpPr>
          <p:cNvPr id="76" name="Matrix cell"/>
          <p:cNvSpPr/>
          <p:nvPr/>
        </p:nvSpPr>
        <p:spPr>
          <a:xfrm>
            <a:off x="4727448" y="2633472"/>
            <a:ext cx="274320" cy="274320"/>
          </a:xfrm>
          <a:prstGeom prst="rect">
            <a:avLst/>
          </a:prstGeom>
          <a:solidFill>
            <a:srgbClr val="FFFFFF"/>
          </a:solidFill>
          <a:ln w="5715">
            <a:solidFill>
              <a:srgbClr val="D1D5D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" b="0">
                <a:solidFill>
                  <a:srgbClr val="4B5563"/>
                </a:solidFill>
                <a:latin typeface="Arial"/>
              </a:rPr>
              <a:t/>
            </a:r>
          </a:p>
        </p:txBody>
      </p:sp>
      <p:sp>
        <p:nvSpPr>
          <p:cNvPr id="77" name="CLS attention row highlight"/>
          <p:cNvSpPr/>
          <p:nvPr/>
        </p:nvSpPr>
        <p:spPr>
          <a:xfrm>
            <a:off x="3200400" y="1508760"/>
            <a:ext cx="1837944" cy="329184"/>
          </a:xfrm>
          <a:prstGeom prst="roundRect">
            <a:avLst/>
          </a:prstGeom>
          <a:noFill/>
          <a:ln w="15240">
            <a:solidFill>
              <a:srgbClr val="D97706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78" name="CLS row note"/>
          <p:cNvSpPr txBox="1"/>
          <p:nvPr/>
        </p:nvSpPr>
        <p:spPr>
          <a:xfrm>
            <a:off x="3182112" y="3072384"/>
            <a:ext cx="21488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70" b="1">
                <a:solidFill>
                  <a:srgbClr val="D97706"/>
                </a:solidFill>
                <a:latin typeface="Arial"/>
              </a:rPr>
              <a:t>CLS row = how much row 0</a:t>
            </a:r>
          </a:p>
          <a:p>
            <a:pPr algn="ctr"/>
            <a:r>
              <a:rPr sz="670" b="1">
                <a:solidFill>
                  <a:srgbClr val="D97706"/>
                </a:solidFill>
                <a:latin typeface="Arial"/>
              </a:rPr>
              <a:t>reads from each token</a:t>
            </a:r>
          </a:p>
        </p:txBody>
      </p:sp>
      <p:cxnSp>
        <p:nvCxnSpPr>
          <p:cNvPr id="79" name="Arrow"/>
          <p:cNvCxnSpPr/>
          <p:nvPr/>
        </p:nvCxnSpPr>
        <p:spPr>
          <a:xfrm>
            <a:off x="5266944" y="2084832"/>
            <a:ext cx="420624" cy="0"/>
          </a:xfrm>
          <a:prstGeom prst="line">
            <a:avLst/>
          </a:prstGeom>
          <a:ln w="17145">
            <a:solidFill>
              <a:srgbClr val="334155"/>
            </a:solidFill>
            <a:tailEnd type="triangle" w="med" h="med"/>
          </a:ln>
        </p:spPr>
      </p:cxnSp>
      <p:sp>
        <p:nvSpPr>
          <p:cNvPr id="80" name="Formula box"/>
          <p:cNvSpPr/>
          <p:nvPr/>
        </p:nvSpPr>
        <p:spPr>
          <a:xfrm>
            <a:off x="5559552" y="1536192"/>
            <a:ext cx="2377440" cy="877824"/>
          </a:xfrm>
          <a:prstGeom prst="roundRect">
            <a:avLst/>
          </a:prstGeom>
          <a:solidFill>
            <a:srgbClr val="FFF7ED"/>
          </a:solidFill>
          <a:ln w="11430">
            <a:solidFill>
              <a:srgbClr val="D97706"/>
            </a:solidFill>
          </a:ln>
        </p:spPr>
        <p:txBody>
          <a:bodyPr rtlCol="0" anchor="ctr"/>
          <a:lstStyle/>
          <a:p/>
        </p:txBody>
      </p:sp>
      <p:sp>
        <p:nvSpPr>
          <p:cNvPr id="81" name="Formula title"/>
          <p:cNvSpPr txBox="1"/>
          <p:nvPr/>
        </p:nvSpPr>
        <p:spPr>
          <a:xfrm>
            <a:off x="5687568" y="1655064"/>
            <a:ext cx="2121408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40" b="1">
                <a:solidFill>
                  <a:srgbClr val="D97706"/>
                </a:solidFill>
                <a:latin typeface="Arial"/>
              </a:rPr>
              <a:t>CLS is updated by attention</a:t>
            </a:r>
          </a:p>
        </p:txBody>
      </p:sp>
      <p:sp>
        <p:nvSpPr>
          <p:cNvPr id="82" name="Formula body"/>
          <p:cNvSpPr txBox="1"/>
          <p:nvPr/>
        </p:nvSpPr>
        <p:spPr>
          <a:xfrm>
            <a:off x="5669280" y="1883664"/>
            <a:ext cx="2157984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30" b="1">
                <a:solidFill>
                  <a:srgbClr val="111827"/>
                </a:solidFill>
                <a:latin typeface="Arial"/>
              </a:rPr>
              <a:t>CLS_next = sum_j A[CLS,j] V_j</a:t>
            </a:r>
          </a:p>
        </p:txBody>
      </p:sp>
      <p:sp>
        <p:nvSpPr>
          <p:cNvPr id="83" name="Formula note"/>
          <p:cNvSpPr txBox="1"/>
          <p:nvPr/>
        </p:nvSpPr>
        <p:spPr>
          <a:xfrm>
            <a:off x="5669280" y="2121408"/>
            <a:ext cx="2157984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60" b="0">
                <a:solidFill>
                  <a:srgbClr val="4B5563"/>
                </a:solidFill>
                <a:latin typeface="Arial"/>
              </a:rPr>
              <a:t>+ residual + MLP inside each block</a:t>
            </a:r>
          </a:p>
        </p:txBody>
      </p:sp>
      <p:cxnSp>
        <p:nvCxnSpPr>
          <p:cNvPr id="84" name="Arrow"/>
          <p:cNvCxnSpPr/>
          <p:nvPr/>
        </p:nvCxnSpPr>
        <p:spPr>
          <a:xfrm>
            <a:off x="7955280" y="2084832"/>
            <a:ext cx="91440" cy="0"/>
          </a:xfrm>
          <a:prstGeom prst="line">
            <a:avLst/>
          </a:prstGeom>
          <a:ln w="17145">
            <a:solidFill>
              <a:srgbClr val="334155"/>
            </a:solidFill>
            <a:tailEnd type="triangle" w="med" h="med"/>
          </a:ln>
        </p:spPr>
      </p:cxnSp>
      <p:sp>
        <p:nvSpPr>
          <p:cNvPr id="85" name="Repeat title"/>
          <p:cNvSpPr txBox="1"/>
          <p:nvPr/>
        </p:nvSpPr>
        <p:spPr>
          <a:xfrm>
            <a:off x="7991856" y="1024128"/>
            <a:ext cx="1901952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40" b="1">
                <a:solidFill>
                  <a:srgbClr val="111827"/>
                </a:solidFill>
                <a:latin typeface="Arial"/>
              </a:rPr>
              <a:t>Repeat 12 times</a:t>
            </a:r>
          </a:p>
        </p:txBody>
      </p:sp>
      <p:sp>
        <p:nvSpPr>
          <p:cNvPr id="86" name="Mini ViT block"/>
          <p:cNvSpPr/>
          <p:nvPr/>
        </p:nvSpPr>
        <p:spPr>
          <a:xfrm>
            <a:off x="8065008" y="1353312"/>
            <a:ext cx="1737360" cy="210312"/>
          </a:xfrm>
          <a:prstGeom prst="roundRect">
            <a:avLst/>
          </a:prstGeom>
          <a:solidFill>
            <a:srgbClr val="DCE6F2"/>
          </a:solidFill>
          <a:ln w="7620">
            <a:solidFill>
              <a:srgbClr val="9FB6C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40" b="0">
                <a:solidFill>
                  <a:srgbClr val="111827"/>
                </a:solidFill>
                <a:latin typeface="Arial"/>
              </a:rPr>
              <a:t>Block 1</a:t>
            </a:r>
          </a:p>
        </p:txBody>
      </p:sp>
      <p:cxnSp>
        <p:nvCxnSpPr>
          <p:cNvPr id="87" name="Arrow"/>
          <p:cNvCxnSpPr/>
          <p:nvPr/>
        </p:nvCxnSpPr>
        <p:spPr>
          <a:xfrm>
            <a:off x="8933688" y="1572768"/>
            <a:ext cx="0" cy="64008"/>
          </a:xfrm>
          <a:prstGeom prst="line">
            <a:avLst/>
          </a:prstGeom>
          <a:ln w="17145">
            <a:solidFill>
              <a:srgbClr val="334155"/>
            </a:solidFill>
            <a:tailEnd type="triangle" w="med" h="med"/>
          </a:ln>
        </p:spPr>
      </p:cxnSp>
      <p:sp>
        <p:nvSpPr>
          <p:cNvPr id="88" name="Mini ViT block"/>
          <p:cNvSpPr/>
          <p:nvPr/>
        </p:nvSpPr>
        <p:spPr>
          <a:xfrm>
            <a:off x="8065008" y="1664208"/>
            <a:ext cx="1737360" cy="210312"/>
          </a:xfrm>
          <a:prstGeom prst="roundRect">
            <a:avLst/>
          </a:prstGeom>
          <a:solidFill>
            <a:srgbClr val="DCE6F2"/>
          </a:solidFill>
          <a:ln w="7620">
            <a:solidFill>
              <a:srgbClr val="9FB6C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40" b="0">
                <a:solidFill>
                  <a:srgbClr val="111827"/>
                </a:solidFill>
                <a:latin typeface="Arial"/>
              </a:rPr>
              <a:t>Block 2</a:t>
            </a:r>
          </a:p>
        </p:txBody>
      </p:sp>
      <p:cxnSp>
        <p:nvCxnSpPr>
          <p:cNvPr id="89" name="Arrow"/>
          <p:cNvCxnSpPr/>
          <p:nvPr/>
        </p:nvCxnSpPr>
        <p:spPr>
          <a:xfrm>
            <a:off x="8933688" y="1883664"/>
            <a:ext cx="0" cy="64008"/>
          </a:xfrm>
          <a:prstGeom prst="line">
            <a:avLst/>
          </a:prstGeom>
          <a:ln w="17145">
            <a:solidFill>
              <a:srgbClr val="334155"/>
            </a:solidFill>
            <a:tailEnd type="triangle" w="med" h="med"/>
          </a:ln>
        </p:spPr>
      </p:cxnSp>
      <p:sp>
        <p:nvSpPr>
          <p:cNvPr id="90" name="Mini ViT block"/>
          <p:cNvSpPr/>
          <p:nvPr/>
        </p:nvSpPr>
        <p:spPr>
          <a:xfrm>
            <a:off x="8065008" y="1975104"/>
            <a:ext cx="1737360" cy="210312"/>
          </a:xfrm>
          <a:prstGeom prst="roundRect">
            <a:avLst/>
          </a:prstGeom>
          <a:solidFill>
            <a:srgbClr val="DCE6F2"/>
          </a:solidFill>
          <a:ln w="7620">
            <a:solidFill>
              <a:srgbClr val="9FB6C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40" b="0">
                <a:solidFill>
                  <a:srgbClr val="111827"/>
                </a:solidFill>
                <a:latin typeface="Arial"/>
              </a:rPr>
              <a:t>...</a:t>
            </a:r>
          </a:p>
        </p:txBody>
      </p:sp>
      <p:cxnSp>
        <p:nvCxnSpPr>
          <p:cNvPr id="91" name="Arrow"/>
          <p:cNvCxnSpPr/>
          <p:nvPr/>
        </p:nvCxnSpPr>
        <p:spPr>
          <a:xfrm>
            <a:off x="8933688" y="2194560"/>
            <a:ext cx="0" cy="64008"/>
          </a:xfrm>
          <a:prstGeom prst="line">
            <a:avLst/>
          </a:prstGeom>
          <a:ln w="17145">
            <a:solidFill>
              <a:srgbClr val="334155"/>
            </a:solidFill>
            <a:tailEnd type="triangle" w="med" h="med"/>
          </a:ln>
        </p:spPr>
      </p:cxnSp>
      <p:sp>
        <p:nvSpPr>
          <p:cNvPr id="92" name="Mini ViT block"/>
          <p:cNvSpPr/>
          <p:nvPr/>
        </p:nvSpPr>
        <p:spPr>
          <a:xfrm>
            <a:off x="8065008" y="2286000"/>
            <a:ext cx="1737360" cy="210312"/>
          </a:xfrm>
          <a:prstGeom prst="roundRect">
            <a:avLst/>
          </a:prstGeom>
          <a:solidFill>
            <a:srgbClr val="1D4ED8"/>
          </a:solidFill>
          <a:ln w="7620">
            <a:solidFill>
              <a:srgbClr val="143880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40" b="1">
                <a:solidFill>
                  <a:srgbClr val="FFFFFF"/>
                </a:solidFill>
                <a:latin typeface="Arial"/>
              </a:rPr>
              <a:t>Block 12</a:t>
            </a:r>
          </a:p>
        </p:txBody>
      </p:sp>
      <p:sp>
        <p:nvSpPr>
          <p:cNvPr id="93" name="Repeat note"/>
          <p:cNvSpPr txBox="1"/>
          <p:nvPr/>
        </p:nvSpPr>
        <p:spPr>
          <a:xfrm>
            <a:off x="8019288" y="2724912"/>
            <a:ext cx="1828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80" b="0">
                <a:solidFill>
                  <a:srgbClr val="4B5563"/>
                </a:solidFill>
                <a:latin typeface="Arial"/>
              </a:rPr>
              <a:t>The CLS row is refined</a:t>
            </a:r>
          </a:p>
          <a:p>
            <a:pPr algn="ctr"/>
            <a:r>
              <a:rPr sz="680" b="0">
                <a:solidFill>
                  <a:srgbClr val="4B5563"/>
                </a:solidFill>
                <a:latin typeface="Arial"/>
              </a:rPr>
              <a:t>at every layer.</a:t>
            </a:r>
          </a:p>
        </p:txBody>
      </p:sp>
      <p:cxnSp>
        <p:nvCxnSpPr>
          <p:cNvPr id="94" name="Arrow"/>
          <p:cNvCxnSpPr/>
          <p:nvPr/>
        </p:nvCxnSpPr>
        <p:spPr>
          <a:xfrm>
            <a:off x="9710928" y="2084832"/>
            <a:ext cx="109728" cy="0"/>
          </a:xfrm>
          <a:prstGeom prst="line">
            <a:avLst/>
          </a:prstGeom>
          <a:ln w="17145">
            <a:solidFill>
              <a:srgbClr val="334155"/>
            </a:solidFill>
            <a:tailEnd type="triangle" w="med" h="med"/>
          </a:ln>
        </p:spPr>
      </p:cxnSp>
      <p:sp>
        <p:nvSpPr>
          <p:cNvPr id="95" name="Readout title"/>
          <p:cNvSpPr txBox="1"/>
          <p:nvPr/>
        </p:nvSpPr>
        <p:spPr>
          <a:xfrm>
            <a:off x="9674352" y="969264"/>
            <a:ext cx="2487168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70" b="1">
                <a:solidFill>
                  <a:srgbClr val="111827"/>
                </a:solidFill>
                <a:latin typeface="Arial"/>
              </a:rPr>
              <a:t>Readout after final block</a:t>
            </a:r>
          </a:p>
        </p:txBody>
      </p:sp>
      <p:sp>
        <p:nvSpPr>
          <p:cNvPr id="96" name="Final matrix"/>
          <p:cNvSpPr/>
          <p:nvPr/>
        </p:nvSpPr>
        <p:spPr>
          <a:xfrm>
            <a:off x="9857232" y="1316736"/>
            <a:ext cx="1005840" cy="1335024"/>
          </a:xfrm>
          <a:prstGeom prst="roundRect">
            <a:avLst/>
          </a:prstGeom>
          <a:solidFill>
            <a:srgbClr val="F1F5F9"/>
          </a:solidFill>
          <a:ln w="11430">
            <a:solidFill>
              <a:srgbClr val="334155"/>
            </a:solidFill>
          </a:ln>
        </p:spPr>
        <p:txBody>
          <a:bodyPr rtlCol="0" anchor="ctr"/>
          <a:lstStyle/>
          <a:p/>
        </p:txBody>
      </p:sp>
      <p:sp>
        <p:nvSpPr>
          <p:cNvPr id="97" name="Final token row"/>
          <p:cNvSpPr/>
          <p:nvPr/>
        </p:nvSpPr>
        <p:spPr>
          <a:xfrm>
            <a:off x="9966960" y="1426464"/>
            <a:ext cx="786384" cy="164592"/>
          </a:xfrm>
          <a:prstGeom prst="roundRect">
            <a:avLst/>
          </a:prstGeom>
          <a:solidFill>
            <a:srgbClr val="FFF7ED"/>
          </a:solidFill>
          <a:ln w="5715">
            <a:solidFill>
              <a:srgbClr val="D97706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50" b="1">
                <a:solidFill>
                  <a:srgbClr val="D97706"/>
                </a:solidFill>
                <a:latin typeface="Arial"/>
              </a:rPr>
              <a:t>[CLS]^12</a:t>
            </a:r>
          </a:p>
        </p:txBody>
      </p:sp>
      <p:sp>
        <p:nvSpPr>
          <p:cNvPr id="98" name="Final token row"/>
          <p:cNvSpPr/>
          <p:nvPr/>
        </p:nvSpPr>
        <p:spPr>
          <a:xfrm>
            <a:off x="9966960" y="1645920"/>
            <a:ext cx="786384" cy="164592"/>
          </a:xfrm>
          <a:prstGeom prst="roundRect">
            <a:avLst/>
          </a:prstGeom>
          <a:solidFill>
            <a:srgbClr val="DCE6F2"/>
          </a:solidFill>
          <a:ln w="5715">
            <a:solidFill>
              <a:srgbClr val="9FB6C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50" b="0">
                <a:solidFill>
                  <a:srgbClr val="111827"/>
                </a:solidFill>
                <a:latin typeface="Arial"/>
              </a:rPr>
              <a:t>p1^12</a:t>
            </a:r>
          </a:p>
        </p:txBody>
      </p:sp>
      <p:sp>
        <p:nvSpPr>
          <p:cNvPr id="99" name="Final token row"/>
          <p:cNvSpPr/>
          <p:nvPr/>
        </p:nvSpPr>
        <p:spPr>
          <a:xfrm>
            <a:off x="9966960" y="1865376"/>
            <a:ext cx="786384" cy="164592"/>
          </a:xfrm>
          <a:prstGeom prst="roundRect">
            <a:avLst/>
          </a:prstGeom>
          <a:solidFill>
            <a:srgbClr val="DCE6F2"/>
          </a:solidFill>
          <a:ln w="5715">
            <a:solidFill>
              <a:srgbClr val="9FB6C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50" b="0">
                <a:solidFill>
                  <a:srgbClr val="111827"/>
                </a:solidFill>
                <a:latin typeface="Arial"/>
              </a:rPr>
              <a:t>p2^12</a:t>
            </a:r>
          </a:p>
        </p:txBody>
      </p:sp>
      <p:sp>
        <p:nvSpPr>
          <p:cNvPr id="100" name="Final token row"/>
          <p:cNvSpPr/>
          <p:nvPr/>
        </p:nvSpPr>
        <p:spPr>
          <a:xfrm>
            <a:off x="9966960" y="2084832"/>
            <a:ext cx="786384" cy="164592"/>
          </a:xfrm>
          <a:prstGeom prst="roundRect">
            <a:avLst/>
          </a:prstGeom>
          <a:solidFill>
            <a:srgbClr val="DCE6F2"/>
          </a:solidFill>
          <a:ln w="5715">
            <a:solidFill>
              <a:srgbClr val="9FB6C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50" b="0">
                <a:solidFill>
                  <a:srgbClr val="111827"/>
                </a:solidFill>
                <a:latin typeface="Arial"/>
              </a:rPr>
              <a:t>...</a:t>
            </a:r>
          </a:p>
        </p:txBody>
      </p:sp>
      <p:sp>
        <p:nvSpPr>
          <p:cNvPr id="101" name="Final token row"/>
          <p:cNvSpPr/>
          <p:nvPr/>
        </p:nvSpPr>
        <p:spPr>
          <a:xfrm>
            <a:off x="9966960" y="2304288"/>
            <a:ext cx="786384" cy="164592"/>
          </a:xfrm>
          <a:prstGeom prst="roundRect">
            <a:avLst/>
          </a:prstGeom>
          <a:solidFill>
            <a:srgbClr val="DCE6F2"/>
          </a:solidFill>
          <a:ln w="5715">
            <a:solidFill>
              <a:srgbClr val="9FB6C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50" b="0">
                <a:solidFill>
                  <a:srgbClr val="111827"/>
                </a:solidFill>
                <a:latin typeface="Arial"/>
              </a:rPr>
              <a:t>p196^12</a:t>
            </a:r>
          </a:p>
        </p:txBody>
      </p:sp>
      <p:sp>
        <p:nvSpPr>
          <p:cNvPr id="102" name="Final row highlight"/>
          <p:cNvSpPr/>
          <p:nvPr/>
        </p:nvSpPr>
        <p:spPr>
          <a:xfrm>
            <a:off x="9921240" y="1389888"/>
            <a:ext cx="877824" cy="256032"/>
          </a:xfrm>
          <a:prstGeom prst="roundRect">
            <a:avLst/>
          </a:prstGeom>
          <a:noFill/>
          <a:ln w="13970">
            <a:solidFill>
              <a:srgbClr val="D97706"/>
            </a:solidFill>
            <a:prstDash val="dash"/>
          </a:ln>
        </p:spPr>
        <p:txBody>
          <a:bodyPr rtlCol="0" anchor="ctr"/>
          <a:lstStyle/>
          <a:p/>
        </p:txBody>
      </p:sp>
      <p:cxnSp>
        <p:nvCxnSpPr>
          <p:cNvPr id="103" name="Arrow"/>
          <p:cNvCxnSpPr/>
          <p:nvPr/>
        </p:nvCxnSpPr>
        <p:spPr>
          <a:xfrm>
            <a:off x="10936224" y="1517904"/>
            <a:ext cx="521208" cy="0"/>
          </a:xfrm>
          <a:prstGeom prst="line">
            <a:avLst/>
          </a:prstGeom>
          <a:ln w="17145">
            <a:solidFill>
              <a:srgbClr val="0F766E"/>
            </a:solidFill>
            <a:tailEnd type="triangle" w="med" h="med"/>
          </a:ln>
        </p:spPr>
      </p:cxnSp>
      <p:sp>
        <p:nvSpPr>
          <p:cNvPr id="104" name="Feature vector"/>
          <p:cNvSpPr/>
          <p:nvPr/>
        </p:nvSpPr>
        <p:spPr>
          <a:xfrm>
            <a:off x="11576304" y="1280160"/>
            <a:ext cx="365760" cy="1170432"/>
          </a:xfrm>
          <a:prstGeom prst="roundRect">
            <a:avLst/>
          </a:prstGeom>
          <a:solidFill>
            <a:srgbClr val="E8F3DC"/>
          </a:solidFill>
          <a:ln w="12700">
            <a:solidFill>
              <a:srgbClr val="64748B"/>
            </a:solidFill>
          </a:ln>
        </p:spPr>
        <p:txBody>
          <a:bodyPr rtlCol="0" anchor="ctr"/>
          <a:lstStyle/>
          <a:p/>
        </p:txBody>
      </p:sp>
      <p:sp>
        <p:nvSpPr>
          <p:cNvPr id="105" name="Feature dot"/>
          <p:cNvSpPr/>
          <p:nvPr/>
        </p:nvSpPr>
        <p:spPr>
          <a:xfrm>
            <a:off x="11713464" y="1426464"/>
            <a:ext cx="91440" cy="91440"/>
          </a:xfrm>
          <a:prstGeom prst="ellipse">
            <a:avLst/>
          </a:prstGeom>
          <a:solidFill>
            <a:srgbClr val="75A65B"/>
          </a:solidFill>
          <a:ln w="2540">
            <a:solidFill>
              <a:srgbClr val="75A65B"/>
            </a:solidFill>
          </a:ln>
        </p:spPr>
        <p:txBody>
          <a:bodyPr rtlCol="0" anchor="ctr"/>
          <a:lstStyle/>
          <a:p/>
        </p:txBody>
      </p:sp>
      <p:sp>
        <p:nvSpPr>
          <p:cNvPr id="106" name="Feature dot"/>
          <p:cNvSpPr/>
          <p:nvPr/>
        </p:nvSpPr>
        <p:spPr>
          <a:xfrm>
            <a:off x="11713464" y="1645920"/>
            <a:ext cx="91440" cy="91440"/>
          </a:xfrm>
          <a:prstGeom prst="ellipse">
            <a:avLst/>
          </a:prstGeom>
          <a:solidFill>
            <a:srgbClr val="75A65B"/>
          </a:solidFill>
          <a:ln w="2540">
            <a:solidFill>
              <a:srgbClr val="75A65B"/>
            </a:solidFill>
          </a:ln>
        </p:spPr>
        <p:txBody>
          <a:bodyPr rtlCol="0" anchor="ctr"/>
          <a:lstStyle/>
          <a:p/>
        </p:txBody>
      </p:sp>
      <p:sp>
        <p:nvSpPr>
          <p:cNvPr id="107" name="Feature dot"/>
          <p:cNvSpPr/>
          <p:nvPr/>
        </p:nvSpPr>
        <p:spPr>
          <a:xfrm>
            <a:off x="11713464" y="1865376"/>
            <a:ext cx="91440" cy="91440"/>
          </a:xfrm>
          <a:prstGeom prst="ellipse">
            <a:avLst/>
          </a:prstGeom>
          <a:solidFill>
            <a:srgbClr val="75A65B"/>
          </a:solidFill>
          <a:ln w="2540">
            <a:solidFill>
              <a:srgbClr val="75A65B"/>
            </a:solidFill>
          </a:ln>
        </p:spPr>
        <p:txBody>
          <a:bodyPr rtlCol="0" anchor="ctr"/>
          <a:lstStyle/>
          <a:p/>
        </p:txBody>
      </p:sp>
      <p:sp>
        <p:nvSpPr>
          <p:cNvPr id="108" name="Feature dot"/>
          <p:cNvSpPr/>
          <p:nvPr/>
        </p:nvSpPr>
        <p:spPr>
          <a:xfrm>
            <a:off x="11713464" y="2084832"/>
            <a:ext cx="91440" cy="91440"/>
          </a:xfrm>
          <a:prstGeom prst="ellipse">
            <a:avLst/>
          </a:prstGeom>
          <a:solidFill>
            <a:srgbClr val="75A65B"/>
          </a:solidFill>
          <a:ln w="2540">
            <a:solidFill>
              <a:srgbClr val="75A65B"/>
            </a:solidFill>
          </a:ln>
        </p:spPr>
        <p:txBody>
          <a:bodyPr rtlCol="0" anchor="ctr"/>
          <a:lstStyle/>
          <a:p/>
        </p:txBody>
      </p:sp>
      <p:sp>
        <p:nvSpPr>
          <p:cNvPr id="109" name="Feature dot"/>
          <p:cNvSpPr/>
          <p:nvPr/>
        </p:nvSpPr>
        <p:spPr>
          <a:xfrm>
            <a:off x="11713464" y="2304288"/>
            <a:ext cx="91440" cy="91440"/>
          </a:xfrm>
          <a:prstGeom prst="ellipse">
            <a:avLst/>
          </a:prstGeom>
          <a:solidFill>
            <a:srgbClr val="75A65B"/>
          </a:solidFill>
          <a:ln w="2540">
            <a:solidFill>
              <a:srgbClr val="75A65B"/>
            </a:solidFill>
          </a:ln>
        </p:spPr>
        <p:txBody>
          <a:bodyPr rtlCol="0" anchor="ctr"/>
          <a:lstStyle/>
          <a:p/>
        </p:txBody>
      </p:sp>
      <p:sp>
        <p:nvSpPr>
          <p:cNvPr id="110" name="Feature label"/>
          <p:cNvSpPr txBox="1"/>
          <p:nvPr/>
        </p:nvSpPr>
        <p:spPr>
          <a:xfrm>
            <a:off x="11228832" y="2578608"/>
            <a:ext cx="11430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30" b="1">
                <a:solidFill>
                  <a:srgbClr val="111827"/>
                </a:solidFill>
                <a:latin typeface="Arial"/>
              </a:rPr>
              <a:t>768-d</a:t>
            </a:r>
          </a:p>
          <a:p>
            <a:pPr algn="ctr"/>
            <a:r>
              <a:rPr sz="930" b="1">
                <a:solidFill>
                  <a:srgbClr val="111827"/>
                </a:solidFill>
                <a:latin typeface="Arial"/>
              </a:rPr>
              <a:t>frame feature</a:t>
            </a:r>
          </a:p>
        </p:txBody>
      </p:sp>
      <p:sp>
        <p:nvSpPr>
          <p:cNvPr id="111" name="Patch discard note"/>
          <p:cNvSpPr txBox="1"/>
          <p:nvPr/>
        </p:nvSpPr>
        <p:spPr>
          <a:xfrm>
            <a:off x="9811512" y="2980944"/>
            <a:ext cx="23317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60" b="0">
                <a:solidFill>
                  <a:srgbClr val="4B5563"/>
                </a:solidFill>
                <a:latin typeface="Arial"/>
              </a:rPr>
              <a:t>patch rows still exist, but row 0 is used</a:t>
            </a:r>
          </a:p>
        </p:txBody>
      </p:sp>
      <p:sp>
        <p:nvSpPr>
          <p:cNvPr id="112" name="Input prepend note"/>
          <p:cNvSpPr/>
          <p:nvPr/>
        </p:nvSpPr>
        <p:spPr>
          <a:xfrm>
            <a:off x="475488" y="3383280"/>
            <a:ext cx="2542032" cy="530352"/>
          </a:xfrm>
          <a:prstGeom prst="roundRect">
            <a:avLst/>
          </a:prstGeom>
          <a:solidFill>
            <a:srgbClr val="FFF7ED"/>
          </a:solidFill>
          <a:ln w="10160">
            <a:solidFill>
              <a:srgbClr val="D97706"/>
            </a:solidFill>
          </a:ln>
        </p:spPr>
        <p:txBody>
          <a:bodyPr rtlCol="0" anchor="ctr"/>
          <a:lstStyle/>
          <a:p/>
        </p:txBody>
      </p:sp>
      <p:sp>
        <p:nvSpPr>
          <p:cNvPr id="113" name="Input prepend note title"/>
          <p:cNvSpPr txBox="1"/>
          <p:nvPr/>
        </p:nvSpPr>
        <p:spPr>
          <a:xfrm>
            <a:off x="603504" y="3493008"/>
            <a:ext cx="228600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10" b="1">
                <a:solidFill>
                  <a:srgbClr val="D97706"/>
                </a:solidFill>
                <a:latin typeface="Arial"/>
              </a:rPr>
              <a:t>Concatenation happens here only</a:t>
            </a:r>
          </a:p>
        </p:txBody>
      </p:sp>
      <p:sp>
        <p:nvSpPr>
          <p:cNvPr id="114" name="Input prepend note body"/>
          <p:cNvSpPr txBox="1"/>
          <p:nvPr/>
        </p:nvSpPr>
        <p:spPr>
          <a:xfrm>
            <a:off x="603504" y="3694176"/>
            <a:ext cx="2286000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30" b="0">
                <a:solidFill>
                  <a:srgbClr val="111827"/>
                </a:solidFill>
                <a:latin typeface="Arial"/>
              </a:rPr>
              <a:t>[CLS] is prepended to patch tokens before block 1.</a:t>
            </a:r>
          </a:p>
        </p:txBody>
      </p:sp>
      <p:sp>
        <p:nvSpPr>
          <p:cNvPr id="115" name="Not output concat"/>
          <p:cNvSpPr/>
          <p:nvPr/>
        </p:nvSpPr>
        <p:spPr>
          <a:xfrm>
            <a:off x="3493008" y="3383280"/>
            <a:ext cx="2432304" cy="530352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DC2626"/>
            </a:solidFill>
          </a:ln>
        </p:spPr>
        <p:txBody>
          <a:bodyPr rtlCol="0" anchor="ctr"/>
          <a:lstStyle/>
          <a:p/>
        </p:txBody>
      </p:sp>
      <p:sp>
        <p:nvSpPr>
          <p:cNvPr id="116" name="Not output concat title"/>
          <p:cNvSpPr txBox="1"/>
          <p:nvPr/>
        </p:nvSpPr>
        <p:spPr>
          <a:xfrm>
            <a:off x="3621024" y="3493008"/>
            <a:ext cx="2176272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10" b="1">
                <a:solidFill>
                  <a:srgbClr val="DC2626"/>
                </a:solidFill>
                <a:latin typeface="Arial"/>
              </a:rPr>
              <a:t>Not concatenated after ViT</a:t>
            </a:r>
          </a:p>
        </p:txBody>
      </p:sp>
      <p:sp>
        <p:nvSpPr>
          <p:cNvPr id="117" name="Not output concat body"/>
          <p:cNvSpPr txBox="1"/>
          <p:nvPr/>
        </p:nvSpPr>
        <p:spPr>
          <a:xfrm>
            <a:off x="3621024" y="3694176"/>
            <a:ext cx="2176272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30" b="0">
                <a:solidFill>
                  <a:srgbClr val="111827"/>
                </a:solidFill>
                <a:latin typeface="Arial"/>
              </a:rPr>
              <a:t>The final CLS row already contains mixed information.</a:t>
            </a:r>
          </a:p>
        </p:txBody>
      </p:sp>
      <p:sp>
        <p:nvSpPr>
          <p:cNvPr id="118" name="Plain English"/>
          <p:cNvSpPr/>
          <p:nvPr/>
        </p:nvSpPr>
        <p:spPr>
          <a:xfrm>
            <a:off x="6345936" y="3383280"/>
            <a:ext cx="5212080" cy="530352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119" name="Plain English title"/>
          <p:cNvSpPr txBox="1"/>
          <p:nvPr/>
        </p:nvSpPr>
        <p:spPr>
          <a:xfrm>
            <a:off x="6537960" y="3493008"/>
            <a:ext cx="4828032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10" b="1">
                <a:solidFill>
                  <a:srgbClr val="0F766E"/>
                </a:solidFill>
                <a:latin typeface="Arial"/>
              </a:rPr>
              <a:t>Plain English</a:t>
            </a:r>
          </a:p>
        </p:txBody>
      </p:sp>
      <p:sp>
        <p:nvSpPr>
          <p:cNvPr id="120" name="Plain English body"/>
          <p:cNvSpPr txBox="1"/>
          <p:nvPr/>
        </p:nvSpPr>
        <p:spPr>
          <a:xfrm>
            <a:off x="6537960" y="3694176"/>
            <a:ext cx="4828032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50" b="0">
                <a:solidFill>
                  <a:srgbClr val="111827"/>
                </a:solidFill>
                <a:latin typeface="Arial"/>
              </a:rPr>
              <a:t>The CLS token is a learnable summary slot that repeatedly looks at image patches through attention.</a:t>
            </a:r>
          </a:p>
        </p:txBody>
      </p:sp>
      <p:cxnSp>
        <p:nvCxnSpPr>
          <p:cNvPr id="121" name="Footer rule"/>
          <p:cNvCxnSpPr/>
          <p:nvPr/>
        </p:nvCxnSpPr>
        <p:spPr>
          <a:xfrm>
            <a:off x="329184" y="4187952"/>
            <a:ext cx="11649456" cy="0"/>
          </a:xfrm>
          <a:prstGeom prst="line">
            <a:avLst/>
          </a:prstGeom>
          <a:ln w="7620">
            <a:solidFill>
              <a:srgbClr val="E5E7EB"/>
            </a:solidFill>
          </a:ln>
        </p:spPr>
      </p:cxnSp>
      <p:sp>
        <p:nvSpPr>
          <p:cNvPr id="122" name="Footer"/>
          <p:cNvSpPr txBox="1"/>
          <p:nvPr/>
        </p:nvSpPr>
        <p:spPr>
          <a:xfrm>
            <a:off x="822960" y="4279392"/>
            <a:ext cx="10881360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70" b="0">
                <a:solidFill>
                  <a:srgbClr val="4B5563"/>
                </a:solidFill>
                <a:latin typeface="Arial"/>
              </a:rPr>
              <a:t>In code, timm's ViT handles the image-level [CLS] internally; your temporal workflow token is a separate CLS-style token later in HTA.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