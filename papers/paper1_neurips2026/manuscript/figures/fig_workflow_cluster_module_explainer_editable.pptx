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435840" cy="6355080" type="custom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384048" y="146304"/>
            <a:ext cx="1170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111827"/>
                </a:solidFill>
                <a:latin typeface="Arial"/>
              </a:rPr>
              <a:t>Workflow clusters: what this module is and why it is in the project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768096" y="493776"/>
            <a:ext cx="10881360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750" b="0">
                <a:solidFill>
                  <a:srgbClr val="4B5563"/>
                </a:solidFill>
                <a:latin typeface="Arial"/>
              </a:rPr>
              <a:t>It converts phase-order patterns into a latent workflow-style token, then prepends that token to visual frame features for RSD prediction.</a:t>
            </a:r>
          </a:p>
        </p:txBody>
      </p:sp>
      <p:sp>
        <p:nvSpPr>
          <p:cNvPr id="4" name="Panel"/>
          <p:cNvSpPr/>
          <p:nvPr/>
        </p:nvSpPr>
        <p:spPr>
          <a:xfrm>
            <a:off x="384048" y="868680"/>
            <a:ext cx="11667744" cy="1664208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0F766E"/>
            </a:solidFill>
          </a:ln>
        </p:spPr>
        <p:txBody>
          <a:bodyPr rtlCol="0" anchor="ctr"/>
          <a:lstStyle/>
          <a:p/>
        </p:txBody>
      </p:sp>
      <p:sp>
        <p:nvSpPr>
          <p:cNvPr id="5" name="Panel title"/>
          <p:cNvSpPr txBox="1"/>
          <p:nvPr/>
        </p:nvSpPr>
        <p:spPr>
          <a:xfrm>
            <a:off x="548640" y="978408"/>
            <a:ext cx="11338560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20" b="1">
                <a:solidFill>
                  <a:srgbClr val="0F766E"/>
                </a:solidFill>
                <a:latin typeface="Arial"/>
              </a:rPr>
              <a:t>1. Fit workflow-clustering artifacts offline on training videos</a:t>
            </a:r>
          </a:p>
        </p:txBody>
      </p:sp>
      <p:sp>
        <p:nvSpPr>
          <p:cNvPr id="6" name="Box"/>
          <p:cNvSpPr/>
          <p:nvPr/>
        </p:nvSpPr>
        <p:spPr>
          <a:xfrm>
            <a:off x="713232" y="1225296"/>
            <a:ext cx="1097280" cy="960120"/>
          </a:xfrm>
          <a:prstGeom prst="roundRect">
            <a:avLst/>
          </a:prstGeom>
          <a:solidFill>
            <a:srgbClr val="F5F3FF"/>
          </a:solidFill>
          <a:ln w="11430">
            <a:solidFill>
              <a:srgbClr val="7C3AED"/>
            </a:solidFill>
          </a:ln>
        </p:spPr>
        <p:txBody>
          <a:bodyPr rtlCol="0" anchor="ctr"/>
          <a:lstStyle/>
          <a:p/>
        </p:txBody>
      </p:sp>
      <p:sp>
        <p:nvSpPr>
          <p:cNvPr id="7" name="Box title"/>
          <p:cNvSpPr txBox="1"/>
          <p:nvPr/>
        </p:nvSpPr>
        <p:spPr>
          <a:xfrm>
            <a:off x="786384" y="1316736"/>
            <a:ext cx="950976" cy="1554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610" b="1">
                <a:solidFill>
                  <a:srgbClr val="7C3AED"/>
                </a:solidFill>
                <a:latin typeface="Arial"/>
              </a:rPr>
              <a:t>phase sequence</a:t>
            </a:r>
          </a:p>
        </p:txBody>
      </p:sp>
      <p:sp>
        <p:nvSpPr>
          <p:cNvPr id="8" name="Phase dot"/>
          <p:cNvSpPr/>
          <p:nvPr/>
        </p:nvSpPr>
        <p:spPr>
          <a:xfrm>
            <a:off x="690372" y="1682496"/>
            <a:ext cx="137160" cy="137160"/>
          </a:xfrm>
          <a:prstGeom prst="ellipse">
            <a:avLst/>
          </a:prstGeom>
          <a:solidFill>
            <a:srgbClr val="2563EB"/>
          </a:solidFill>
          <a:ln w="1270">
            <a:solidFill>
              <a:srgbClr val="2563EB"/>
            </a:solidFill>
          </a:ln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2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cxnSp>
        <p:nvCxnSpPr>
          <p:cNvPr id="9" name="Phase connector"/>
          <p:cNvCxnSpPr/>
          <p:nvPr/>
        </p:nvCxnSpPr>
        <p:spPr>
          <a:xfrm>
            <a:off x="827532" y="1751076"/>
            <a:ext cx="64008" cy="0"/>
          </a:xfrm>
          <a:prstGeom prst="line">
            <a:avLst/>
          </a:prstGeom>
          <a:ln w="4445">
            <a:solidFill>
              <a:srgbClr val="334155"/>
            </a:solidFill>
          </a:ln>
        </p:spPr>
      </p:cxnSp>
      <p:sp>
        <p:nvSpPr>
          <p:cNvPr id="10" name="Phase dot"/>
          <p:cNvSpPr/>
          <p:nvPr/>
        </p:nvSpPr>
        <p:spPr>
          <a:xfrm>
            <a:off x="891540" y="1682496"/>
            <a:ext cx="137160" cy="137160"/>
          </a:xfrm>
          <a:prstGeom prst="ellipse">
            <a:avLst/>
          </a:prstGeom>
          <a:solidFill>
            <a:srgbClr val="F59E0B"/>
          </a:solidFill>
          <a:ln w="1270">
            <a:solidFill>
              <a:srgbClr val="F59E0B"/>
            </a:solidFill>
          </a:ln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20" b="1">
                <a:solidFill>
                  <a:srgbClr val="FFFFFF"/>
                </a:solidFill>
                <a:latin typeface="Arial"/>
              </a:rPr>
              <a:t>B</a:t>
            </a:r>
          </a:p>
        </p:txBody>
      </p:sp>
      <p:cxnSp>
        <p:nvCxnSpPr>
          <p:cNvPr id="11" name="Phase connector"/>
          <p:cNvCxnSpPr/>
          <p:nvPr/>
        </p:nvCxnSpPr>
        <p:spPr>
          <a:xfrm>
            <a:off x="1028700" y="1751076"/>
            <a:ext cx="64008" cy="0"/>
          </a:xfrm>
          <a:prstGeom prst="line">
            <a:avLst/>
          </a:prstGeom>
          <a:ln w="4445">
            <a:solidFill>
              <a:srgbClr val="334155"/>
            </a:solidFill>
          </a:ln>
        </p:spPr>
      </p:cxnSp>
      <p:sp>
        <p:nvSpPr>
          <p:cNvPr id="12" name="Phase dot"/>
          <p:cNvSpPr/>
          <p:nvPr/>
        </p:nvSpPr>
        <p:spPr>
          <a:xfrm>
            <a:off x="1092708" y="1682496"/>
            <a:ext cx="137160" cy="137160"/>
          </a:xfrm>
          <a:prstGeom prst="ellipse">
            <a:avLst/>
          </a:prstGeom>
          <a:solidFill>
            <a:srgbClr val="7C3AED"/>
          </a:solidFill>
          <a:ln w="1270">
            <a:solidFill>
              <a:srgbClr val="7C3AED"/>
            </a:solidFill>
          </a:ln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20" b="1">
                <a:solidFill>
                  <a:srgbClr val="FFFFFF"/>
                </a:solidFill>
                <a:latin typeface="Arial"/>
              </a:rPr>
              <a:t>C</a:t>
            </a:r>
          </a:p>
        </p:txBody>
      </p:sp>
      <p:cxnSp>
        <p:nvCxnSpPr>
          <p:cNvPr id="13" name="Phase connector"/>
          <p:cNvCxnSpPr/>
          <p:nvPr/>
        </p:nvCxnSpPr>
        <p:spPr>
          <a:xfrm>
            <a:off x="1229868" y="1751076"/>
            <a:ext cx="64008" cy="0"/>
          </a:xfrm>
          <a:prstGeom prst="line">
            <a:avLst/>
          </a:prstGeom>
          <a:ln w="4445">
            <a:solidFill>
              <a:srgbClr val="334155"/>
            </a:solidFill>
          </a:ln>
        </p:spPr>
      </p:cxnSp>
      <p:sp>
        <p:nvSpPr>
          <p:cNvPr id="14" name="Phase dot"/>
          <p:cNvSpPr/>
          <p:nvPr/>
        </p:nvSpPr>
        <p:spPr>
          <a:xfrm>
            <a:off x="1293876" y="1682496"/>
            <a:ext cx="137160" cy="137160"/>
          </a:xfrm>
          <a:prstGeom prst="ellipse">
            <a:avLst/>
          </a:prstGeom>
          <a:solidFill>
            <a:srgbClr val="DB2777"/>
          </a:solidFill>
          <a:ln w="1270">
            <a:solidFill>
              <a:srgbClr val="DB2777"/>
            </a:solidFill>
          </a:ln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20" b="1">
                <a:solidFill>
                  <a:srgbClr val="FFFFFF"/>
                </a:solidFill>
                <a:latin typeface="Arial"/>
              </a:rPr>
              <a:t>D</a:t>
            </a:r>
          </a:p>
        </p:txBody>
      </p:sp>
      <p:cxnSp>
        <p:nvCxnSpPr>
          <p:cNvPr id="15" name="Phase connector"/>
          <p:cNvCxnSpPr/>
          <p:nvPr/>
        </p:nvCxnSpPr>
        <p:spPr>
          <a:xfrm>
            <a:off x="1431036" y="1751076"/>
            <a:ext cx="64008" cy="0"/>
          </a:xfrm>
          <a:prstGeom prst="line">
            <a:avLst/>
          </a:prstGeom>
          <a:ln w="4445">
            <a:solidFill>
              <a:srgbClr val="334155"/>
            </a:solidFill>
          </a:ln>
        </p:spPr>
      </p:cxnSp>
      <p:sp>
        <p:nvSpPr>
          <p:cNvPr id="16" name="Phase dot"/>
          <p:cNvSpPr/>
          <p:nvPr/>
        </p:nvSpPr>
        <p:spPr>
          <a:xfrm>
            <a:off x="1495044" y="1682496"/>
            <a:ext cx="137160" cy="137160"/>
          </a:xfrm>
          <a:prstGeom prst="ellipse">
            <a:avLst/>
          </a:prstGeom>
          <a:solidFill>
            <a:srgbClr val="0F766E"/>
          </a:solidFill>
          <a:ln w="1270">
            <a:solidFill>
              <a:srgbClr val="0F766E"/>
            </a:solidFill>
          </a:ln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20" b="1">
                <a:solidFill>
                  <a:srgbClr val="FFFFFF"/>
                </a:solidFill>
                <a:latin typeface="Arial"/>
              </a:rPr>
              <a:t>E</a:t>
            </a:r>
          </a:p>
        </p:txBody>
      </p:sp>
      <p:cxnSp>
        <p:nvCxnSpPr>
          <p:cNvPr id="17" name="Phase connector"/>
          <p:cNvCxnSpPr/>
          <p:nvPr/>
        </p:nvCxnSpPr>
        <p:spPr>
          <a:xfrm>
            <a:off x="1632204" y="1751076"/>
            <a:ext cx="64008" cy="0"/>
          </a:xfrm>
          <a:prstGeom prst="line">
            <a:avLst/>
          </a:prstGeom>
          <a:ln w="4445">
            <a:solidFill>
              <a:srgbClr val="334155"/>
            </a:solidFill>
          </a:ln>
        </p:spPr>
      </p:cxnSp>
      <p:sp>
        <p:nvSpPr>
          <p:cNvPr id="18" name="Phase dot"/>
          <p:cNvSpPr/>
          <p:nvPr/>
        </p:nvSpPr>
        <p:spPr>
          <a:xfrm>
            <a:off x="1696212" y="1682496"/>
            <a:ext cx="137160" cy="137160"/>
          </a:xfrm>
          <a:prstGeom prst="ellipse">
            <a:avLst/>
          </a:prstGeom>
          <a:solidFill>
            <a:srgbClr val="D97706"/>
          </a:solidFill>
          <a:ln w="1270">
            <a:solidFill>
              <a:srgbClr val="D97706"/>
            </a:solidFill>
          </a:ln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20" b="1">
                <a:solidFill>
                  <a:srgbClr val="FFFFFF"/>
                </a:solidFill>
                <a:latin typeface="Arial"/>
              </a:rPr>
              <a:t>F</a:t>
            </a:r>
          </a:p>
        </p:txBody>
      </p:sp>
      <p:sp>
        <p:nvSpPr>
          <p:cNvPr id="19" name="Phase note"/>
          <p:cNvSpPr txBox="1"/>
          <p:nvPr/>
        </p:nvSpPr>
        <p:spPr>
          <a:xfrm>
            <a:off x="786384" y="2029968"/>
            <a:ext cx="950976" cy="91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60" b="0">
                <a:solidFill>
                  <a:srgbClr val="4B5563"/>
                </a:solidFill>
                <a:latin typeface="Arial"/>
              </a:rPr>
              <a:t>full case</a:t>
            </a:r>
          </a:p>
        </p:txBody>
      </p:sp>
      <p:cxnSp>
        <p:nvCxnSpPr>
          <p:cNvPr id="20" name="Arrow"/>
          <p:cNvCxnSpPr/>
          <p:nvPr/>
        </p:nvCxnSpPr>
        <p:spPr>
          <a:xfrm>
            <a:off x="1865376" y="1700784"/>
            <a:ext cx="274320" cy="0"/>
          </a:xfrm>
          <a:prstGeom prst="line">
            <a:avLst/>
          </a:prstGeom>
          <a:ln w="17145">
            <a:solidFill>
              <a:srgbClr val="7C3AED"/>
            </a:solidFill>
            <a:tailEnd type="triangle" w="med" h="med"/>
          </a:ln>
        </p:spPr>
      </p:cxnSp>
      <p:sp>
        <p:nvSpPr>
          <p:cNvPr id="21" name="Box"/>
          <p:cNvSpPr/>
          <p:nvPr/>
        </p:nvSpPr>
        <p:spPr>
          <a:xfrm>
            <a:off x="2194560" y="1225296"/>
            <a:ext cx="1115568" cy="960120"/>
          </a:xfrm>
          <a:prstGeom prst="roundRect">
            <a:avLst/>
          </a:prstGeom>
          <a:solidFill>
            <a:srgbClr val="F5F3FF"/>
          </a:solidFill>
          <a:ln w="11430">
            <a:solidFill>
              <a:srgbClr val="7C3AED"/>
            </a:solidFill>
          </a:ln>
        </p:spPr>
        <p:txBody>
          <a:bodyPr rtlCol="0" anchor="ctr"/>
          <a:lstStyle/>
          <a:p/>
        </p:txBody>
      </p:sp>
      <p:sp>
        <p:nvSpPr>
          <p:cNvPr id="22" name="Box title"/>
          <p:cNvSpPr txBox="1"/>
          <p:nvPr/>
        </p:nvSpPr>
        <p:spPr>
          <a:xfrm>
            <a:off x="2267712" y="1316736"/>
            <a:ext cx="969264" cy="1554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600" b="1">
                <a:solidFill>
                  <a:srgbClr val="7C3AED"/>
                </a:solidFill>
                <a:latin typeface="Arial"/>
              </a:rPr>
              <a:t>transition bigrams</a:t>
            </a:r>
          </a:p>
        </p:txBody>
      </p:sp>
      <p:sp>
        <p:nvSpPr>
          <p:cNvPr id="23" name="Bigram chip"/>
          <p:cNvSpPr/>
          <p:nvPr/>
        </p:nvSpPr>
        <p:spPr>
          <a:xfrm>
            <a:off x="2359152" y="1627632"/>
            <a:ext cx="402336" cy="137160"/>
          </a:xfrm>
          <a:prstGeom prst="roundRect">
            <a:avLst/>
          </a:prstGeom>
          <a:solidFill>
            <a:srgbClr val="FFFFFF"/>
          </a:solidFill>
          <a:ln w="4445">
            <a:solidFill>
              <a:srgbClr val="7C3AED"/>
            </a:solidFill>
          </a:ln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50" b="1">
                <a:solidFill>
                  <a:srgbClr val="111827"/>
                </a:solidFill>
                <a:latin typeface="Arial"/>
              </a:rPr>
              <a:t>(A,B)</a:t>
            </a:r>
          </a:p>
        </p:txBody>
      </p:sp>
      <p:sp>
        <p:nvSpPr>
          <p:cNvPr id="24" name="Bigram chip"/>
          <p:cNvSpPr/>
          <p:nvPr/>
        </p:nvSpPr>
        <p:spPr>
          <a:xfrm>
            <a:off x="2834640" y="1627632"/>
            <a:ext cx="402336" cy="137160"/>
          </a:xfrm>
          <a:prstGeom prst="roundRect">
            <a:avLst/>
          </a:prstGeom>
          <a:solidFill>
            <a:srgbClr val="FFFFFF"/>
          </a:solidFill>
          <a:ln w="4445">
            <a:solidFill>
              <a:srgbClr val="7C3AED"/>
            </a:solidFill>
          </a:ln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50" b="1">
                <a:solidFill>
                  <a:srgbClr val="111827"/>
                </a:solidFill>
                <a:latin typeface="Arial"/>
              </a:rPr>
              <a:t>(B,C)</a:t>
            </a:r>
          </a:p>
        </p:txBody>
      </p:sp>
      <p:sp>
        <p:nvSpPr>
          <p:cNvPr id="25" name="Bigram chip"/>
          <p:cNvSpPr/>
          <p:nvPr/>
        </p:nvSpPr>
        <p:spPr>
          <a:xfrm>
            <a:off x="2359152" y="1828800"/>
            <a:ext cx="402336" cy="137160"/>
          </a:xfrm>
          <a:prstGeom prst="roundRect">
            <a:avLst/>
          </a:prstGeom>
          <a:solidFill>
            <a:srgbClr val="FFFFFF"/>
          </a:solidFill>
          <a:ln w="4445">
            <a:solidFill>
              <a:srgbClr val="7C3AED"/>
            </a:solidFill>
          </a:ln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50" b="1">
                <a:solidFill>
                  <a:srgbClr val="111827"/>
                </a:solidFill>
                <a:latin typeface="Arial"/>
              </a:rPr>
              <a:t>(C,D)</a:t>
            </a:r>
          </a:p>
        </p:txBody>
      </p:sp>
      <p:sp>
        <p:nvSpPr>
          <p:cNvPr id="26" name="Bigram chip"/>
          <p:cNvSpPr/>
          <p:nvPr/>
        </p:nvSpPr>
        <p:spPr>
          <a:xfrm>
            <a:off x="2834640" y="1828800"/>
            <a:ext cx="402336" cy="137160"/>
          </a:xfrm>
          <a:prstGeom prst="roundRect">
            <a:avLst/>
          </a:prstGeom>
          <a:solidFill>
            <a:srgbClr val="FFFFFF"/>
          </a:solidFill>
          <a:ln w="4445">
            <a:solidFill>
              <a:srgbClr val="7C3AED"/>
            </a:solidFill>
          </a:ln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50" b="1">
                <a:solidFill>
                  <a:srgbClr val="111827"/>
                </a:solidFill>
                <a:latin typeface="Arial"/>
              </a:rPr>
              <a:t>(D,E)</a:t>
            </a:r>
          </a:p>
        </p:txBody>
      </p:sp>
      <p:sp>
        <p:nvSpPr>
          <p:cNvPr id="27" name="Bigram note"/>
          <p:cNvSpPr txBox="1"/>
          <p:nvPr/>
        </p:nvSpPr>
        <p:spPr>
          <a:xfrm>
            <a:off x="2295144" y="2029968"/>
            <a:ext cx="914400" cy="91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50" b="0">
                <a:solidFill>
                  <a:srgbClr val="4B5563"/>
                </a:solidFill>
                <a:latin typeface="Arial"/>
              </a:rPr>
              <a:t>order pattern features</a:t>
            </a:r>
          </a:p>
        </p:txBody>
      </p:sp>
      <p:cxnSp>
        <p:nvCxnSpPr>
          <p:cNvPr id="28" name="Arrow"/>
          <p:cNvCxnSpPr/>
          <p:nvPr/>
        </p:nvCxnSpPr>
        <p:spPr>
          <a:xfrm>
            <a:off x="3364992" y="1700784"/>
            <a:ext cx="274320" cy="0"/>
          </a:xfrm>
          <a:prstGeom prst="line">
            <a:avLst/>
          </a:prstGeom>
          <a:ln w="17145">
            <a:solidFill>
              <a:srgbClr val="334155"/>
            </a:solidFill>
            <a:tailEnd type="triangle" w="med" h="med"/>
          </a:ln>
        </p:spPr>
      </p:cxnSp>
      <p:sp>
        <p:nvSpPr>
          <p:cNvPr id="29" name="Box"/>
          <p:cNvSpPr/>
          <p:nvPr/>
        </p:nvSpPr>
        <p:spPr>
          <a:xfrm>
            <a:off x="3694176" y="1225296"/>
            <a:ext cx="1170432" cy="960120"/>
          </a:xfrm>
          <a:prstGeom prst="roundRect">
            <a:avLst/>
          </a:prstGeom>
          <a:solidFill>
            <a:srgbClr val="FFF7ED"/>
          </a:solidFill>
          <a:ln w="11430">
            <a:solidFill>
              <a:srgbClr val="D97706"/>
            </a:solidFill>
          </a:ln>
        </p:spPr>
        <p:txBody>
          <a:bodyPr rtlCol="0" anchor="ctr"/>
          <a:lstStyle/>
          <a:p/>
        </p:txBody>
      </p:sp>
      <p:sp>
        <p:nvSpPr>
          <p:cNvPr id="30" name="Box title"/>
          <p:cNvSpPr txBox="1"/>
          <p:nvPr/>
        </p:nvSpPr>
        <p:spPr>
          <a:xfrm>
            <a:off x="3767328" y="1316736"/>
            <a:ext cx="1024128" cy="1554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80" b="1">
                <a:solidFill>
                  <a:srgbClr val="D97706"/>
                </a:solidFill>
                <a:latin typeface="Arial"/>
              </a:rPr>
              <a:t>TF-IDF corpus matrix</a:t>
            </a:r>
          </a:p>
        </p:txBody>
      </p:sp>
      <p:sp>
        <p:nvSpPr>
          <p:cNvPr id="31" name="TFIDF cell"/>
          <p:cNvSpPr/>
          <p:nvPr/>
        </p:nvSpPr>
        <p:spPr>
          <a:xfrm>
            <a:off x="3858768" y="1609344"/>
            <a:ext cx="86868" cy="68580"/>
          </a:xfrm>
          <a:prstGeom prst="rect">
            <a:avLst/>
          </a:prstGeom>
          <a:solidFill>
            <a:srgbClr val="FDBA74"/>
          </a:solidFill>
          <a:ln w="1905">
            <a:solidFill>
              <a:srgbClr val="D1D5DB"/>
            </a:solidFill>
          </a:ln>
        </p:spPr>
        <p:txBody>
          <a:bodyPr rtlCol="0" anchor="ctr"/>
          <a:lstStyle/>
          <a:p/>
        </p:txBody>
      </p:sp>
      <p:sp>
        <p:nvSpPr>
          <p:cNvPr id="32" name="TFIDF cell"/>
          <p:cNvSpPr/>
          <p:nvPr/>
        </p:nvSpPr>
        <p:spPr>
          <a:xfrm>
            <a:off x="3954780" y="1609344"/>
            <a:ext cx="86868" cy="68580"/>
          </a:xfrm>
          <a:prstGeom prst="rect">
            <a:avLst/>
          </a:prstGeom>
          <a:solidFill>
            <a:srgbClr val="FFFFFF"/>
          </a:solidFill>
          <a:ln w="1905">
            <a:solidFill>
              <a:srgbClr val="D1D5DB"/>
            </a:solidFill>
          </a:ln>
        </p:spPr>
        <p:txBody>
          <a:bodyPr rtlCol="0" anchor="ctr"/>
          <a:lstStyle/>
          <a:p/>
        </p:txBody>
      </p:sp>
      <p:sp>
        <p:nvSpPr>
          <p:cNvPr id="33" name="TFIDF cell"/>
          <p:cNvSpPr/>
          <p:nvPr/>
        </p:nvSpPr>
        <p:spPr>
          <a:xfrm>
            <a:off x="4050792" y="1609344"/>
            <a:ext cx="86868" cy="68580"/>
          </a:xfrm>
          <a:prstGeom prst="rect">
            <a:avLst/>
          </a:prstGeom>
          <a:solidFill>
            <a:srgbClr val="FED7AA"/>
          </a:solidFill>
          <a:ln w="1905">
            <a:solidFill>
              <a:srgbClr val="D1D5DB"/>
            </a:solidFill>
          </a:ln>
        </p:spPr>
        <p:txBody>
          <a:bodyPr rtlCol="0" anchor="ctr"/>
          <a:lstStyle/>
          <a:p/>
        </p:txBody>
      </p:sp>
      <p:sp>
        <p:nvSpPr>
          <p:cNvPr id="34" name="TFIDF cell"/>
          <p:cNvSpPr/>
          <p:nvPr/>
        </p:nvSpPr>
        <p:spPr>
          <a:xfrm>
            <a:off x="4146804" y="1609344"/>
            <a:ext cx="86868" cy="68580"/>
          </a:xfrm>
          <a:prstGeom prst="rect">
            <a:avLst/>
          </a:prstGeom>
          <a:solidFill>
            <a:srgbClr val="FDBA74"/>
          </a:solidFill>
          <a:ln w="1905">
            <a:solidFill>
              <a:srgbClr val="D1D5DB"/>
            </a:solidFill>
          </a:ln>
        </p:spPr>
        <p:txBody>
          <a:bodyPr rtlCol="0" anchor="ctr"/>
          <a:lstStyle/>
          <a:p/>
        </p:txBody>
      </p:sp>
      <p:sp>
        <p:nvSpPr>
          <p:cNvPr id="35" name="TFIDF cell"/>
          <p:cNvSpPr/>
          <p:nvPr/>
        </p:nvSpPr>
        <p:spPr>
          <a:xfrm>
            <a:off x="4242816" y="1609344"/>
            <a:ext cx="86868" cy="68580"/>
          </a:xfrm>
          <a:prstGeom prst="rect">
            <a:avLst/>
          </a:prstGeom>
          <a:solidFill>
            <a:srgbClr val="FED7AA"/>
          </a:solidFill>
          <a:ln w="1905">
            <a:solidFill>
              <a:srgbClr val="D1D5DB"/>
            </a:solidFill>
          </a:ln>
        </p:spPr>
        <p:txBody>
          <a:bodyPr rtlCol="0" anchor="ctr"/>
          <a:lstStyle/>
          <a:p/>
        </p:txBody>
      </p:sp>
      <p:sp>
        <p:nvSpPr>
          <p:cNvPr id="36" name="TFIDF cell"/>
          <p:cNvSpPr/>
          <p:nvPr/>
        </p:nvSpPr>
        <p:spPr>
          <a:xfrm>
            <a:off x="4338828" y="1609344"/>
            <a:ext cx="86868" cy="68580"/>
          </a:xfrm>
          <a:prstGeom prst="rect">
            <a:avLst/>
          </a:prstGeom>
          <a:solidFill>
            <a:srgbClr val="FFFFFF"/>
          </a:solidFill>
          <a:ln w="1905">
            <a:solidFill>
              <a:srgbClr val="D1D5DB"/>
            </a:solidFill>
          </a:ln>
        </p:spPr>
        <p:txBody>
          <a:bodyPr rtlCol="0" anchor="ctr"/>
          <a:lstStyle/>
          <a:p/>
        </p:txBody>
      </p:sp>
      <p:sp>
        <p:nvSpPr>
          <p:cNvPr id="37" name="TFIDF cell"/>
          <p:cNvSpPr/>
          <p:nvPr/>
        </p:nvSpPr>
        <p:spPr>
          <a:xfrm>
            <a:off x="3858768" y="1687068"/>
            <a:ext cx="86868" cy="68580"/>
          </a:xfrm>
          <a:prstGeom prst="rect">
            <a:avLst/>
          </a:prstGeom>
          <a:solidFill>
            <a:srgbClr val="FDBA74"/>
          </a:solidFill>
          <a:ln w="1905">
            <a:solidFill>
              <a:srgbClr val="D1D5DB"/>
            </a:solidFill>
          </a:ln>
        </p:spPr>
        <p:txBody>
          <a:bodyPr rtlCol="0" anchor="ctr"/>
          <a:lstStyle/>
          <a:p/>
        </p:txBody>
      </p:sp>
      <p:sp>
        <p:nvSpPr>
          <p:cNvPr id="38" name="TFIDF cell"/>
          <p:cNvSpPr/>
          <p:nvPr/>
        </p:nvSpPr>
        <p:spPr>
          <a:xfrm>
            <a:off x="3954780" y="1687068"/>
            <a:ext cx="86868" cy="68580"/>
          </a:xfrm>
          <a:prstGeom prst="rect">
            <a:avLst/>
          </a:prstGeom>
          <a:solidFill>
            <a:srgbClr val="FED7AA"/>
          </a:solidFill>
          <a:ln w="1905">
            <a:solidFill>
              <a:srgbClr val="D1D5DB"/>
            </a:solidFill>
          </a:ln>
        </p:spPr>
        <p:txBody>
          <a:bodyPr rtlCol="0" anchor="ctr"/>
          <a:lstStyle/>
          <a:p/>
        </p:txBody>
      </p:sp>
      <p:sp>
        <p:nvSpPr>
          <p:cNvPr id="39" name="TFIDF cell"/>
          <p:cNvSpPr/>
          <p:nvPr/>
        </p:nvSpPr>
        <p:spPr>
          <a:xfrm>
            <a:off x="4050792" y="1687068"/>
            <a:ext cx="86868" cy="68580"/>
          </a:xfrm>
          <a:prstGeom prst="rect">
            <a:avLst/>
          </a:prstGeom>
          <a:solidFill>
            <a:srgbClr val="FFFFFF"/>
          </a:solidFill>
          <a:ln w="1905">
            <a:solidFill>
              <a:srgbClr val="D1D5DB"/>
            </a:solidFill>
          </a:ln>
        </p:spPr>
        <p:txBody>
          <a:bodyPr rtlCol="0" anchor="ctr"/>
          <a:lstStyle/>
          <a:p/>
        </p:txBody>
      </p:sp>
      <p:sp>
        <p:nvSpPr>
          <p:cNvPr id="40" name="TFIDF cell"/>
          <p:cNvSpPr/>
          <p:nvPr/>
        </p:nvSpPr>
        <p:spPr>
          <a:xfrm>
            <a:off x="4146804" y="1687068"/>
            <a:ext cx="86868" cy="68580"/>
          </a:xfrm>
          <a:prstGeom prst="rect">
            <a:avLst/>
          </a:prstGeom>
          <a:solidFill>
            <a:srgbClr val="FDBA74"/>
          </a:solidFill>
          <a:ln w="1905">
            <a:solidFill>
              <a:srgbClr val="D1D5DB"/>
            </a:solidFill>
          </a:ln>
        </p:spPr>
        <p:txBody>
          <a:bodyPr rtlCol="0" anchor="ctr"/>
          <a:lstStyle/>
          <a:p/>
        </p:txBody>
      </p:sp>
      <p:sp>
        <p:nvSpPr>
          <p:cNvPr id="41" name="TFIDF cell"/>
          <p:cNvSpPr/>
          <p:nvPr/>
        </p:nvSpPr>
        <p:spPr>
          <a:xfrm>
            <a:off x="4242816" y="1687068"/>
            <a:ext cx="86868" cy="68580"/>
          </a:xfrm>
          <a:prstGeom prst="rect">
            <a:avLst/>
          </a:prstGeom>
          <a:solidFill>
            <a:srgbClr val="FFFFFF"/>
          </a:solidFill>
          <a:ln w="1905">
            <a:solidFill>
              <a:srgbClr val="D1D5DB"/>
            </a:solidFill>
          </a:ln>
        </p:spPr>
        <p:txBody>
          <a:bodyPr rtlCol="0" anchor="ctr"/>
          <a:lstStyle/>
          <a:p/>
        </p:txBody>
      </p:sp>
      <p:sp>
        <p:nvSpPr>
          <p:cNvPr id="42" name="TFIDF cell"/>
          <p:cNvSpPr/>
          <p:nvPr/>
        </p:nvSpPr>
        <p:spPr>
          <a:xfrm>
            <a:off x="4338828" y="1687068"/>
            <a:ext cx="86868" cy="68580"/>
          </a:xfrm>
          <a:prstGeom prst="rect">
            <a:avLst/>
          </a:prstGeom>
          <a:solidFill>
            <a:srgbClr val="FED7AA"/>
          </a:solidFill>
          <a:ln w="1905">
            <a:solidFill>
              <a:srgbClr val="D1D5DB"/>
            </a:solidFill>
          </a:ln>
        </p:spPr>
        <p:txBody>
          <a:bodyPr rtlCol="0" anchor="ctr"/>
          <a:lstStyle/>
          <a:p/>
        </p:txBody>
      </p:sp>
      <p:sp>
        <p:nvSpPr>
          <p:cNvPr id="43" name="TFIDF cell"/>
          <p:cNvSpPr/>
          <p:nvPr/>
        </p:nvSpPr>
        <p:spPr>
          <a:xfrm>
            <a:off x="3858768" y="1764792"/>
            <a:ext cx="86868" cy="68580"/>
          </a:xfrm>
          <a:prstGeom prst="rect">
            <a:avLst/>
          </a:prstGeom>
          <a:solidFill>
            <a:srgbClr val="FDBA74"/>
          </a:solidFill>
          <a:ln w="1905">
            <a:solidFill>
              <a:srgbClr val="D1D5DB"/>
            </a:solidFill>
          </a:ln>
        </p:spPr>
        <p:txBody>
          <a:bodyPr rtlCol="0" anchor="ctr"/>
          <a:lstStyle/>
          <a:p/>
        </p:txBody>
      </p:sp>
      <p:sp>
        <p:nvSpPr>
          <p:cNvPr id="44" name="TFIDF cell"/>
          <p:cNvSpPr/>
          <p:nvPr/>
        </p:nvSpPr>
        <p:spPr>
          <a:xfrm>
            <a:off x="3954780" y="1764792"/>
            <a:ext cx="86868" cy="68580"/>
          </a:xfrm>
          <a:prstGeom prst="rect">
            <a:avLst/>
          </a:prstGeom>
          <a:solidFill>
            <a:srgbClr val="FFFFFF"/>
          </a:solidFill>
          <a:ln w="1905">
            <a:solidFill>
              <a:srgbClr val="D1D5DB"/>
            </a:solidFill>
          </a:ln>
        </p:spPr>
        <p:txBody>
          <a:bodyPr rtlCol="0" anchor="ctr"/>
          <a:lstStyle/>
          <a:p/>
        </p:txBody>
      </p:sp>
      <p:sp>
        <p:nvSpPr>
          <p:cNvPr id="45" name="TFIDF cell"/>
          <p:cNvSpPr/>
          <p:nvPr/>
        </p:nvSpPr>
        <p:spPr>
          <a:xfrm>
            <a:off x="4050792" y="1764792"/>
            <a:ext cx="86868" cy="68580"/>
          </a:xfrm>
          <a:prstGeom prst="rect">
            <a:avLst/>
          </a:prstGeom>
          <a:solidFill>
            <a:srgbClr val="FED7AA"/>
          </a:solidFill>
          <a:ln w="1905">
            <a:solidFill>
              <a:srgbClr val="D1D5DB"/>
            </a:solidFill>
          </a:ln>
        </p:spPr>
        <p:txBody>
          <a:bodyPr rtlCol="0" anchor="ctr"/>
          <a:lstStyle/>
          <a:p/>
        </p:txBody>
      </p:sp>
      <p:sp>
        <p:nvSpPr>
          <p:cNvPr id="46" name="TFIDF cell"/>
          <p:cNvSpPr/>
          <p:nvPr/>
        </p:nvSpPr>
        <p:spPr>
          <a:xfrm>
            <a:off x="4146804" y="1764792"/>
            <a:ext cx="86868" cy="68580"/>
          </a:xfrm>
          <a:prstGeom prst="rect">
            <a:avLst/>
          </a:prstGeom>
          <a:solidFill>
            <a:srgbClr val="FDBA74"/>
          </a:solidFill>
          <a:ln w="1905">
            <a:solidFill>
              <a:srgbClr val="D1D5DB"/>
            </a:solidFill>
          </a:ln>
        </p:spPr>
        <p:txBody>
          <a:bodyPr rtlCol="0" anchor="ctr"/>
          <a:lstStyle/>
          <a:p/>
        </p:txBody>
      </p:sp>
      <p:sp>
        <p:nvSpPr>
          <p:cNvPr id="47" name="TFIDF cell"/>
          <p:cNvSpPr/>
          <p:nvPr/>
        </p:nvSpPr>
        <p:spPr>
          <a:xfrm>
            <a:off x="4242816" y="1764792"/>
            <a:ext cx="86868" cy="68580"/>
          </a:xfrm>
          <a:prstGeom prst="rect">
            <a:avLst/>
          </a:prstGeom>
          <a:solidFill>
            <a:srgbClr val="FED7AA"/>
          </a:solidFill>
          <a:ln w="1905">
            <a:solidFill>
              <a:srgbClr val="D1D5DB"/>
            </a:solidFill>
          </a:ln>
        </p:spPr>
        <p:txBody>
          <a:bodyPr rtlCol="0" anchor="ctr"/>
          <a:lstStyle/>
          <a:p/>
        </p:txBody>
      </p:sp>
      <p:sp>
        <p:nvSpPr>
          <p:cNvPr id="48" name="TFIDF cell"/>
          <p:cNvSpPr/>
          <p:nvPr/>
        </p:nvSpPr>
        <p:spPr>
          <a:xfrm>
            <a:off x="4338828" y="1764792"/>
            <a:ext cx="86868" cy="68580"/>
          </a:xfrm>
          <a:prstGeom prst="rect">
            <a:avLst/>
          </a:prstGeom>
          <a:solidFill>
            <a:srgbClr val="FFFFFF"/>
          </a:solidFill>
          <a:ln w="1905">
            <a:solidFill>
              <a:srgbClr val="D1D5DB"/>
            </a:solidFill>
          </a:ln>
        </p:spPr>
        <p:txBody>
          <a:bodyPr rtlCol="0" anchor="ctr"/>
          <a:lstStyle/>
          <a:p/>
        </p:txBody>
      </p:sp>
      <p:sp>
        <p:nvSpPr>
          <p:cNvPr id="49" name="TFIDF cell"/>
          <p:cNvSpPr/>
          <p:nvPr/>
        </p:nvSpPr>
        <p:spPr>
          <a:xfrm>
            <a:off x="3858768" y="1842516"/>
            <a:ext cx="86868" cy="68580"/>
          </a:xfrm>
          <a:prstGeom prst="rect">
            <a:avLst/>
          </a:prstGeom>
          <a:solidFill>
            <a:srgbClr val="FDBA74"/>
          </a:solidFill>
          <a:ln w="1905">
            <a:solidFill>
              <a:srgbClr val="D1D5DB"/>
            </a:solidFill>
          </a:ln>
        </p:spPr>
        <p:txBody>
          <a:bodyPr rtlCol="0" anchor="ctr"/>
          <a:lstStyle/>
          <a:p/>
        </p:txBody>
      </p:sp>
      <p:sp>
        <p:nvSpPr>
          <p:cNvPr id="50" name="TFIDF cell"/>
          <p:cNvSpPr/>
          <p:nvPr/>
        </p:nvSpPr>
        <p:spPr>
          <a:xfrm>
            <a:off x="3954780" y="1842516"/>
            <a:ext cx="86868" cy="68580"/>
          </a:xfrm>
          <a:prstGeom prst="rect">
            <a:avLst/>
          </a:prstGeom>
          <a:solidFill>
            <a:srgbClr val="FED7AA"/>
          </a:solidFill>
          <a:ln w="1905">
            <a:solidFill>
              <a:srgbClr val="D1D5DB"/>
            </a:solidFill>
          </a:ln>
        </p:spPr>
        <p:txBody>
          <a:bodyPr rtlCol="0" anchor="ctr"/>
          <a:lstStyle/>
          <a:p/>
        </p:txBody>
      </p:sp>
      <p:sp>
        <p:nvSpPr>
          <p:cNvPr id="51" name="TFIDF cell"/>
          <p:cNvSpPr/>
          <p:nvPr/>
        </p:nvSpPr>
        <p:spPr>
          <a:xfrm>
            <a:off x="4050792" y="1842516"/>
            <a:ext cx="86868" cy="68580"/>
          </a:xfrm>
          <a:prstGeom prst="rect">
            <a:avLst/>
          </a:prstGeom>
          <a:solidFill>
            <a:srgbClr val="FFFFFF"/>
          </a:solidFill>
          <a:ln w="1905">
            <a:solidFill>
              <a:srgbClr val="D1D5DB"/>
            </a:solidFill>
          </a:ln>
        </p:spPr>
        <p:txBody>
          <a:bodyPr rtlCol="0" anchor="ctr"/>
          <a:lstStyle/>
          <a:p/>
        </p:txBody>
      </p:sp>
      <p:sp>
        <p:nvSpPr>
          <p:cNvPr id="52" name="TFIDF cell"/>
          <p:cNvSpPr/>
          <p:nvPr/>
        </p:nvSpPr>
        <p:spPr>
          <a:xfrm>
            <a:off x="4146804" y="1842516"/>
            <a:ext cx="86868" cy="68580"/>
          </a:xfrm>
          <a:prstGeom prst="rect">
            <a:avLst/>
          </a:prstGeom>
          <a:solidFill>
            <a:srgbClr val="FDBA74"/>
          </a:solidFill>
          <a:ln w="1905">
            <a:solidFill>
              <a:srgbClr val="D1D5DB"/>
            </a:solidFill>
          </a:ln>
        </p:spPr>
        <p:txBody>
          <a:bodyPr rtlCol="0" anchor="ctr"/>
          <a:lstStyle/>
          <a:p/>
        </p:txBody>
      </p:sp>
      <p:sp>
        <p:nvSpPr>
          <p:cNvPr id="53" name="TFIDF cell"/>
          <p:cNvSpPr/>
          <p:nvPr/>
        </p:nvSpPr>
        <p:spPr>
          <a:xfrm>
            <a:off x="4242816" y="1842516"/>
            <a:ext cx="86868" cy="68580"/>
          </a:xfrm>
          <a:prstGeom prst="rect">
            <a:avLst/>
          </a:prstGeom>
          <a:solidFill>
            <a:srgbClr val="FFFFFF"/>
          </a:solidFill>
          <a:ln w="1905">
            <a:solidFill>
              <a:srgbClr val="D1D5DB"/>
            </a:solidFill>
          </a:ln>
        </p:spPr>
        <p:txBody>
          <a:bodyPr rtlCol="0" anchor="ctr"/>
          <a:lstStyle/>
          <a:p/>
        </p:txBody>
      </p:sp>
      <p:sp>
        <p:nvSpPr>
          <p:cNvPr id="54" name="TFIDF cell"/>
          <p:cNvSpPr/>
          <p:nvPr/>
        </p:nvSpPr>
        <p:spPr>
          <a:xfrm>
            <a:off x="4338828" y="1842516"/>
            <a:ext cx="86868" cy="68580"/>
          </a:xfrm>
          <a:prstGeom prst="rect">
            <a:avLst/>
          </a:prstGeom>
          <a:solidFill>
            <a:srgbClr val="FED7AA"/>
          </a:solidFill>
          <a:ln w="1905">
            <a:solidFill>
              <a:srgbClr val="D1D5DB"/>
            </a:solidFill>
          </a:ln>
        </p:spPr>
        <p:txBody>
          <a:bodyPr rtlCol="0" anchor="ctr"/>
          <a:lstStyle/>
          <a:p/>
        </p:txBody>
      </p:sp>
      <p:sp>
        <p:nvSpPr>
          <p:cNvPr id="55" name="TFIDF cell"/>
          <p:cNvSpPr/>
          <p:nvPr/>
        </p:nvSpPr>
        <p:spPr>
          <a:xfrm>
            <a:off x="3858768" y="1920240"/>
            <a:ext cx="86868" cy="68580"/>
          </a:xfrm>
          <a:prstGeom prst="rect">
            <a:avLst/>
          </a:prstGeom>
          <a:solidFill>
            <a:srgbClr val="FDBA74"/>
          </a:solidFill>
          <a:ln w="1905">
            <a:solidFill>
              <a:srgbClr val="D1D5DB"/>
            </a:solidFill>
          </a:ln>
        </p:spPr>
        <p:txBody>
          <a:bodyPr rtlCol="0" anchor="ctr"/>
          <a:lstStyle/>
          <a:p/>
        </p:txBody>
      </p:sp>
      <p:sp>
        <p:nvSpPr>
          <p:cNvPr id="56" name="TFIDF cell"/>
          <p:cNvSpPr/>
          <p:nvPr/>
        </p:nvSpPr>
        <p:spPr>
          <a:xfrm>
            <a:off x="3954780" y="1920240"/>
            <a:ext cx="86868" cy="68580"/>
          </a:xfrm>
          <a:prstGeom prst="rect">
            <a:avLst/>
          </a:prstGeom>
          <a:solidFill>
            <a:srgbClr val="FFFFFF"/>
          </a:solidFill>
          <a:ln w="1905">
            <a:solidFill>
              <a:srgbClr val="D1D5DB"/>
            </a:solidFill>
          </a:ln>
        </p:spPr>
        <p:txBody>
          <a:bodyPr rtlCol="0" anchor="ctr"/>
          <a:lstStyle/>
          <a:p/>
        </p:txBody>
      </p:sp>
      <p:sp>
        <p:nvSpPr>
          <p:cNvPr id="57" name="TFIDF cell"/>
          <p:cNvSpPr/>
          <p:nvPr/>
        </p:nvSpPr>
        <p:spPr>
          <a:xfrm>
            <a:off x="4050792" y="1920240"/>
            <a:ext cx="86868" cy="68580"/>
          </a:xfrm>
          <a:prstGeom prst="rect">
            <a:avLst/>
          </a:prstGeom>
          <a:solidFill>
            <a:srgbClr val="FED7AA"/>
          </a:solidFill>
          <a:ln w="1905">
            <a:solidFill>
              <a:srgbClr val="D1D5DB"/>
            </a:solidFill>
          </a:ln>
        </p:spPr>
        <p:txBody>
          <a:bodyPr rtlCol="0" anchor="ctr"/>
          <a:lstStyle/>
          <a:p/>
        </p:txBody>
      </p:sp>
      <p:sp>
        <p:nvSpPr>
          <p:cNvPr id="58" name="TFIDF cell"/>
          <p:cNvSpPr/>
          <p:nvPr/>
        </p:nvSpPr>
        <p:spPr>
          <a:xfrm>
            <a:off x="4146804" y="1920240"/>
            <a:ext cx="86868" cy="68580"/>
          </a:xfrm>
          <a:prstGeom prst="rect">
            <a:avLst/>
          </a:prstGeom>
          <a:solidFill>
            <a:srgbClr val="FDBA74"/>
          </a:solidFill>
          <a:ln w="1905">
            <a:solidFill>
              <a:srgbClr val="D1D5DB"/>
            </a:solidFill>
          </a:ln>
        </p:spPr>
        <p:txBody>
          <a:bodyPr rtlCol="0" anchor="ctr"/>
          <a:lstStyle/>
          <a:p/>
        </p:txBody>
      </p:sp>
      <p:sp>
        <p:nvSpPr>
          <p:cNvPr id="59" name="TFIDF cell"/>
          <p:cNvSpPr/>
          <p:nvPr/>
        </p:nvSpPr>
        <p:spPr>
          <a:xfrm>
            <a:off x="4242816" y="1920240"/>
            <a:ext cx="86868" cy="68580"/>
          </a:xfrm>
          <a:prstGeom prst="rect">
            <a:avLst/>
          </a:prstGeom>
          <a:solidFill>
            <a:srgbClr val="FED7AA"/>
          </a:solidFill>
          <a:ln w="1905">
            <a:solidFill>
              <a:srgbClr val="D1D5DB"/>
            </a:solidFill>
          </a:ln>
        </p:spPr>
        <p:txBody>
          <a:bodyPr rtlCol="0" anchor="ctr"/>
          <a:lstStyle/>
          <a:p/>
        </p:txBody>
      </p:sp>
      <p:sp>
        <p:nvSpPr>
          <p:cNvPr id="60" name="TFIDF cell"/>
          <p:cNvSpPr/>
          <p:nvPr/>
        </p:nvSpPr>
        <p:spPr>
          <a:xfrm>
            <a:off x="4338828" y="1920240"/>
            <a:ext cx="86868" cy="68580"/>
          </a:xfrm>
          <a:prstGeom prst="rect">
            <a:avLst/>
          </a:prstGeom>
          <a:solidFill>
            <a:srgbClr val="FFFFFF"/>
          </a:solidFill>
          <a:ln w="1905">
            <a:solidFill>
              <a:srgbClr val="D1D5DB"/>
            </a:solidFill>
          </a:ln>
        </p:spPr>
        <p:txBody>
          <a:bodyPr rtlCol="0" anchor="ctr"/>
          <a:lstStyle/>
          <a:p/>
        </p:txBody>
      </p:sp>
      <p:sp>
        <p:nvSpPr>
          <p:cNvPr id="61" name="TFIDF axes"/>
          <p:cNvSpPr txBox="1"/>
          <p:nvPr/>
        </p:nvSpPr>
        <p:spPr>
          <a:xfrm>
            <a:off x="3822192" y="2048256"/>
            <a:ext cx="914400" cy="91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50" b="0">
                <a:solidFill>
                  <a:srgbClr val="4B5563"/>
                </a:solidFill>
                <a:latin typeface="Arial"/>
              </a:rPr>
              <a:t>videos x bigrams</a:t>
            </a:r>
          </a:p>
        </p:txBody>
      </p:sp>
      <p:cxnSp>
        <p:nvCxnSpPr>
          <p:cNvPr id="62" name="Arrow"/>
          <p:cNvCxnSpPr/>
          <p:nvPr/>
        </p:nvCxnSpPr>
        <p:spPr>
          <a:xfrm>
            <a:off x="4919472" y="1700784"/>
            <a:ext cx="274320" cy="0"/>
          </a:xfrm>
          <a:prstGeom prst="line">
            <a:avLst/>
          </a:prstGeom>
          <a:ln w="17145">
            <a:solidFill>
              <a:srgbClr val="334155"/>
            </a:solidFill>
            <a:tailEnd type="triangle" w="med" h="med"/>
          </a:ln>
        </p:spPr>
      </p:cxnSp>
      <p:sp>
        <p:nvSpPr>
          <p:cNvPr id="63" name="Box"/>
          <p:cNvSpPr/>
          <p:nvPr/>
        </p:nvSpPr>
        <p:spPr>
          <a:xfrm>
            <a:off x="5248656" y="1225296"/>
            <a:ext cx="1444752" cy="960120"/>
          </a:xfrm>
          <a:prstGeom prst="roundRect">
            <a:avLst/>
          </a:prstGeom>
          <a:solidFill>
            <a:srgbClr val="FFF7ED"/>
          </a:solidFill>
          <a:ln w="11430">
            <a:solidFill>
              <a:srgbClr val="D97706"/>
            </a:solidFill>
          </a:ln>
        </p:spPr>
        <p:txBody>
          <a:bodyPr rtlCol="0" anchor="ctr"/>
          <a:lstStyle/>
          <a:p/>
        </p:txBody>
      </p:sp>
      <p:sp>
        <p:nvSpPr>
          <p:cNvPr id="64" name="Box title"/>
          <p:cNvSpPr txBox="1"/>
          <p:nvPr/>
        </p:nvSpPr>
        <p:spPr>
          <a:xfrm>
            <a:off x="5321808" y="1316736"/>
            <a:ext cx="1298448" cy="1554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610" b="1">
                <a:solidFill>
                  <a:srgbClr val="D97706"/>
                </a:solidFill>
                <a:latin typeface="Arial"/>
              </a:rPr>
              <a:t>PCA + k-means</a:t>
            </a:r>
          </a:p>
        </p:txBody>
      </p:sp>
      <p:cxnSp>
        <p:nvCxnSpPr>
          <p:cNvPr id="65" name="PCA axis x"/>
          <p:cNvCxnSpPr/>
          <p:nvPr/>
        </p:nvCxnSpPr>
        <p:spPr>
          <a:xfrm>
            <a:off x="5431536" y="1883664"/>
            <a:ext cx="969264" cy="0"/>
          </a:xfrm>
          <a:prstGeom prst="line">
            <a:avLst/>
          </a:prstGeom>
          <a:ln w="4445">
            <a:solidFill>
              <a:srgbClr val="4B5563"/>
            </a:solidFill>
            <a:tailEnd type="triangle" w="med" h="med"/>
          </a:ln>
        </p:spPr>
      </p:cxnSp>
      <p:cxnSp>
        <p:nvCxnSpPr>
          <p:cNvPr id="66" name="PCA axis y"/>
          <p:cNvCxnSpPr/>
          <p:nvPr/>
        </p:nvCxnSpPr>
        <p:spPr>
          <a:xfrm flipV="1">
            <a:off x="5559552" y="1572768"/>
            <a:ext cx="0" cy="493776"/>
          </a:xfrm>
          <a:prstGeom prst="line">
            <a:avLst/>
          </a:prstGeom>
          <a:ln w="4445">
            <a:solidFill>
              <a:srgbClr val="4B5563"/>
            </a:solidFill>
            <a:tailEnd type="triangle" w="med" h="med"/>
          </a:ln>
        </p:spPr>
      </p:cxnSp>
      <p:sp>
        <p:nvSpPr>
          <p:cNvPr id="67" name="Cluster point"/>
          <p:cNvSpPr/>
          <p:nvPr/>
        </p:nvSpPr>
        <p:spPr>
          <a:xfrm>
            <a:off x="5705856" y="1755648"/>
            <a:ext cx="59436" cy="59436"/>
          </a:xfrm>
          <a:prstGeom prst="ellipse">
            <a:avLst/>
          </a:prstGeom>
          <a:solidFill>
            <a:srgbClr val="0F766E"/>
          </a:solidFill>
          <a:ln w="1270">
            <a:solidFill>
              <a:srgbClr val="0F766E"/>
            </a:solidFill>
          </a:ln>
        </p:spPr>
        <p:txBody>
          <a:bodyPr rtlCol="0" anchor="ctr"/>
          <a:lstStyle/>
          <a:p/>
        </p:txBody>
      </p:sp>
      <p:sp>
        <p:nvSpPr>
          <p:cNvPr id="68" name="Cluster point"/>
          <p:cNvSpPr/>
          <p:nvPr/>
        </p:nvSpPr>
        <p:spPr>
          <a:xfrm>
            <a:off x="5779008" y="1883664"/>
            <a:ext cx="59436" cy="59436"/>
          </a:xfrm>
          <a:prstGeom prst="ellipse">
            <a:avLst/>
          </a:prstGeom>
          <a:solidFill>
            <a:srgbClr val="0F766E"/>
          </a:solidFill>
          <a:ln w="1270">
            <a:solidFill>
              <a:srgbClr val="0F766E"/>
            </a:solidFill>
          </a:ln>
        </p:spPr>
        <p:txBody>
          <a:bodyPr rtlCol="0" anchor="ctr"/>
          <a:lstStyle/>
          <a:p/>
        </p:txBody>
      </p:sp>
      <p:sp>
        <p:nvSpPr>
          <p:cNvPr id="69" name="Cluster point"/>
          <p:cNvSpPr/>
          <p:nvPr/>
        </p:nvSpPr>
        <p:spPr>
          <a:xfrm>
            <a:off x="6053328" y="1810512"/>
            <a:ext cx="59436" cy="59436"/>
          </a:xfrm>
          <a:prstGeom prst="ellipse">
            <a:avLst/>
          </a:prstGeom>
          <a:solidFill>
            <a:srgbClr val="1D4ED8"/>
          </a:solidFill>
          <a:ln w="1270">
            <a:solidFill>
              <a:srgbClr val="1D4ED8"/>
            </a:solidFill>
          </a:ln>
        </p:spPr>
        <p:txBody>
          <a:bodyPr rtlCol="0" anchor="ctr"/>
          <a:lstStyle/>
          <a:p/>
        </p:txBody>
      </p:sp>
      <p:sp>
        <p:nvSpPr>
          <p:cNvPr id="70" name="Cluster point"/>
          <p:cNvSpPr/>
          <p:nvPr/>
        </p:nvSpPr>
        <p:spPr>
          <a:xfrm>
            <a:off x="6126480" y="1975104"/>
            <a:ext cx="59436" cy="59436"/>
          </a:xfrm>
          <a:prstGeom prst="ellipse">
            <a:avLst/>
          </a:prstGeom>
          <a:solidFill>
            <a:srgbClr val="1D4ED8"/>
          </a:solidFill>
          <a:ln w="1270">
            <a:solidFill>
              <a:srgbClr val="1D4ED8"/>
            </a:solidFill>
          </a:ln>
        </p:spPr>
        <p:txBody>
          <a:bodyPr rtlCol="0" anchor="ctr"/>
          <a:lstStyle/>
          <a:p/>
        </p:txBody>
      </p:sp>
      <p:sp>
        <p:nvSpPr>
          <p:cNvPr id="71" name="Cluster point"/>
          <p:cNvSpPr/>
          <p:nvPr/>
        </p:nvSpPr>
        <p:spPr>
          <a:xfrm>
            <a:off x="6272784" y="1737360"/>
            <a:ext cx="59436" cy="59436"/>
          </a:xfrm>
          <a:prstGeom prst="ellipse">
            <a:avLst/>
          </a:prstGeom>
          <a:solidFill>
            <a:srgbClr val="D97706"/>
          </a:solidFill>
          <a:ln w="1270">
            <a:solidFill>
              <a:srgbClr val="D97706"/>
            </a:solidFill>
          </a:ln>
        </p:spPr>
        <p:txBody>
          <a:bodyPr rtlCol="0" anchor="ctr"/>
          <a:lstStyle/>
          <a:p/>
        </p:txBody>
      </p:sp>
      <p:sp>
        <p:nvSpPr>
          <p:cNvPr id="72" name="Cluster point"/>
          <p:cNvSpPr/>
          <p:nvPr/>
        </p:nvSpPr>
        <p:spPr>
          <a:xfrm>
            <a:off x="6345936" y="1901952"/>
            <a:ext cx="59436" cy="59436"/>
          </a:xfrm>
          <a:prstGeom prst="ellipse">
            <a:avLst/>
          </a:prstGeom>
          <a:solidFill>
            <a:srgbClr val="D97706"/>
          </a:solidFill>
          <a:ln w="1270">
            <a:solidFill>
              <a:srgbClr val="D97706"/>
            </a:solidFill>
          </a:ln>
        </p:spPr>
        <p:txBody>
          <a:bodyPr rtlCol="0" anchor="ctr"/>
          <a:lstStyle/>
          <a:p/>
        </p:txBody>
      </p:sp>
      <p:sp>
        <p:nvSpPr>
          <p:cNvPr id="73" name="Centroid"/>
          <p:cNvSpPr/>
          <p:nvPr/>
        </p:nvSpPr>
        <p:spPr>
          <a:xfrm>
            <a:off x="5701284" y="1778508"/>
            <a:ext cx="82296" cy="82296"/>
          </a:xfrm>
          <a:prstGeom prst="diamond">
            <a:avLst/>
          </a:prstGeom>
          <a:solidFill>
            <a:srgbClr val="FFFFFF"/>
          </a:solidFill>
          <a:ln w="9525">
            <a:solidFill>
              <a:srgbClr val="0F766E"/>
            </a:solidFill>
          </a:ln>
        </p:spPr>
        <p:txBody>
          <a:bodyPr rtlCol="0" anchor="ctr"/>
          <a:lstStyle/>
          <a:p/>
        </p:txBody>
      </p:sp>
      <p:sp>
        <p:nvSpPr>
          <p:cNvPr id="74" name="Centroid"/>
          <p:cNvSpPr/>
          <p:nvPr/>
        </p:nvSpPr>
        <p:spPr>
          <a:xfrm>
            <a:off x="6048756" y="1851660"/>
            <a:ext cx="82296" cy="82296"/>
          </a:xfrm>
          <a:prstGeom prst="diamond">
            <a:avLst/>
          </a:prstGeom>
          <a:solidFill>
            <a:srgbClr val="FFFFFF"/>
          </a:solidFill>
          <a:ln w="9525">
            <a:solidFill>
              <a:srgbClr val="1D4ED8"/>
            </a:solidFill>
          </a:ln>
        </p:spPr>
        <p:txBody>
          <a:bodyPr rtlCol="0" anchor="ctr"/>
          <a:lstStyle/>
          <a:p/>
        </p:txBody>
      </p:sp>
      <p:sp>
        <p:nvSpPr>
          <p:cNvPr id="75" name="Centroid"/>
          <p:cNvSpPr/>
          <p:nvPr/>
        </p:nvSpPr>
        <p:spPr>
          <a:xfrm>
            <a:off x="6268212" y="1778508"/>
            <a:ext cx="82296" cy="82296"/>
          </a:xfrm>
          <a:prstGeom prst="diamond">
            <a:avLst/>
          </a:prstGeom>
          <a:solidFill>
            <a:srgbClr val="FFFFFF"/>
          </a:solidFill>
          <a:ln w="9525">
            <a:solidFill>
              <a:srgbClr val="D97706"/>
            </a:solidFill>
          </a:ln>
        </p:spPr>
        <p:txBody>
          <a:bodyPr rtlCol="0" anchor="ctr"/>
          <a:lstStyle/>
          <a:p/>
        </p:txBody>
      </p:sp>
      <p:sp>
        <p:nvSpPr>
          <p:cNvPr id="76" name="Centroid note"/>
          <p:cNvSpPr txBox="1"/>
          <p:nvPr/>
        </p:nvSpPr>
        <p:spPr>
          <a:xfrm>
            <a:off x="5358384" y="2048256"/>
            <a:ext cx="1225296" cy="91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50" b="0">
                <a:solidFill>
                  <a:srgbClr val="4B5563"/>
                </a:solidFill>
                <a:latin typeface="Arial"/>
              </a:rPr>
              <a:t>centroids = reusable artifacts</a:t>
            </a:r>
          </a:p>
        </p:txBody>
      </p:sp>
      <p:cxnSp>
        <p:nvCxnSpPr>
          <p:cNvPr id="77" name="Arrow"/>
          <p:cNvCxnSpPr/>
          <p:nvPr/>
        </p:nvCxnSpPr>
        <p:spPr>
          <a:xfrm>
            <a:off x="6748272" y="1700784"/>
            <a:ext cx="274320" cy="0"/>
          </a:xfrm>
          <a:prstGeom prst="line">
            <a:avLst/>
          </a:prstGeom>
          <a:ln w="17145">
            <a:solidFill>
              <a:srgbClr val="334155"/>
            </a:solidFill>
            <a:tailEnd type="triangle" w="med" h="med"/>
          </a:ln>
        </p:spPr>
      </p:cxnSp>
      <p:sp>
        <p:nvSpPr>
          <p:cNvPr id="78" name="Box"/>
          <p:cNvSpPr/>
          <p:nvPr/>
        </p:nvSpPr>
        <p:spPr>
          <a:xfrm>
            <a:off x="7077456" y="1225296"/>
            <a:ext cx="1024128" cy="960120"/>
          </a:xfrm>
          <a:prstGeom prst="roundRect">
            <a:avLst/>
          </a:prstGeom>
          <a:solidFill>
            <a:srgbClr val="F5F3FF"/>
          </a:solidFill>
          <a:ln w="11430">
            <a:solidFill>
              <a:srgbClr val="7C3AED"/>
            </a:solidFill>
          </a:ln>
        </p:spPr>
        <p:txBody>
          <a:bodyPr rtlCol="0" anchor="ctr"/>
          <a:lstStyle/>
          <a:p/>
        </p:txBody>
      </p:sp>
      <p:sp>
        <p:nvSpPr>
          <p:cNvPr id="79" name="Box title"/>
          <p:cNvSpPr txBox="1"/>
          <p:nvPr/>
        </p:nvSpPr>
        <p:spPr>
          <a:xfrm>
            <a:off x="7150608" y="1316736"/>
            <a:ext cx="877824" cy="1554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600" b="1">
                <a:solidFill>
                  <a:srgbClr val="7C3AED"/>
                </a:solidFill>
                <a:latin typeface="Arial"/>
              </a:rPr>
              <a:t>workflow cluster</a:t>
            </a:r>
          </a:p>
        </p:txBody>
      </p:sp>
      <p:sp>
        <p:nvSpPr>
          <p:cNvPr id="80" name="z circle"/>
          <p:cNvSpPr/>
          <p:nvPr/>
        </p:nvSpPr>
        <p:spPr>
          <a:xfrm>
            <a:off x="7388352" y="1618488"/>
            <a:ext cx="420624" cy="420624"/>
          </a:xfrm>
          <a:prstGeom prst="ellipse">
            <a:avLst/>
          </a:prstGeom>
          <a:solidFill>
            <a:srgbClr val="F5F3FF"/>
          </a:solidFill>
          <a:ln w="13970">
            <a:solidFill>
              <a:srgbClr val="7C3AED"/>
            </a:solidFill>
          </a:ln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7C3AED"/>
                </a:solidFill>
                <a:latin typeface="Arial"/>
              </a:rPr>
              <a:t>z</a:t>
            </a:r>
          </a:p>
        </p:txBody>
      </p:sp>
      <p:sp>
        <p:nvSpPr>
          <p:cNvPr id="81" name="z note"/>
          <p:cNvSpPr txBox="1"/>
          <p:nvPr/>
        </p:nvSpPr>
        <p:spPr>
          <a:xfrm>
            <a:off x="7187184" y="2093976"/>
            <a:ext cx="804672" cy="91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50" b="0">
                <a:solidFill>
                  <a:srgbClr val="4B5563"/>
                </a:solidFill>
                <a:latin typeface="Arial"/>
              </a:rPr>
              <a:t>latent workflow style</a:t>
            </a:r>
          </a:p>
        </p:txBody>
      </p:sp>
      <p:cxnSp>
        <p:nvCxnSpPr>
          <p:cNvPr id="82" name="Arrow"/>
          <p:cNvCxnSpPr/>
          <p:nvPr/>
        </p:nvCxnSpPr>
        <p:spPr>
          <a:xfrm>
            <a:off x="8156448" y="1700784"/>
            <a:ext cx="274320" cy="0"/>
          </a:xfrm>
          <a:prstGeom prst="line">
            <a:avLst/>
          </a:prstGeom>
          <a:ln w="17145">
            <a:solidFill>
              <a:srgbClr val="0F766E"/>
            </a:solidFill>
            <a:tailEnd type="triangle" w="med" h="med"/>
          </a:ln>
        </p:spPr>
      </p:cxnSp>
      <p:sp>
        <p:nvSpPr>
          <p:cNvPr id="83" name="Box"/>
          <p:cNvSpPr/>
          <p:nvPr/>
        </p:nvSpPr>
        <p:spPr>
          <a:xfrm>
            <a:off x="8485632" y="1225296"/>
            <a:ext cx="3072384" cy="96012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0F766E"/>
            </a:solidFill>
          </a:ln>
        </p:spPr>
        <p:txBody>
          <a:bodyPr rtlCol="0" anchor="ctr"/>
          <a:lstStyle/>
          <a:p/>
        </p:txBody>
      </p:sp>
      <p:sp>
        <p:nvSpPr>
          <p:cNvPr id="84" name="Box title"/>
          <p:cNvSpPr txBox="1"/>
          <p:nvPr/>
        </p:nvSpPr>
        <p:spPr>
          <a:xfrm>
            <a:off x="8558784" y="1316736"/>
            <a:ext cx="2926080" cy="1554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630" b="1">
                <a:solidFill>
                  <a:srgbClr val="0F766E"/>
                </a:solidFill>
                <a:latin typeface="Arial"/>
              </a:rPr>
              <a:t>saved artifacts</a:t>
            </a:r>
          </a:p>
        </p:txBody>
      </p:sp>
      <p:sp>
        <p:nvSpPr>
          <p:cNvPr id="85" name="Box body"/>
          <p:cNvSpPr txBox="1"/>
          <p:nvPr/>
        </p:nvSpPr>
        <p:spPr>
          <a:xfrm>
            <a:off x="8577072" y="1563624"/>
            <a:ext cx="2889504" cy="5577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40" b="0">
                <a:solidFill>
                  <a:srgbClr val="111827"/>
                </a:solidFill>
                <a:latin typeface="Arial"/>
              </a:rPr>
              <a:t>vocabulary + IDF, PCA transform, k-means centroids, embedding table E</a:t>
            </a:r>
          </a:p>
        </p:txBody>
      </p:sp>
      <p:sp>
        <p:nvSpPr>
          <p:cNvPr id="86" name="Panel"/>
          <p:cNvSpPr/>
          <p:nvPr/>
        </p:nvSpPr>
        <p:spPr>
          <a:xfrm>
            <a:off x="384048" y="2788920"/>
            <a:ext cx="566928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</p:spPr>
        <p:txBody>
          <a:bodyPr rtlCol="0" anchor="ctr"/>
          <a:lstStyle/>
          <a:p/>
        </p:txBody>
      </p:sp>
      <p:sp>
        <p:nvSpPr>
          <p:cNvPr id="87" name="Panel title"/>
          <p:cNvSpPr txBox="1"/>
          <p:nvPr/>
        </p:nvSpPr>
        <p:spPr>
          <a:xfrm>
            <a:off x="548640" y="2898648"/>
            <a:ext cx="5340096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20" b="1">
                <a:solidFill>
                  <a:srgbClr val="7C3AED"/>
                </a:solidFill>
                <a:latin typeface="Arial"/>
              </a:rPr>
              <a:t>2. Use artifacts to assign workflow signal</a:t>
            </a:r>
          </a:p>
        </p:txBody>
      </p:sp>
      <p:sp>
        <p:nvSpPr>
          <p:cNvPr id="88" name="Oracle path label"/>
          <p:cNvSpPr txBox="1"/>
          <p:nvPr/>
        </p:nvSpPr>
        <p:spPr>
          <a:xfrm>
            <a:off x="676656" y="3182112"/>
            <a:ext cx="1920240" cy="1280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680" b="1">
                <a:solidFill>
                  <a:srgbClr val="7C3AED"/>
                </a:solidFill>
                <a:latin typeface="Arial"/>
              </a:rPr>
              <a:t>Oracle diagnostic path</a:t>
            </a:r>
          </a:p>
        </p:txBody>
      </p:sp>
      <p:sp>
        <p:nvSpPr>
          <p:cNvPr id="89" name="Box"/>
          <p:cNvSpPr/>
          <p:nvPr/>
        </p:nvSpPr>
        <p:spPr>
          <a:xfrm>
            <a:off x="694944" y="3401568"/>
            <a:ext cx="1024128" cy="896112"/>
          </a:xfrm>
          <a:prstGeom prst="roundRect">
            <a:avLst/>
          </a:prstGeom>
          <a:solidFill>
            <a:srgbClr val="F5F3FF"/>
          </a:solidFill>
          <a:ln w="11430">
            <a:solidFill>
              <a:srgbClr val="7C3AED"/>
            </a:solidFill>
          </a:ln>
        </p:spPr>
        <p:txBody>
          <a:bodyPr rtlCol="0" anchor="ctr"/>
          <a:lstStyle/>
          <a:p/>
        </p:txBody>
      </p:sp>
      <p:sp>
        <p:nvSpPr>
          <p:cNvPr id="90" name="Box title"/>
          <p:cNvSpPr txBox="1"/>
          <p:nvPr/>
        </p:nvSpPr>
        <p:spPr>
          <a:xfrm>
            <a:off x="768096" y="3493008"/>
            <a:ext cx="877824" cy="1554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610" b="1">
                <a:solidFill>
                  <a:srgbClr val="7C3AED"/>
                </a:solidFill>
                <a:latin typeface="Arial"/>
              </a:rPr>
              <a:t>phase sequence</a:t>
            </a:r>
          </a:p>
        </p:txBody>
      </p:sp>
      <p:sp>
        <p:nvSpPr>
          <p:cNvPr id="91" name="Phase dot"/>
          <p:cNvSpPr/>
          <p:nvPr/>
        </p:nvSpPr>
        <p:spPr>
          <a:xfrm>
            <a:off x="635508" y="3858768"/>
            <a:ext cx="137160" cy="137160"/>
          </a:xfrm>
          <a:prstGeom prst="ellipse">
            <a:avLst/>
          </a:prstGeom>
          <a:solidFill>
            <a:srgbClr val="2563EB"/>
          </a:solidFill>
          <a:ln w="1270">
            <a:solidFill>
              <a:srgbClr val="2563EB"/>
            </a:solidFill>
          </a:ln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2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cxnSp>
        <p:nvCxnSpPr>
          <p:cNvPr id="92" name="Phase connector"/>
          <p:cNvCxnSpPr/>
          <p:nvPr/>
        </p:nvCxnSpPr>
        <p:spPr>
          <a:xfrm>
            <a:off x="772668" y="3927348"/>
            <a:ext cx="64008" cy="0"/>
          </a:xfrm>
          <a:prstGeom prst="line">
            <a:avLst/>
          </a:prstGeom>
          <a:ln w="4445">
            <a:solidFill>
              <a:srgbClr val="334155"/>
            </a:solidFill>
          </a:ln>
        </p:spPr>
      </p:cxnSp>
      <p:sp>
        <p:nvSpPr>
          <p:cNvPr id="93" name="Phase dot"/>
          <p:cNvSpPr/>
          <p:nvPr/>
        </p:nvSpPr>
        <p:spPr>
          <a:xfrm>
            <a:off x="836676" y="3858768"/>
            <a:ext cx="137160" cy="137160"/>
          </a:xfrm>
          <a:prstGeom prst="ellipse">
            <a:avLst/>
          </a:prstGeom>
          <a:solidFill>
            <a:srgbClr val="F59E0B"/>
          </a:solidFill>
          <a:ln w="1270">
            <a:solidFill>
              <a:srgbClr val="F59E0B"/>
            </a:solidFill>
          </a:ln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20" b="1">
                <a:solidFill>
                  <a:srgbClr val="FFFFFF"/>
                </a:solidFill>
                <a:latin typeface="Arial"/>
              </a:rPr>
              <a:t>B</a:t>
            </a:r>
          </a:p>
        </p:txBody>
      </p:sp>
      <p:cxnSp>
        <p:nvCxnSpPr>
          <p:cNvPr id="94" name="Phase connector"/>
          <p:cNvCxnSpPr/>
          <p:nvPr/>
        </p:nvCxnSpPr>
        <p:spPr>
          <a:xfrm>
            <a:off x="973836" y="3927348"/>
            <a:ext cx="64008" cy="0"/>
          </a:xfrm>
          <a:prstGeom prst="line">
            <a:avLst/>
          </a:prstGeom>
          <a:ln w="4445">
            <a:solidFill>
              <a:srgbClr val="334155"/>
            </a:solidFill>
          </a:ln>
        </p:spPr>
      </p:cxnSp>
      <p:sp>
        <p:nvSpPr>
          <p:cNvPr id="95" name="Phase dot"/>
          <p:cNvSpPr/>
          <p:nvPr/>
        </p:nvSpPr>
        <p:spPr>
          <a:xfrm>
            <a:off x="1037844" y="3858768"/>
            <a:ext cx="137160" cy="137160"/>
          </a:xfrm>
          <a:prstGeom prst="ellipse">
            <a:avLst/>
          </a:prstGeom>
          <a:solidFill>
            <a:srgbClr val="7C3AED"/>
          </a:solidFill>
          <a:ln w="1270">
            <a:solidFill>
              <a:srgbClr val="7C3AED"/>
            </a:solidFill>
          </a:ln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20" b="1">
                <a:solidFill>
                  <a:srgbClr val="FFFFFF"/>
                </a:solidFill>
                <a:latin typeface="Arial"/>
              </a:rPr>
              <a:t>C</a:t>
            </a:r>
          </a:p>
        </p:txBody>
      </p:sp>
      <p:cxnSp>
        <p:nvCxnSpPr>
          <p:cNvPr id="96" name="Phase connector"/>
          <p:cNvCxnSpPr/>
          <p:nvPr/>
        </p:nvCxnSpPr>
        <p:spPr>
          <a:xfrm>
            <a:off x="1175004" y="3927348"/>
            <a:ext cx="64008" cy="0"/>
          </a:xfrm>
          <a:prstGeom prst="line">
            <a:avLst/>
          </a:prstGeom>
          <a:ln w="4445">
            <a:solidFill>
              <a:srgbClr val="334155"/>
            </a:solidFill>
          </a:ln>
        </p:spPr>
      </p:cxnSp>
      <p:sp>
        <p:nvSpPr>
          <p:cNvPr id="97" name="Phase dot"/>
          <p:cNvSpPr/>
          <p:nvPr/>
        </p:nvSpPr>
        <p:spPr>
          <a:xfrm>
            <a:off x="1239012" y="3858768"/>
            <a:ext cx="137160" cy="137160"/>
          </a:xfrm>
          <a:prstGeom prst="ellipse">
            <a:avLst/>
          </a:prstGeom>
          <a:solidFill>
            <a:srgbClr val="DB2777"/>
          </a:solidFill>
          <a:ln w="1270">
            <a:solidFill>
              <a:srgbClr val="DB2777"/>
            </a:solidFill>
          </a:ln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20" b="1">
                <a:solidFill>
                  <a:srgbClr val="FFFFFF"/>
                </a:solidFill>
                <a:latin typeface="Arial"/>
              </a:rPr>
              <a:t>D</a:t>
            </a:r>
          </a:p>
        </p:txBody>
      </p:sp>
      <p:cxnSp>
        <p:nvCxnSpPr>
          <p:cNvPr id="98" name="Phase connector"/>
          <p:cNvCxnSpPr/>
          <p:nvPr/>
        </p:nvCxnSpPr>
        <p:spPr>
          <a:xfrm>
            <a:off x="1376172" y="3927348"/>
            <a:ext cx="64008" cy="0"/>
          </a:xfrm>
          <a:prstGeom prst="line">
            <a:avLst/>
          </a:prstGeom>
          <a:ln w="4445">
            <a:solidFill>
              <a:srgbClr val="334155"/>
            </a:solidFill>
          </a:ln>
        </p:spPr>
      </p:cxnSp>
      <p:sp>
        <p:nvSpPr>
          <p:cNvPr id="99" name="Phase dot"/>
          <p:cNvSpPr/>
          <p:nvPr/>
        </p:nvSpPr>
        <p:spPr>
          <a:xfrm>
            <a:off x="1440180" y="3858768"/>
            <a:ext cx="137160" cy="137160"/>
          </a:xfrm>
          <a:prstGeom prst="ellipse">
            <a:avLst/>
          </a:prstGeom>
          <a:solidFill>
            <a:srgbClr val="0F766E"/>
          </a:solidFill>
          <a:ln w="1270">
            <a:solidFill>
              <a:srgbClr val="0F766E"/>
            </a:solidFill>
          </a:ln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20" b="1">
                <a:solidFill>
                  <a:srgbClr val="FFFFFF"/>
                </a:solidFill>
                <a:latin typeface="Arial"/>
              </a:rPr>
              <a:t>E</a:t>
            </a:r>
          </a:p>
        </p:txBody>
      </p:sp>
      <p:cxnSp>
        <p:nvCxnSpPr>
          <p:cNvPr id="100" name="Phase connector"/>
          <p:cNvCxnSpPr/>
          <p:nvPr/>
        </p:nvCxnSpPr>
        <p:spPr>
          <a:xfrm>
            <a:off x="1577340" y="3927348"/>
            <a:ext cx="64008" cy="0"/>
          </a:xfrm>
          <a:prstGeom prst="line">
            <a:avLst/>
          </a:prstGeom>
          <a:ln w="4445">
            <a:solidFill>
              <a:srgbClr val="334155"/>
            </a:solidFill>
          </a:ln>
        </p:spPr>
      </p:cxnSp>
      <p:sp>
        <p:nvSpPr>
          <p:cNvPr id="101" name="Phase dot"/>
          <p:cNvSpPr/>
          <p:nvPr/>
        </p:nvSpPr>
        <p:spPr>
          <a:xfrm>
            <a:off x="1641348" y="3858768"/>
            <a:ext cx="137160" cy="137160"/>
          </a:xfrm>
          <a:prstGeom prst="ellipse">
            <a:avLst/>
          </a:prstGeom>
          <a:solidFill>
            <a:srgbClr val="D97706"/>
          </a:solidFill>
          <a:ln w="1270">
            <a:solidFill>
              <a:srgbClr val="D97706"/>
            </a:solidFill>
          </a:ln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20" b="1">
                <a:solidFill>
                  <a:srgbClr val="FFFFFF"/>
                </a:solidFill>
                <a:latin typeface="Arial"/>
              </a:rPr>
              <a:t>F</a:t>
            </a:r>
          </a:p>
        </p:txBody>
      </p:sp>
      <p:sp>
        <p:nvSpPr>
          <p:cNvPr id="102" name="Phase note"/>
          <p:cNvSpPr txBox="1"/>
          <p:nvPr/>
        </p:nvSpPr>
        <p:spPr>
          <a:xfrm>
            <a:off x="768096" y="4142232"/>
            <a:ext cx="877824" cy="91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60" b="0">
                <a:solidFill>
                  <a:srgbClr val="4B5563"/>
                </a:solidFill>
                <a:latin typeface="Arial"/>
              </a:rPr>
              <a:t>full case</a:t>
            </a:r>
          </a:p>
        </p:txBody>
      </p:sp>
      <p:cxnSp>
        <p:nvCxnSpPr>
          <p:cNvPr id="103" name="Arrow"/>
          <p:cNvCxnSpPr/>
          <p:nvPr/>
        </p:nvCxnSpPr>
        <p:spPr>
          <a:xfrm>
            <a:off x="1773936" y="3858768"/>
            <a:ext cx="274320" cy="0"/>
          </a:xfrm>
          <a:prstGeom prst="line">
            <a:avLst/>
          </a:prstGeom>
          <a:ln w="17145">
            <a:solidFill>
              <a:srgbClr val="7C3AED"/>
            </a:solidFill>
            <a:tailEnd type="triangle" w="med" h="med"/>
          </a:ln>
        </p:spPr>
      </p:cxnSp>
      <p:sp>
        <p:nvSpPr>
          <p:cNvPr id="104" name="Box"/>
          <p:cNvSpPr/>
          <p:nvPr/>
        </p:nvSpPr>
        <p:spPr>
          <a:xfrm>
            <a:off x="2103120" y="3401568"/>
            <a:ext cx="914400" cy="896112"/>
          </a:xfrm>
          <a:prstGeom prst="roundRect">
            <a:avLst/>
          </a:prstGeom>
          <a:solidFill>
            <a:srgbClr val="F5F3FF"/>
          </a:solidFill>
          <a:ln w="11430">
            <a:solidFill>
              <a:srgbClr val="7C3AED"/>
            </a:solidFill>
          </a:ln>
        </p:spPr>
        <p:txBody>
          <a:bodyPr rtlCol="0" anchor="ctr"/>
          <a:lstStyle/>
          <a:p/>
        </p:txBody>
      </p:sp>
      <p:sp>
        <p:nvSpPr>
          <p:cNvPr id="105" name="Box title"/>
          <p:cNvSpPr txBox="1"/>
          <p:nvPr/>
        </p:nvSpPr>
        <p:spPr>
          <a:xfrm>
            <a:off x="2176272" y="3493008"/>
            <a:ext cx="768096" cy="1554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600" b="1">
                <a:solidFill>
                  <a:srgbClr val="7C3AED"/>
                </a:solidFill>
                <a:latin typeface="Arial"/>
              </a:rPr>
              <a:t>workflow cluster</a:t>
            </a:r>
          </a:p>
        </p:txBody>
      </p:sp>
      <p:sp>
        <p:nvSpPr>
          <p:cNvPr id="106" name="z circle"/>
          <p:cNvSpPr/>
          <p:nvPr/>
        </p:nvSpPr>
        <p:spPr>
          <a:xfrm>
            <a:off x="2414016" y="3794760"/>
            <a:ext cx="420624" cy="420624"/>
          </a:xfrm>
          <a:prstGeom prst="ellipse">
            <a:avLst/>
          </a:prstGeom>
          <a:solidFill>
            <a:srgbClr val="F5F3FF"/>
          </a:solidFill>
          <a:ln w="13970">
            <a:solidFill>
              <a:srgbClr val="7C3AED"/>
            </a:solidFill>
          </a:ln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7C3AED"/>
                </a:solidFill>
                <a:latin typeface="Arial"/>
              </a:rPr>
              <a:t>z</a:t>
            </a:r>
          </a:p>
        </p:txBody>
      </p:sp>
      <p:sp>
        <p:nvSpPr>
          <p:cNvPr id="107" name="z note"/>
          <p:cNvSpPr txBox="1"/>
          <p:nvPr/>
        </p:nvSpPr>
        <p:spPr>
          <a:xfrm>
            <a:off x="2212848" y="4270248"/>
            <a:ext cx="694944" cy="91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50" b="0">
                <a:solidFill>
                  <a:srgbClr val="4B5563"/>
                </a:solidFill>
                <a:latin typeface="Arial"/>
              </a:rPr>
              <a:t>latent workflow style</a:t>
            </a:r>
          </a:p>
        </p:txBody>
      </p:sp>
      <p:cxnSp>
        <p:nvCxnSpPr>
          <p:cNvPr id="108" name="Arrow"/>
          <p:cNvCxnSpPr/>
          <p:nvPr/>
        </p:nvCxnSpPr>
        <p:spPr>
          <a:xfrm>
            <a:off x="3072384" y="3858768"/>
            <a:ext cx="274320" cy="0"/>
          </a:xfrm>
          <a:prstGeom prst="line">
            <a:avLst/>
          </a:prstGeom>
          <a:ln w="17145">
            <a:solidFill>
              <a:srgbClr val="7C3AED"/>
            </a:solidFill>
            <a:tailEnd type="triangle" w="med" h="med"/>
          </a:ln>
        </p:spPr>
      </p:cxnSp>
      <p:sp>
        <p:nvSpPr>
          <p:cNvPr id="109" name="Box"/>
          <p:cNvSpPr/>
          <p:nvPr/>
        </p:nvSpPr>
        <p:spPr>
          <a:xfrm>
            <a:off x="3401568" y="3401568"/>
            <a:ext cx="1371600" cy="896112"/>
          </a:xfrm>
          <a:prstGeom prst="roundRect">
            <a:avLst/>
          </a:prstGeom>
          <a:solidFill>
            <a:srgbClr val="ECFDF5"/>
          </a:solidFill>
          <a:ln w="11430">
            <a:solidFill>
              <a:srgbClr val="0F766E"/>
            </a:solidFill>
          </a:ln>
        </p:spPr>
        <p:txBody>
          <a:bodyPr rtlCol="0" anchor="ctr"/>
          <a:lstStyle/>
          <a:p/>
        </p:txBody>
      </p:sp>
      <p:sp>
        <p:nvSpPr>
          <p:cNvPr id="110" name="Box title"/>
          <p:cNvSpPr txBox="1"/>
          <p:nvPr/>
        </p:nvSpPr>
        <p:spPr>
          <a:xfrm>
            <a:off x="3474720" y="3493008"/>
            <a:ext cx="1225296" cy="1554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620" b="1">
                <a:solidFill>
                  <a:srgbClr val="0F766E"/>
                </a:solidFill>
                <a:latin typeface="Arial"/>
              </a:rPr>
              <a:t>workflow token w</a:t>
            </a:r>
          </a:p>
        </p:txBody>
      </p:sp>
      <p:sp>
        <p:nvSpPr>
          <p:cNvPr id="111" name="Token formula hard"/>
          <p:cNvSpPr txBox="1"/>
          <p:nvPr/>
        </p:nvSpPr>
        <p:spPr>
          <a:xfrm>
            <a:off x="3493008" y="3822192"/>
            <a:ext cx="1188720" cy="1097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40" b="1">
                <a:solidFill>
                  <a:srgbClr val="111827"/>
                </a:solidFill>
                <a:latin typeface="Arial"/>
              </a:rPr>
              <a:t>w = E[z_full]</a:t>
            </a:r>
          </a:p>
        </p:txBody>
      </p:sp>
      <p:sp>
        <p:nvSpPr>
          <p:cNvPr id="112" name="Token formula note"/>
          <p:cNvSpPr txBox="1"/>
          <p:nvPr/>
        </p:nvSpPr>
        <p:spPr>
          <a:xfrm>
            <a:off x="3493008" y="3968496"/>
            <a:ext cx="1188720" cy="91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50" b="0">
                <a:solidFill>
                  <a:srgbClr val="4B5563"/>
                </a:solidFill>
                <a:latin typeface="Arial"/>
              </a:rPr>
              <a:t>hard lookup</a:t>
            </a:r>
          </a:p>
        </p:txBody>
      </p:sp>
      <p:sp>
        <p:nvSpPr>
          <p:cNvPr id="113" name="Token row"/>
          <p:cNvSpPr/>
          <p:nvPr/>
        </p:nvSpPr>
        <p:spPr>
          <a:xfrm>
            <a:off x="3730752" y="4114800"/>
            <a:ext cx="713232" cy="128016"/>
          </a:xfrm>
          <a:prstGeom prst="rect">
            <a:avLst/>
          </a:prstGeom>
          <a:solidFill>
            <a:srgbClr val="7C3AED"/>
          </a:solidFill>
          <a:ln w="1270">
            <a:solidFill>
              <a:srgbClr val="7C3AED"/>
            </a:solidFill>
          </a:ln>
        </p:spPr>
        <p:txBody>
          <a:bodyPr rtlCol="0" anchor="ctr"/>
          <a:lstStyle/>
          <a:p/>
        </p:txBody>
      </p:sp>
      <p:sp>
        <p:nvSpPr>
          <p:cNvPr id="114" name="Oracle note"/>
          <p:cNvSpPr txBox="1"/>
          <p:nvPr/>
        </p:nvSpPr>
        <p:spPr>
          <a:xfrm>
            <a:off x="713232" y="4443984"/>
            <a:ext cx="4224528" cy="1280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20" b="0">
                <a:solidFill>
                  <a:srgbClr val="4B5563"/>
                </a:solidFill>
                <a:latin typeface="Arial"/>
              </a:rPr>
              <a:t>Full-surgery phase order gives z_full. This is useful for diagnosis and upper-bound experiments.</a:t>
            </a:r>
          </a:p>
        </p:txBody>
      </p:sp>
      <p:cxnSp>
        <p:nvCxnSpPr>
          <p:cNvPr id="115" name="Path divider"/>
          <p:cNvCxnSpPr/>
          <p:nvPr/>
        </p:nvCxnSpPr>
        <p:spPr>
          <a:xfrm>
            <a:off x="658368" y="4590288"/>
            <a:ext cx="5102352" cy="0"/>
          </a:xfrm>
          <a:prstGeom prst="line">
            <a:avLst/>
          </a:prstGeom>
          <a:ln w="6985">
            <a:solidFill>
              <a:srgbClr val="E5E7EB"/>
            </a:solidFill>
          </a:ln>
        </p:spPr>
      </p:cxnSp>
      <p:sp>
        <p:nvSpPr>
          <p:cNvPr id="116" name="Causal path label"/>
          <p:cNvSpPr txBox="1"/>
          <p:nvPr/>
        </p:nvSpPr>
        <p:spPr>
          <a:xfrm>
            <a:off x="676656" y="4700016"/>
            <a:ext cx="1993392" cy="1280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680" b="1">
                <a:solidFill>
                  <a:srgbClr val="0F766E"/>
                </a:solidFill>
                <a:latin typeface="Arial"/>
              </a:rPr>
              <a:t>Causal-at-inference path</a:t>
            </a:r>
          </a:p>
        </p:txBody>
      </p:sp>
      <p:sp>
        <p:nvSpPr>
          <p:cNvPr id="117" name="Box"/>
          <p:cNvSpPr/>
          <p:nvPr/>
        </p:nvSpPr>
        <p:spPr>
          <a:xfrm>
            <a:off x="694944" y="4901184"/>
            <a:ext cx="1024128" cy="749808"/>
          </a:xfrm>
          <a:prstGeom prst="roundRect">
            <a:avLst/>
          </a:prstGeom>
          <a:solidFill>
            <a:srgbClr val="ECFDF5"/>
          </a:solidFill>
          <a:ln w="11430">
            <a:solidFill>
              <a:srgbClr val="0F766E"/>
            </a:solidFill>
          </a:ln>
        </p:spPr>
        <p:txBody>
          <a:bodyPr rtlCol="0" anchor="ctr"/>
          <a:lstStyle/>
          <a:p/>
        </p:txBody>
      </p:sp>
      <p:sp>
        <p:nvSpPr>
          <p:cNvPr id="118" name="Box title"/>
          <p:cNvSpPr txBox="1"/>
          <p:nvPr/>
        </p:nvSpPr>
        <p:spPr>
          <a:xfrm>
            <a:off x="768096" y="4992624"/>
            <a:ext cx="877824" cy="1554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610" b="1">
                <a:solidFill>
                  <a:srgbClr val="0F766E"/>
                </a:solidFill>
                <a:latin typeface="Arial"/>
              </a:rPr>
              <a:t>prefix phases</a:t>
            </a:r>
          </a:p>
        </p:txBody>
      </p:sp>
      <p:sp>
        <p:nvSpPr>
          <p:cNvPr id="119" name="Phase dot"/>
          <p:cNvSpPr/>
          <p:nvPr/>
        </p:nvSpPr>
        <p:spPr>
          <a:xfrm>
            <a:off x="836676" y="5358384"/>
            <a:ext cx="137160" cy="137160"/>
          </a:xfrm>
          <a:prstGeom prst="ellipse">
            <a:avLst/>
          </a:prstGeom>
          <a:solidFill>
            <a:srgbClr val="2563EB"/>
          </a:solidFill>
          <a:ln w="1270">
            <a:solidFill>
              <a:srgbClr val="2563EB"/>
            </a:solidFill>
          </a:ln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2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cxnSp>
        <p:nvCxnSpPr>
          <p:cNvPr id="120" name="Phase connector"/>
          <p:cNvCxnSpPr/>
          <p:nvPr/>
        </p:nvCxnSpPr>
        <p:spPr>
          <a:xfrm>
            <a:off x="973836" y="5426964"/>
            <a:ext cx="64008" cy="0"/>
          </a:xfrm>
          <a:prstGeom prst="line">
            <a:avLst/>
          </a:prstGeom>
          <a:ln w="4445">
            <a:solidFill>
              <a:srgbClr val="334155"/>
            </a:solidFill>
          </a:ln>
        </p:spPr>
      </p:cxnSp>
      <p:sp>
        <p:nvSpPr>
          <p:cNvPr id="121" name="Phase dot"/>
          <p:cNvSpPr/>
          <p:nvPr/>
        </p:nvSpPr>
        <p:spPr>
          <a:xfrm>
            <a:off x="1037844" y="5358384"/>
            <a:ext cx="137160" cy="137160"/>
          </a:xfrm>
          <a:prstGeom prst="ellipse">
            <a:avLst/>
          </a:prstGeom>
          <a:solidFill>
            <a:srgbClr val="F59E0B"/>
          </a:solidFill>
          <a:ln w="1270">
            <a:solidFill>
              <a:srgbClr val="F59E0B"/>
            </a:solidFill>
          </a:ln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20" b="1">
                <a:solidFill>
                  <a:srgbClr val="FFFFFF"/>
                </a:solidFill>
                <a:latin typeface="Arial"/>
              </a:rPr>
              <a:t>B</a:t>
            </a:r>
          </a:p>
        </p:txBody>
      </p:sp>
      <p:cxnSp>
        <p:nvCxnSpPr>
          <p:cNvPr id="122" name="Phase connector"/>
          <p:cNvCxnSpPr/>
          <p:nvPr/>
        </p:nvCxnSpPr>
        <p:spPr>
          <a:xfrm>
            <a:off x="1175004" y="5426964"/>
            <a:ext cx="64008" cy="0"/>
          </a:xfrm>
          <a:prstGeom prst="line">
            <a:avLst/>
          </a:prstGeom>
          <a:ln w="4445">
            <a:solidFill>
              <a:srgbClr val="334155"/>
            </a:solidFill>
          </a:ln>
        </p:spPr>
      </p:cxnSp>
      <p:sp>
        <p:nvSpPr>
          <p:cNvPr id="123" name="Phase dot"/>
          <p:cNvSpPr/>
          <p:nvPr/>
        </p:nvSpPr>
        <p:spPr>
          <a:xfrm>
            <a:off x="1239012" y="5358384"/>
            <a:ext cx="137160" cy="137160"/>
          </a:xfrm>
          <a:prstGeom prst="ellipse">
            <a:avLst/>
          </a:prstGeom>
          <a:solidFill>
            <a:srgbClr val="7C3AED"/>
          </a:solidFill>
          <a:ln w="1270">
            <a:solidFill>
              <a:srgbClr val="7C3AED"/>
            </a:solidFill>
          </a:ln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20" b="1">
                <a:solidFill>
                  <a:srgbClr val="FFFFFF"/>
                </a:solidFill>
                <a:latin typeface="Arial"/>
              </a:rPr>
              <a:t>C</a:t>
            </a:r>
          </a:p>
        </p:txBody>
      </p:sp>
      <p:cxnSp>
        <p:nvCxnSpPr>
          <p:cNvPr id="124" name="Phase connector"/>
          <p:cNvCxnSpPr/>
          <p:nvPr/>
        </p:nvCxnSpPr>
        <p:spPr>
          <a:xfrm>
            <a:off x="1376172" y="5426964"/>
            <a:ext cx="64008" cy="0"/>
          </a:xfrm>
          <a:prstGeom prst="line">
            <a:avLst/>
          </a:prstGeom>
          <a:ln w="4445">
            <a:solidFill>
              <a:srgbClr val="334155"/>
            </a:solidFill>
          </a:ln>
        </p:spPr>
      </p:cxnSp>
      <p:sp>
        <p:nvSpPr>
          <p:cNvPr id="125" name="Phase dot"/>
          <p:cNvSpPr/>
          <p:nvPr/>
        </p:nvSpPr>
        <p:spPr>
          <a:xfrm>
            <a:off x="1440180" y="5358384"/>
            <a:ext cx="137160" cy="137160"/>
          </a:xfrm>
          <a:prstGeom prst="ellipse">
            <a:avLst/>
          </a:prstGeom>
          <a:solidFill>
            <a:srgbClr val="DB2777"/>
          </a:solidFill>
          <a:ln w="1270">
            <a:solidFill>
              <a:srgbClr val="DB2777"/>
            </a:solidFill>
          </a:ln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20" b="1">
                <a:solidFill>
                  <a:srgbClr val="FFFFFF"/>
                </a:solidFill>
                <a:latin typeface="Arial"/>
              </a:rPr>
              <a:t>D</a:t>
            </a:r>
          </a:p>
        </p:txBody>
      </p:sp>
      <p:sp>
        <p:nvSpPr>
          <p:cNvPr id="126" name="Phase note"/>
          <p:cNvSpPr txBox="1"/>
          <p:nvPr/>
        </p:nvSpPr>
        <p:spPr>
          <a:xfrm>
            <a:off x="768096" y="5495544"/>
            <a:ext cx="877824" cy="91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60" b="0">
                <a:solidFill>
                  <a:srgbClr val="4B5563"/>
                </a:solidFill>
                <a:latin typeface="Arial"/>
              </a:rPr>
              <a:t>observed so far</a:t>
            </a:r>
          </a:p>
        </p:txBody>
      </p:sp>
      <p:cxnSp>
        <p:nvCxnSpPr>
          <p:cNvPr id="127" name="Arrow"/>
          <p:cNvCxnSpPr/>
          <p:nvPr/>
        </p:nvCxnSpPr>
        <p:spPr>
          <a:xfrm>
            <a:off x="1773936" y="5285232"/>
            <a:ext cx="274320" cy="0"/>
          </a:xfrm>
          <a:prstGeom prst="line">
            <a:avLst/>
          </a:prstGeom>
          <a:ln w="17145">
            <a:solidFill>
              <a:srgbClr val="0F766E"/>
            </a:solidFill>
            <a:tailEnd type="triangle" w="med" h="med"/>
          </a:ln>
        </p:spPr>
      </p:cxnSp>
      <p:sp>
        <p:nvSpPr>
          <p:cNvPr id="128" name="Box"/>
          <p:cNvSpPr/>
          <p:nvPr/>
        </p:nvSpPr>
        <p:spPr>
          <a:xfrm>
            <a:off x="2103120" y="4901184"/>
            <a:ext cx="914400" cy="749808"/>
          </a:xfrm>
          <a:prstGeom prst="roundRect">
            <a:avLst/>
          </a:prstGeom>
          <a:solidFill>
            <a:srgbClr val="ECFDF5"/>
          </a:solidFill>
          <a:ln w="11430">
            <a:solidFill>
              <a:srgbClr val="0F766E"/>
            </a:solidFill>
          </a:ln>
        </p:spPr>
        <p:txBody>
          <a:bodyPr rtlCol="0" anchor="ctr"/>
          <a:lstStyle/>
          <a:p/>
        </p:txBody>
      </p:sp>
      <p:sp>
        <p:nvSpPr>
          <p:cNvPr id="129" name="Box title"/>
          <p:cNvSpPr txBox="1"/>
          <p:nvPr/>
        </p:nvSpPr>
        <p:spPr>
          <a:xfrm>
            <a:off x="2176272" y="4992624"/>
            <a:ext cx="768096" cy="1554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600" b="1">
                <a:solidFill>
                  <a:srgbClr val="0F766E"/>
                </a:solidFill>
                <a:latin typeface="Arial"/>
              </a:rPr>
              <a:t>posterior q(z)</a:t>
            </a:r>
          </a:p>
        </p:txBody>
      </p:sp>
      <p:cxnSp>
        <p:nvCxnSpPr>
          <p:cNvPr id="130" name="q baseline"/>
          <p:cNvCxnSpPr/>
          <p:nvPr/>
        </p:nvCxnSpPr>
        <p:spPr>
          <a:xfrm>
            <a:off x="2304288" y="5486400"/>
            <a:ext cx="530352" cy="0"/>
          </a:xfrm>
          <a:prstGeom prst="line">
            <a:avLst/>
          </a:prstGeom>
          <a:ln w="4445">
            <a:solidFill>
              <a:srgbClr val="4B5563"/>
            </a:solidFill>
          </a:ln>
        </p:spPr>
      </p:cxnSp>
      <p:sp>
        <p:nvSpPr>
          <p:cNvPr id="131" name="q bar"/>
          <p:cNvSpPr/>
          <p:nvPr/>
        </p:nvSpPr>
        <p:spPr>
          <a:xfrm>
            <a:off x="2377440" y="5335524"/>
            <a:ext cx="73152" cy="150876"/>
          </a:xfrm>
          <a:prstGeom prst="rect">
            <a:avLst/>
          </a:prstGeom>
          <a:solidFill>
            <a:srgbClr val="99F6E4"/>
          </a:solidFill>
          <a:ln w="2540">
            <a:solidFill>
              <a:srgbClr val="0F766E"/>
            </a:solidFill>
          </a:ln>
        </p:spPr>
        <p:txBody>
          <a:bodyPr rtlCol="0" anchor="ctr"/>
          <a:lstStyle/>
          <a:p/>
        </p:txBody>
      </p:sp>
      <p:sp>
        <p:nvSpPr>
          <p:cNvPr id="132" name="q bar"/>
          <p:cNvSpPr/>
          <p:nvPr/>
        </p:nvSpPr>
        <p:spPr>
          <a:xfrm>
            <a:off x="2514600" y="5157216"/>
            <a:ext cx="73152" cy="329184"/>
          </a:xfrm>
          <a:prstGeom prst="rect">
            <a:avLst/>
          </a:prstGeom>
          <a:solidFill>
            <a:srgbClr val="0F766E"/>
          </a:solidFill>
          <a:ln w="2540">
            <a:solidFill>
              <a:srgbClr val="0F766E"/>
            </a:solidFill>
          </a:ln>
        </p:spPr>
        <p:txBody>
          <a:bodyPr rtlCol="0" anchor="ctr"/>
          <a:lstStyle/>
          <a:p/>
        </p:txBody>
      </p:sp>
      <p:sp>
        <p:nvSpPr>
          <p:cNvPr id="133" name="q bar"/>
          <p:cNvSpPr/>
          <p:nvPr/>
        </p:nvSpPr>
        <p:spPr>
          <a:xfrm>
            <a:off x="2651760" y="5390388"/>
            <a:ext cx="73152" cy="96012"/>
          </a:xfrm>
          <a:prstGeom prst="rect">
            <a:avLst/>
          </a:prstGeom>
          <a:solidFill>
            <a:srgbClr val="99F6E4"/>
          </a:solidFill>
          <a:ln w="2540">
            <a:solidFill>
              <a:srgbClr val="0F766E"/>
            </a:solidFill>
          </a:ln>
        </p:spPr>
        <p:txBody>
          <a:bodyPr rtlCol="0" anchor="ctr"/>
          <a:lstStyle/>
          <a:p/>
        </p:txBody>
      </p:sp>
      <p:sp>
        <p:nvSpPr>
          <p:cNvPr id="134" name="q bar"/>
          <p:cNvSpPr/>
          <p:nvPr/>
        </p:nvSpPr>
        <p:spPr>
          <a:xfrm>
            <a:off x="2788920" y="5239512"/>
            <a:ext cx="73152" cy="246888"/>
          </a:xfrm>
          <a:prstGeom prst="rect">
            <a:avLst/>
          </a:prstGeom>
          <a:solidFill>
            <a:srgbClr val="99F6E4"/>
          </a:solidFill>
          <a:ln w="2540">
            <a:solidFill>
              <a:srgbClr val="0F766E"/>
            </a:solidFill>
          </a:ln>
        </p:spPr>
        <p:txBody>
          <a:bodyPr rtlCol="0" anchor="ctr"/>
          <a:lstStyle/>
          <a:p/>
        </p:txBody>
      </p:sp>
      <p:sp>
        <p:nvSpPr>
          <p:cNvPr id="135" name="q bar"/>
          <p:cNvSpPr/>
          <p:nvPr/>
        </p:nvSpPr>
        <p:spPr>
          <a:xfrm>
            <a:off x="2926080" y="5362956"/>
            <a:ext cx="73152" cy="123444"/>
          </a:xfrm>
          <a:prstGeom prst="rect">
            <a:avLst/>
          </a:prstGeom>
          <a:solidFill>
            <a:srgbClr val="99F6E4"/>
          </a:solidFill>
          <a:ln w="2540">
            <a:solidFill>
              <a:srgbClr val="0F766E"/>
            </a:solidFill>
          </a:ln>
        </p:spPr>
        <p:txBody>
          <a:bodyPr rtlCol="0" anchor="ctr"/>
          <a:lstStyle/>
          <a:p/>
        </p:txBody>
      </p:sp>
      <p:cxnSp>
        <p:nvCxnSpPr>
          <p:cNvPr id="136" name="Arrow"/>
          <p:cNvCxnSpPr/>
          <p:nvPr/>
        </p:nvCxnSpPr>
        <p:spPr>
          <a:xfrm>
            <a:off x="3072384" y="5285232"/>
            <a:ext cx="274320" cy="0"/>
          </a:xfrm>
          <a:prstGeom prst="line">
            <a:avLst/>
          </a:prstGeom>
          <a:ln w="17145">
            <a:solidFill>
              <a:srgbClr val="0F766E"/>
            </a:solidFill>
            <a:tailEnd type="triangle" w="med" h="med"/>
          </a:ln>
        </p:spPr>
      </p:cxnSp>
      <p:sp>
        <p:nvSpPr>
          <p:cNvPr id="137" name="Box"/>
          <p:cNvSpPr/>
          <p:nvPr/>
        </p:nvSpPr>
        <p:spPr>
          <a:xfrm>
            <a:off x="3401568" y="4901184"/>
            <a:ext cx="1371600" cy="749808"/>
          </a:xfrm>
          <a:prstGeom prst="roundRect">
            <a:avLst/>
          </a:prstGeom>
          <a:solidFill>
            <a:srgbClr val="ECFDF5"/>
          </a:solidFill>
          <a:ln w="11430">
            <a:solidFill>
              <a:srgbClr val="0F766E"/>
            </a:solidFill>
          </a:ln>
        </p:spPr>
        <p:txBody>
          <a:bodyPr rtlCol="0" anchor="ctr"/>
          <a:lstStyle/>
          <a:p/>
        </p:txBody>
      </p:sp>
      <p:sp>
        <p:nvSpPr>
          <p:cNvPr id="138" name="Box title"/>
          <p:cNvSpPr txBox="1"/>
          <p:nvPr/>
        </p:nvSpPr>
        <p:spPr>
          <a:xfrm>
            <a:off x="3474720" y="4992624"/>
            <a:ext cx="1225296" cy="1554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620" b="1">
                <a:solidFill>
                  <a:srgbClr val="0F766E"/>
                </a:solidFill>
                <a:latin typeface="Arial"/>
              </a:rPr>
              <a:t>workflow token w</a:t>
            </a:r>
          </a:p>
        </p:txBody>
      </p:sp>
      <p:sp>
        <p:nvSpPr>
          <p:cNvPr id="139" name="Token formula soft"/>
          <p:cNvSpPr txBox="1"/>
          <p:nvPr/>
        </p:nvSpPr>
        <p:spPr>
          <a:xfrm>
            <a:off x="3493008" y="5340096"/>
            <a:ext cx="1188720" cy="1097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00" b="1">
                <a:solidFill>
                  <a:srgbClr val="111827"/>
                </a:solidFill>
                <a:latin typeface="Arial"/>
              </a:rPr>
              <a:t>w = sum_k q_k E[k]</a:t>
            </a:r>
          </a:p>
        </p:txBody>
      </p:sp>
      <p:sp>
        <p:nvSpPr>
          <p:cNvPr id="140" name="Token row"/>
          <p:cNvSpPr/>
          <p:nvPr/>
        </p:nvSpPr>
        <p:spPr>
          <a:xfrm>
            <a:off x="3730752" y="5468112"/>
            <a:ext cx="713232" cy="128016"/>
          </a:xfrm>
          <a:prstGeom prst="rect">
            <a:avLst/>
          </a:prstGeom>
          <a:solidFill>
            <a:srgbClr val="7C3AED"/>
          </a:solidFill>
          <a:ln w="1270">
            <a:solidFill>
              <a:srgbClr val="7C3AED"/>
            </a:solidFill>
          </a:ln>
        </p:spPr>
        <p:txBody>
          <a:bodyPr rtlCol="0" anchor="ctr"/>
          <a:lstStyle/>
          <a:p/>
        </p:txBody>
      </p:sp>
      <p:sp>
        <p:nvSpPr>
          <p:cNvPr id="141" name="Causal note"/>
          <p:cNvSpPr txBox="1"/>
          <p:nvPr/>
        </p:nvSpPr>
        <p:spPr>
          <a:xfrm>
            <a:off x="713232" y="5669280"/>
            <a:ext cx="4224528" cy="1097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00" b="0">
                <a:solidFill>
                  <a:srgbClr val="4B5563"/>
                </a:solidFill>
                <a:latin typeface="Arial"/>
              </a:rPr>
              <a:t>Prefix phases are predicted from observed pixels, then mapped to q(z | prefix).</a:t>
            </a:r>
          </a:p>
        </p:txBody>
      </p:sp>
      <p:sp>
        <p:nvSpPr>
          <p:cNvPr id="142" name="Panel"/>
          <p:cNvSpPr/>
          <p:nvPr/>
        </p:nvSpPr>
        <p:spPr>
          <a:xfrm>
            <a:off x="6272784" y="2788920"/>
            <a:ext cx="5779008" cy="2743200"/>
          </a:xfrm>
          <a:prstGeom prst="roundRect">
            <a:avLst/>
          </a:prstGeom>
          <a:solidFill>
            <a:srgbClr val="FFFBEB"/>
          </a:solidFill>
          <a:ln w="12700">
            <a:solidFill>
              <a:srgbClr val="D97706"/>
            </a:solidFill>
          </a:ln>
        </p:spPr>
        <p:txBody>
          <a:bodyPr rtlCol="0" anchor="ctr"/>
          <a:lstStyle/>
          <a:p/>
        </p:txBody>
      </p:sp>
      <p:sp>
        <p:nvSpPr>
          <p:cNvPr id="143" name="Panel title"/>
          <p:cNvSpPr txBox="1"/>
          <p:nvPr/>
        </p:nvSpPr>
        <p:spPr>
          <a:xfrm>
            <a:off x="6437376" y="2898648"/>
            <a:ext cx="5449824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20" b="1">
                <a:solidFill>
                  <a:srgbClr val="D97706"/>
                </a:solidFill>
                <a:latin typeface="Arial"/>
              </a:rPr>
              <a:t>3. Relation to the overall RSD project</a:t>
            </a:r>
          </a:p>
        </p:txBody>
      </p:sp>
      <p:sp>
        <p:nvSpPr>
          <p:cNvPr id="144" name="Box"/>
          <p:cNvSpPr/>
          <p:nvPr/>
        </p:nvSpPr>
        <p:spPr>
          <a:xfrm>
            <a:off x="6419088" y="3218688"/>
            <a:ext cx="5413248" cy="1426464"/>
          </a:xfrm>
          <a:prstGeom prst="roundRect">
            <a:avLst/>
          </a:prstGeom>
          <a:solidFill>
            <a:srgbClr val="FFFBEB"/>
          </a:solidFill>
          <a:ln w="11430">
            <a:solidFill>
              <a:srgbClr val="D97706"/>
            </a:solidFill>
          </a:ln>
        </p:spPr>
        <p:txBody>
          <a:bodyPr rtlCol="0" anchor="ctr"/>
          <a:lstStyle/>
          <a:p/>
        </p:txBody>
      </p:sp>
      <p:sp>
        <p:nvSpPr>
          <p:cNvPr id="145" name="Box title"/>
          <p:cNvSpPr txBox="1"/>
          <p:nvPr/>
        </p:nvSpPr>
        <p:spPr>
          <a:xfrm>
            <a:off x="6492240" y="3310128"/>
            <a:ext cx="5266944" cy="1554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700" b="1">
                <a:solidFill>
                  <a:srgbClr val="D97706"/>
                </a:solidFill>
                <a:latin typeface="Arial"/>
              </a:rPr>
              <a:t>How it enters the RSD model</a:t>
            </a:r>
          </a:p>
        </p:txBody>
      </p:sp>
      <p:sp>
        <p:nvSpPr>
          <p:cNvPr id="146" name="Box"/>
          <p:cNvSpPr/>
          <p:nvPr/>
        </p:nvSpPr>
        <p:spPr>
          <a:xfrm>
            <a:off x="6583680" y="3602736"/>
            <a:ext cx="841248" cy="960120"/>
          </a:xfrm>
          <a:prstGeom prst="roundRect">
            <a:avLst/>
          </a:prstGeom>
          <a:solidFill>
            <a:srgbClr val="EFF6FF"/>
          </a:solidFill>
          <a:ln w="11430">
            <a:solidFill>
              <a:srgbClr val="1D4ED8"/>
            </a:solidFill>
          </a:ln>
        </p:spPr>
        <p:txBody>
          <a:bodyPr rtlCol="0" anchor="ctr"/>
          <a:lstStyle/>
          <a:p/>
        </p:txBody>
      </p:sp>
      <p:sp>
        <p:nvSpPr>
          <p:cNvPr id="147" name="Box title"/>
          <p:cNvSpPr txBox="1"/>
          <p:nvPr/>
        </p:nvSpPr>
        <p:spPr>
          <a:xfrm>
            <a:off x="6656832" y="3694176"/>
            <a:ext cx="694944" cy="1554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600" b="1">
                <a:solidFill>
                  <a:srgbClr val="1D4ED8"/>
                </a:solidFill>
                <a:latin typeface="Arial"/>
              </a:rPr>
              <a:t>frame features F</a:t>
            </a:r>
          </a:p>
        </p:txBody>
      </p:sp>
      <p:sp>
        <p:nvSpPr>
          <p:cNvPr id="148" name="F matrix"/>
          <p:cNvSpPr/>
          <p:nvPr/>
        </p:nvSpPr>
        <p:spPr>
          <a:xfrm>
            <a:off x="6803136" y="3968496"/>
            <a:ext cx="402336" cy="365760"/>
          </a:xfrm>
          <a:prstGeom prst="rect">
            <a:avLst/>
          </a:prstGeom>
          <a:solidFill>
            <a:srgbClr val="FFFFFF"/>
          </a:solidFill>
          <a:ln w="8255">
            <a:solidFill>
              <a:srgbClr val="1D4ED8"/>
            </a:solidFill>
          </a:ln>
        </p:spPr>
        <p:txBody>
          <a:bodyPr rtlCol="0" anchor="ctr"/>
          <a:lstStyle/>
          <a:p/>
        </p:txBody>
      </p:sp>
      <p:cxnSp>
        <p:nvCxnSpPr>
          <p:cNvPr id="149" name="F row"/>
          <p:cNvCxnSpPr/>
          <p:nvPr/>
        </p:nvCxnSpPr>
        <p:spPr>
          <a:xfrm>
            <a:off x="6803136" y="4014216"/>
            <a:ext cx="402336" cy="0"/>
          </a:xfrm>
          <a:prstGeom prst="line">
            <a:avLst/>
          </a:prstGeom>
          <a:ln w="4445">
            <a:solidFill>
              <a:srgbClr val="BFDBFE"/>
            </a:solidFill>
          </a:ln>
        </p:spPr>
      </p:cxnSp>
      <p:cxnSp>
        <p:nvCxnSpPr>
          <p:cNvPr id="150" name="F row"/>
          <p:cNvCxnSpPr/>
          <p:nvPr/>
        </p:nvCxnSpPr>
        <p:spPr>
          <a:xfrm>
            <a:off x="6803136" y="4059936"/>
            <a:ext cx="402336" cy="0"/>
          </a:xfrm>
          <a:prstGeom prst="line">
            <a:avLst/>
          </a:prstGeom>
          <a:ln w="4445">
            <a:solidFill>
              <a:srgbClr val="BFDBFE"/>
            </a:solidFill>
          </a:ln>
        </p:spPr>
      </p:cxnSp>
      <p:cxnSp>
        <p:nvCxnSpPr>
          <p:cNvPr id="151" name="F row"/>
          <p:cNvCxnSpPr/>
          <p:nvPr/>
        </p:nvCxnSpPr>
        <p:spPr>
          <a:xfrm>
            <a:off x="6803136" y="4105656"/>
            <a:ext cx="402336" cy="0"/>
          </a:xfrm>
          <a:prstGeom prst="line">
            <a:avLst/>
          </a:prstGeom>
          <a:ln w="4445">
            <a:solidFill>
              <a:srgbClr val="BFDBFE"/>
            </a:solidFill>
          </a:ln>
        </p:spPr>
      </p:cxnSp>
      <p:cxnSp>
        <p:nvCxnSpPr>
          <p:cNvPr id="152" name="F row"/>
          <p:cNvCxnSpPr/>
          <p:nvPr/>
        </p:nvCxnSpPr>
        <p:spPr>
          <a:xfrm>
            <a:off x="6803136" y="4151376"/>
            <a:ext cx="402336" cy="0"/>
          </a:xfrm>
          <a:prstGeom prst="line">
            <a:avLst/>
          </a:prstGeom>
          <a:ln w="4445">
            <a:solidFill>
              <a:srgbClr val="BFDBFE"/>
            </a:solidFill>
          </a:ln>
        </p:spPr>
      </p:cxnSp>
      <p:cxnSp>
        <p:nvCxnSpPr>
          <p:cNvPr id="153" name="F row"/>
          <p:cNvCxnSpPr/>
          <p:nvPr/>
        </p:nvCxnSpPr>
        <p:spPr>
          <a:xfrm>
            <a:off x="6803136" y="4197096"/>
            <a:ext cx="402336" cy="0"/>
          </a:xfrm>
          <a:prstGeom prst="line">
            <a:avLst/>
          </a:prstGeom>
          <a:ln w="4445">
            <a:solidFill>
              <a:srgbClr val="BFDBFE"/>
            </a:solidFill>
          </a:ln>
        </p:spPr>
      </p:cxnSp>
      <p:cxnSp>
        <p:nvCxnSpPr>
          <p:cNvPr id="154" name="F row"/>
          <p:cNvCxnSpPr/>
          <p:nvPr/>
        </p:nvCxnSpPr>
        <p:spPr>
          <a:xfrm>
            <a:off x="6803136" y="4242816"/>
            <a:ext cx="402336" cy="0"/>
          </a:xfrm>
          <a:prstGeom prst="line">
            <a:avLst/>
          </a:prstGeom>
          <a:ln w="4445">
            <a:solidFill>
              <a:srgbClr val="BFDBFE"/>
            </a:solidFill>
          </a:ln>
        </p:spPr>
      </p:cxnSp>
      <p:cxnSp>
        <p:nvCxnSpPr>
          <p:cNvPr id="155" name="F row"/>
          <p:cNvCxnSpPr/>
          <p:nvPr/>
        </p:nvCxnSpPr>
        <p:spPr>
          <a:xfrm>
            <a:off x="6803136" y="4288536"/>
            <a:ext cx="402336" cy="0"/>
          </a:xfrm>
          <a:prstGeom prst="line">
            <a:avLst/>
          </a:prstGeom>
          <a:ln w="4445">
            <a:solidFill>
              <a:srgbClr val="BFDBFE"/>
            </a:solidFill>
          </a:ln>
        </p:spPr>
      </p:cxnSp>
      <p:sp>
        <p:nvSpPr>
          <p:cNvPr id="156" name="F dot"/>
          <p:cNvSpPr/>
          <p:nvPr/>
        </p:nvSpPr>
        <p:spPr>
          <a:xfrm>
            <a:off x="6896405" y="3974897"/>
            <a:ext cx="32918" cy="32918"/>
          </a:xfrm>
          <a:prstGeom prst="ellipse">
            <a:avLst/>
          </a:prstGeom>
          <a:solidFill>
            <a:srgbClr val="1D4ED8"/>
          </a:solidFill>
          <a:ln w="1270">
            <a:solidFill>
              <a:srgbClr val="1D4ED8"/>
            </a:solidFill>
          </a:ln>
        </p:spPr>
        <p:txBody>
          <a:bodyPr rtlCol="0" anchor="ctr"/>
          <a:lstStyle/>
          <a:p/>
        </p:txBody>
      </p:sp>
      <p:sp>
        <p:nvSpPr>
          <p:cNvPr id="157" name="F dot"/>
          <p:cNvSpPr/>
          <p:nvPr/>
        </p:nvSpPr>
        <p:spPr>
          <a:xfrm>
            <a:off x="6957365" y="3974897"/>
            <a:ext cx="32918" cy="32918"/>
          </a:xfrm>
          <a:prstGeom prst="ellipse">
            <a:avLst/>
          </a:prstGeom>
          <a:solidFill>
            <a:srgbClr val="1D4ED8"/>
          </a:solidFill>
          <a:ln w="1270">
            <a:solidFill>
              <a:srgbClr val="1D4ED8"/>
            </a:solidFill>
          </a:ln>
        </p:spPr>
        <p:txBody>
          <a:bodyPr rtlCol="0" anchor="ctr"/>
          <a:lstStyle/>
          <a:p/>
        </p:txBody>
      </p:sp>
      <p:sp>
        <p:nvSpPr>
          <p:cNvPr id="158" name="F dot"/>
          <p:cNvSpPr/>
          <p:nvPr/>
        </p:nvSpPr>
        <p:spPr>
          <a:xfrm>
            <a:off x="7018325" y="3974897"/>
            <a:ext cx="32918" cy="32918"/>
          </a:xfrm>
          <a:prstGeom prst="ellipse">
            <a:avLst/>
          </a:prstGeom>
          <a:solidFill>
            <a:srgbClr val="1D4ED8"/>
          </a:solidFill>
          <a:ln w="1270">
            <a:solidFill>
              <a:srgbClr val="1D4ED8"/>
            </a:solidFill>
          </a:ln>
        </p:spPr>
        <p:txBody>
          <a:bodyPr rtlCol="0" anchor="ctr"/>
          <a:lstStyle/>
          <a:p/>
        </p:txBody>
      </p:sp>
      <p:sp>
        <p:nvSpPr>
          <p:cNvPr id="159" name="F dot"/>
          <p:cNvSpPr/>
          <p:nvPr/>
        </p:nvSpPr>
        <p:spPr>
          <a:xfrm>
            <a:off x="7079285" y="3974897"/>
            <a:ext cx="32918" cy="32918"/>
          </a:xfrm>
          <a:prstGeom prst="ellipse">
            <a:avLst/>
          </a:prstGeom>
          <a:solidFill>
            <a:srgbClr val="1D4ED8"/>
          </a:solidFill>
          <a:ln w="1270">
            <a:solidFill>
              <a:srgbClr val="1D4ED8"/>
            </a:solidFill>
          </a:ln>
        </p:spPr>
        <p:txBody>
          <a:bodyPr rtlCol="0" anchor="ctr"/>
          <a:lstStyle/>
          <a:p/>
        </p:txBody>
      </p:sp>
      <p:sp>
        <p:nvSpPr>
          <p:cNvPr id="160" name="F dot"/>
          <p:cNvSpPr/>
          <p:nvPr/>
        </p:nvSpPr>
        <p:spPr>
          <a:xfrm>
            <a:off x="6896405" y="4020617"/>
            <a:ext cx="32918" cy="32918"/>
          </a:xfrm>
          <a:prstGeom prst="ellipse">
            <a:avLst/>
          </a:prstGeom>
          <a:solidFill>
            <a:srgbClr val="1D4ED8"/>
          </a:solidFill>
          <a:ln w="1270">
            <a:solidFill>
              <a:srgbClr val="1D4ED8"/>
            </a:solidFill>
          </a:ln>
        </p:spPr>
        <p:txBody>
          <a:bodyPr rtlCol="0" anchor="ctr"/>
          <a:lstStyle/>
          <a:p/>
        </p:txBody>
      </p:sp>
      <p:sp>
        <p:nvSpPr>
          <p:cNvPr id="161" name="F dot"/>
          <p:cNvSpPr/>
          <p:nvPr/>
        </p:nvSpPr>
        <p:spPr>
          <a:xfrm>
            <a:off x="6957365" y="4020617"/>
            <a:ext cx="32918" cy="32918"/>
          </a:xfrm>
          <a:prstGeom prst="ellipse">
            <a:avLst/>
          </a:prstGeom>
          <a:solidFill>
            <a:srgbClr val="1D4ED8"/>
          </a:solidFill>
          <a:ln w="1270">
            <a:solidFill>
              <a:srgbClr val="1D4ED8"/>
            </a:solidFill>
          </a:ln>
        </p:spPr>
        <p:txBody>
          <a:bodyPr rtlCol="0" anchor="ctr"/>
          <a:lstStyle/>
          <a:p/>
        </p:txBody>
      </p:sp>
      <p:sp>
        <p:nvSpPr>
          <p:cNvPr id="162" name="F dot"/>
          <p:cNvSpPr/>
          <p:nvPr/>
        </p:nvSpPr>
        <p:spPr>
          <a:xfrm>
            <a:off x="7018325" y="4020617"/>
            <a:ext cx="32918" cy="32918"/>
          </a:xfrm>
          <a:prstGeom prst="ellipse">
            <a:avLst/>
          </a:prstGeom>
          <a:solidFill>
            <a:srgbClr val="1D4ED8"/>
          </a:solidFill>
          <a:ln w="1270">
            <a:solidFill>
              <a:srgbClr val="1D4ED8"/>
            </a:solidFill>
          </a:ln>
        </p:spPr>
        <p:txBody>
          <a:bodyPr rtlCol="0" anchor="ctr"/>
          <a:lstStyle/>
          <a:p/>
        </p:txBody>
      </p:sp>
      <p:sp>
        <p:nvSpPr>
          <p:cNvPr id="163" name="F dot"/>
          <p:cNvSpPr/>
          <p:nvPr/>
        </p:nvSpPr>
        <p:spPr>
          <a:xfrm>
            <a:off x="7079285" y="4020617"/>
            <a:ext cx="32918" cy="32918"/>
          </a:xfrm>
          <a:prstGeom prst="ellipse">
            <a:avLst/>
          </a:prstGeom>
          <a:solidFill>
            <a:srgbClr val="1D4ED8"/>
          </a:solidFill>
          <a:ln w="1270">
            <a:solidFill>
              <a:srgbClr val="1D4ED8"/>
            </a:solidFill>
          </a:ln>
        </p:spPr>
        <p:txBody>
          <a:bodyPr rtlCol="0" anchor="ctr"/>
          <a:lstStyle/>
          <a:p/>
        </p:txBody>
      </p:sp>
      <p:sp>
        <p:nvSpPr>
          <p:cNvPr id="164" name="F dot"/>
          <p:cNvSpPr/>
          <p:nvPr/>
        </p:nvSpPr>
        <p:spPr>
          <a:xfrm>
            <a:off x="6896405" y="4066337"/>
            <a:ext cx="32918" cy="32918"/>
          </a:xfrm>
          <a:prstGeom prst="ellipse">
            <a:avLst/>
          </a:prstGeom>
          <a:solidFill>
            <a:srgbClr val="1D4ED8"/>
          </a:solidFill>
          <a:ln w="1270">
            <a:solidFill>
              <a:srgbClr val="1D4ED8"/>
            </a:solidFill>
          </a:ln>
        </p:spPr>
        <p:txBody>
          <a:bodyPr rtlCol="0" anchor="ctr"/>
          <a:lstStyle/>
          <a:p/>
        </p:txBody>
      </p:sp>
      <p:sp>
        <p:nvSpPr>
          <p:cNvPr id="165" name="F dot"/>
          <p:cNvSpPr/>
          <p:nvPr/>
        </p:nvSpPr>
        <p:spPr>
          <a:xfrm>
            <a:off x="6957365" y="4066337"/>
            <a:ext cx="32918" cy="32918"/>
          </a:xfrm>
          <a:prstGeom prst="ellipse">
            <a:avLst/>
          </a:prstGeom>
          <a:solidFill>
            <a:srgbClr val="1D4ED8"/>
          </a:solidFill>
          <a:ln w="1270">
            <a:solidFill>
              <a:srgbClr val="1D4ED8"/>
            </a:solidFill>
          </a:ln>
        </p:spPr>
        <p:txBody>
          <a:bodyPr rtlCol="0" anchor="ctr"/>
          <a:lstStyle/>
          <a:p/>
        </p:txBody>
      </p:sp>
      <p:sp>
        <p:nvSpPr>
          <p:cNvPr id="166" name="F dot"/>
          <p:cNvSpPr/>
          <p:nvPr/>
        </p:nvSpPr>
        <p:spPr>
          <a:xfrm>
            <a:off x="7018325" y="4066337"/>
            <a:ext cx="32918" cy="32918"/>
          </a:xfrm>
          <a:prstGeom prst="ellipse">
            <a:avLst/>
          </a:prstGeom>
          <a:solidFill>
            <a:srgbClr val="1D4ED8"/>
          </a:solidFill>
          <a:ln w="1270">
            <a:solidFill>
              <a:srgbClr val="1D4ED8"/>
            </a:solidFill>
          </a:ln>
        </p:spPr>
        <p:txBody>
          <a:bodyPr rtlCol="0" anchor="ctr"/>
          <a:lstStyle/>
          <a:p/>
        </p:txBody>
      </p:sp>
      <p:sp>
        <p:nvSpPr>
          <p:cNvPr id="167" name="F dot"/>
          <p:cNvSpPr/>
          <p:nvPr/>
        </p:nvSpPr>
        <p:spPr>
          <a:xfrm>
            <a:off x="7079285" y="4066337"/>
            <a:ext cx="32918" cy="32918"/>
          </a:xfrm>
          <a:prstGeom prst="ellipse">
            <a:avLst/>
          </a:prstGeom>
          <a:solidFill>
            <a:srgbClr val="1D4ED8"/>
          </a:solidFill>
          <a:ln w="1270">
            <a:solidFill>
              <a:srgbClr val="1D4ED8"/>
            </a:solidFill>
          </a:ln>
        </p:spPr>
        <p:txBody>
          <a:bodyPr rtlCol="0" anchor="ctr"/>
          <a:lstStyle/>
          <a:p/>
        </p:txBody>
      </p:sp>
      <p:sp>
        <p:nvSpPr>
          <p:cNvPr id="168" name="F dot"/>
          <p:cNvSpPr/>
          <p:nvPr/>
        </p:nvSpPr>
        <p:spPr>
          <a:xfrm>
            <a:off x="6896405" y="4112057"/>
            <a:ext cx="32918" cy="32918"/>
          </a:xfrm>
          <a:prstGeom prst="ellipse">
            <a:avLst/>
          </a:prstGeom>
          <a:solidFill>
            <a:srgbClr val="1D4ED8"/>
          </a:solidFill>
          <a:ln w="1270">
            <a:solidFill>
              <a:srgbClr val="1D4ED8"/>
            </a:solidFill>
          </a:ln>
        </p:spPr>
        <p:txBody>
          <a:bodyPr rtlCol="0" anchor="ctr"/>
          <a:lstStyle/>
          <a:p/>
        </p:txBody>
      </p:sp>
      <p:sp>
        <p:nvSpPr>
          <p:cNvPr id="169" name="F dot"/>
          <p:cNvSpPr/>
          <p:nvPr/>
        </p:nvSpPr>
        <p:spPr>
          <a:xfrm>
            <a:off x="6957365" y="4112057"/>
            <a:ext cx="32918" cy="32918"/>
          </a:xfrm>
          <a:prstGeom prst="ellipse">
            <a:avLst/>
          </a:prstGeom>
          <a:solidFill>
            <a:srgbClr val="1D4ED8"/>
          </a:solidFill>
          <a:ln w="1270">
            <a:solidFill>
              <a:srgbClr val="1D4ED8"/>
            </a:solidFill>
          </a:ln>
        </p:spPr>
        <p:txBody>
          <a:bodyPr rtlCol="0" anchor="ctr"/>
          <a:lstStyle/>
          <a:p/>
        </p:txBody>
      </p:sp>
      <p:sp>
        <p:nvSpPr>
          <p:cNvPr id="170" name="F dot"/>
          <p:cNvSpPr/>
          <p:nvPr/>
        </p:nvSpPr>
        <p:spPr>
          <a:xfrm>
            <a:off x="7018325" y="4112057"/>
            <a:ext cx="32918" cy="32918"/>
          </a:xfrm>
          <a:prstGeom prst="ellipse">
            <a:avLst/>
          </a:prstGeom>
          <a:solidFill>
            <a:srgbClr val="1D4ED8"/>
          </a:solidFill>
          <a:ln w="1270">
            <a:solidFill>
              <a:srgbClr val="1D4ED8"/>
            </a:solidFill>
          </a:ln>
        </p:spPr>
        <p:txBody>
          <a:bodyPr rtlCol="0" anchor="ctr"/>
          <a:lstStyle/>
          <a:p/>
        </p:txBody>
      </p:sp>
      <p:sp>
        <p:nvSpPr>
          <p:cNvPr id="171" name="F dot"/>
          <p:cNvSpPr/>
          <p:nvPr/>
        </p:nvSpPr>
        <p:spPr>
          <a:xfrm>
            <a:off x="7079285" y="4112057"/>
            <a:ext cx="32918" cy="32918"/>
          </a:xfrm>
          <a:prstGeom prst="ellipse">
            <a:avLst/>
          </a:prstGeom>
          <a:solidFill>
            <a:srgbClr val="1D4ED8"/>
          </a:solidFill>
          <a:ln w="1270">
            <a:solidFill>
              <a:srgbClr val="1D4ED8"/>
            </a:solidFill>
          </a:ln>
        </p:spPr>
        <p:txBody>
          <a:bodyPr rtlCol="0" anchor="ctr"/>
          <a:lstStyle/>
          <a:p/>
        </p:txBody>
      </p:sp>
      <p:sp>
        <p:nvSpPr>
          <p:cNvPr id="172" name="F dot"/>
          <p:cNvSpPr/>
          <p:nvPr/>
        </p:nvSpPr>
        <p:spPr>
          <a:xfrm>
            <a:off x="6896405" y="4157777"/>
            <a:ext cx="32918" cy="32918"/>
          </a:xfrm>
          <a:prstGeom prst="ellipse">
            <a:avLst/>
          </a:prstGeom>
          <a:solidFill>
            <a:srgbClr val="1D4ED8"/>
          </a:solidFill>
          <a:ln w="1270">
            <a:solidFill>
              <a:srgbClr val="1D4ED8"/>
            </a:solidFill>
          </a:ln>
        </p:spPr>
        <p:txBody>
          <a:bodyPr rtlCol="0" anchor="ctr"/>
          <a:lstStyle/>
          <a:p/>
        </p:txBody>
      </p:sp>
      <p:sp>
        <p:nvSpPr>
          <p:cNvPr id="173" name="F dot"/>
          <p:cNvSpPr/>
          <p:nvPr/>
        </p:nvSpPr>
        <p:spPr>
          <a:xfrm>
            <a:off x="6957365" y="4157777"/>
            <a:ext cx="32918" cy="32918"/>
          </a:xfrm>
          <a:prstGeom prst="ellipse">
            <a:avLst/>
          </a:prstGeom>
          <a:solidFill>
            <a:srgbClr val="1D4ED8"/>
          </a:solidFill>
          <a:ln w="1270">
            <a:solidFill>
              <a:srgbClr val="1D4ED8"/>
            </a:solidFill>
          </a:ln>
        </p:spPr>
        <p:txBody>
          <a:bodyPr rtlCol="0" anchor="ctr"/>
          <a:lstStyle/>
          <a:p/>
        </p:txBody>
      </p:sp>
      <p:sp>
        <p:nvSpPr>
          <p:cNvPr id="174" name="F dot"/>
          <p:cNvSpPr/>
          <p:nvPr/>
        </p:nvSpPr>
        <p:spPr>
          <a:xfrm>
            <a:off x="7018325" y="4157777"/>
            <a:ext cx="32918" cy="32918"/>
          </a:xfrm>
          <a:prstGeom prst="ellipse">
            <a:avLst/>
          </a:prstGeom>
          <a:solidFill>
            <a:srgbClr val="1D4ED8"/>
          </a:solidFill>
          <a:ln w="1270">
            <a:solidFill>
              <a:srgbClr val="1D4ED8"/>
            </a:solidFill>
          </a:ln>
        </p:spPr>
        <p:txBody>
          <a:bodyPr rtlCol="0" anchor="ctr"/>
          <a:lstStyle/>
          <a:p/>
        </p:txBody>
      </p:sp>
      <p:sp>
        <p:nvSpPr>
          <p:cNvPr id="175" name="F dot"/>
          <p:cNvSpPr/>
          <p:nvPr/>
        </p:nvSpPr>
        <p:spPr>
          <a:xfrm>
            <a:off x="7079285" y="4157777"/>
            <a:ext cx="32918" cy="32918"/>
          </a:xfrm>
          <a:prstGeom prst="ellipse">
            <a:avLst/>
          </a:prstGeom>
          <a:solidFill>
            <a:srgbClr val="1D4ED8"/>
          </a:solidFill>
          <a:ln w="1270">
            <a:solidFill>
              <a:srgbClr val="1D4ED8"/>
            </a:solidFill>
          </a:ln>
        </p:spPr>
        <p:txBody>
          <a:bodyPr rtlCol="0" anchor="ctr"/>
          <a:lstStyle/>
          <a:p/>
        </p:txBody>
      </p:sp>
      <p:sp>
        <p:nvSpPr>
          <p:cNvPr id="176" name="F dot"/>
          <p:cNvSpPr/>
          <p:nvPr/>
        </p:nvSpPr>
        <p:spPr>
          <a:xfrm>
            <a:off x="6896405" y="4203497"/>
            <a:ext cx="32918" cy="32918"/>
          </a:xfrm>
          <a:prstGeom prst="ellipse">
            <a:avLst/>
          </a:prstGeom>
          <a:solidFill>
            <a:srgbClr val="1D4ED8"/>
          </a:solidFill>
          <a:ln w="1270">
            <a:solidFill>
              <a:srgbClr val="1D4ED8"/>
            </a:solidFill>
          </a:ln>
        </p:spPr>
        <p:txBody>
          <a:bodyPr rtlCol="0" anchor="ctr"/>
          <a:lstStyle/>
          <a:p/>
        </p:txBody>
      </p:sp>
      <p:sp>
        <p:nvSpPr>
          <p:cNvPr id="177" name="F dot"/>
          <p:cNvSpPr/>
          <p:nvPr/>
        </p:nvSpPr>
        <p:spPr>
          <a:xfrm>
            <a:off x="6957365" y="4203497"/>
            <a:ext cx="32918" cy="32918"/>
          </a:xfrm>
          <a:prstGeom prst="ellipse">
            <a:avLst/>
          </a:prstGeom>
          <a:solidFill>
            <a:srgbClr val="1D4ED8"/>
          </a:solidFill>
          <a:ln w="1270">
            <a:solidFill>
              <a:srgbClr val="1D4ED8"/>
            </a:solidFill>
          </a:ln>
        </p:spPr>
        <p:txBody>
          <a:bodyPr rtlCol="0" anchor="ctr"/>
          <a:lstStyle/>
          <a:p/>
        </p:txBody>
      </p:sp>
      <p:sp>
        <p:nvSpPr>
          <p:cNvPr id="178" name="F dot"/>
          <p:cNvSpPr/>
          <p:nvPr/>
        </p:nvSpPr>
        <p:spPr>
          <a:xfrm>
            <a:off x="7018325" y="4203497"/>
            <a:ext cx="32918" cy="32918"/>
          </a:xfrm>
          <a:prstGeom prst="ellipse">
            <a:avLst/>
          </a:prstGeom>
          <a:solidFill>
            <a:srgbClr val="1D4ED8"/>
          </a:solidFill>
          <a:ln w="1270">
            <a:solidFill>
              <a:srgbClr val="1D4ED8"/>
            </a:solidFill>
          </a:ln>
        </p:spPr>
        <p:txBody>
          <a:bodyPr rtlCol="0" anchor="ctr"/>
          <a:lstStyle/>
          <a:p/>
        </p:txBody>
      </p:sp>
      <p:sp>
        <p:nvSpPr>
          <p:cNvPr id="179" name="F dot"/>
          <p:cNvSpPr/>
          <p:nvPr/>
        </p:nvSpPr>
        <p:spPr>
          <a:xfrm>
            <a:off x="7079285" y="4203497"/>
            <a:ext cx="32918" cy="32918"/>
          </a:xfrm>
          <a:prstGeom prst="ellipse">
            <a:avLst/>
          </a:prstGeom>
          <a:solidFill>
            <a:srgbClr val="1D4ED8"/>
          </a:solidFill>
          <a:ln w="1270">
            <a:solidFill>
              <a:srgbClr val="1D4ED8"/>
            </a:solidFill>
          </a:ln>
        </p:spPr>
        <p:txBody>
          <a:bodyPr rtlCol="0" anchor="ctr"/>
          <a:lstStyle/>
          <a:p/>
        </p:txBody>
      </p:sp>
      <p:sp>
        <p:nvSpPr>
          <p:cNvPr id="180" name="F dot"/>
          <p:cNvSpPr/>
          <p:nvPr/>
        </p:nvSpPr>
        <p:spPr>
          <a:xfrm>
            <a:off x="6896405" y="4249217"/>
            <a:ext cx="32918" cy="32918"/>
          </a:xfrm>
          <a:prstGeom prst="ellipse">
            <a:avLst/>
          </a:prstGeom>
          <a:solidFill>
            <a:srgbClr val="1D4ED8"/>
          </a:solidFill>
          <a:ln w="1270">
            <a:solidFill>
              <a:srgbClr val="1D4ED8"/>
            </a:solidFill>
          </a:ln>
        </p:spPr>
        <p:txBody>
          <a:bodyPr rtlCol="0" anchor="ctr"/>
          <a:lstStyle/>
          <a:p/>
        </p:txBody>
      </p:sp>
      <p:sp>
        <p:nvSpPr>
          <p:cNvPr id="181" name="F dot"/>
          <p:cNvSpPr/>
          <p:nvPr/>
        </p:nvSpPr>
        <p:spPr>
          <a:xfrm>
            <a:off x="6957365" y="4249217"/>
            <a:ext cx="32918" cy="32918"/>
          </a:xfrm>
          <a:prstGeom prst="ellipse">
            <a:avLst/>
          </a:prstGeom>
          <a:solidFill>
            <a:srgbClr val="1D4ED8"/>
          </a:solidFill>
          <a:ln w="1270">
            <a:solidFill>
              <a:srgbClr val="1D4ED8"/>
            </a:solidFill>
          </a:ln>
        </p:spPr>
        <p:txBody>
          <a:bodyPr rtlCol="0" anchor="ctr"/>
          <a:lstStyle/>
          <a:p/>
        </p:txBody>
      </p:sp>
      <p:sp>
        <p:nvSpPr>
          <p:cNvPr id="182" name="F dot"/>
          <p:cNvSpPr/>
          <p:nvPr/>
        </p:nvSpPr>
        <p:spPr>
          <a:xfrm>
            <a:off x="7018325" y="4249217"/>
            <a:ext cx="32918" cy="32918"/>
          </a:xfrm>
          <a:prstGeom prst="ellipse">
            <a:avLst/>
          </a:prstGeom>
          <a:solidFill>
            <a:srgbClr val="1D4ED8"/>
          </a:solidFill>
          <a:ln w="1270">
            <a:solidFill>
              <a:srgbClr val="1D4ED8"/>
            </a:solidFill>
          </a:ln>
        </p:spPr>
        <p:txBody>
          <a:bodyPr rtlCol="0" anchor="ctr"/>
          <a:lstStyle/>
          <a:p/>
        </p:txBody>
      </p:sp>
      <p:sp>
        <p:nvSpPr>
          <p:cNvPr id="183" name="F dot"/>
          <p:cNvSpPr/>
          <p:nvPr/>
        </p:nvSpPr>
        <p:spPr>
          <a:xfrm>
            <a:off x="7079285" y="4249217"/>
            <a:ext cx="32918" cy="32918"/>
          </a:xfrm>
          <a:prstGeom prst="ellipse">
            <a:avLst/>
          </a:prstGeom>
          <a:solidFill>
            <a:srgbClr val="1D4ED8"/>
          </a:solidFill>
          <a:ln w="1270">
            <a:solidFill>
              <a:srgbClr val="1D4ED8"/>
            </a:solidFill>
          </a:ln>
        </p:spPr>
        <p:txBody>
          <a:bodyPr rtlCol="0" anchor="ctr"/>
          <a:lstStyle/>
          <a:p/>
        </p:txBody>
      </p:sp>
      <p:sp>
        <p:nvSpPr>
          <p:cNvPr id="184" name="F dot"/>
          <p:cNvSpPr/>
          <p:nvPr/>
        </p:nvSpPr>
        <p:spPr>
          <a:xfrm>
            <a:off x="6896405" y="4294937"/>
            <a:ext cx="32918" cy="32918"/>
          </a:xfrm>
          <a:prstGeom prst="ellipse">
            <a:avLst/>
          </a:prstGeom>
          <a:solidFill>
            <a:srgbClr val="1D4ED8"/>
          </a:solidFill>
          <a:ln w="1270">
            <a:solidFill>
              <a:srgbClr val="1D4ED8"/>
            </a:solidFill>
          </a:ln>
        </p:spPr>
        <p:txBody>
          <a:bodyPr rtlCol="0" anchor="ctr"/>
          <a:lstStyle/>
          <a:p/>
        </p:txBody>
      </p:sp>
      <p:sp>
        <p:nvSpPr>
          <p:cNvPr id="185" name="F dot"/>
          <p:cNvSpPr/>
          <p:nvPr/>
        </p:nvSpPr>
        <p:spPr>
          <a:xfrm>
            <a:off x="6957365" y="4294937"/>
            <a:ext cx="32918" cy="32918"/>
          </a:xfrm>
          <a:prstGeom prst="ellipse">
            <a:avLst/>
          </a:prstGeom>
          <a:solidFill>
            <a:srgbClr val="1D4ED8"/>
          </a:solidFill>
          <a:ln w="1270">
            <a:solidFill>
              <a:srgbClr val="1D4ED8"/>
            </a:solidFill>
          </a:ln>
        </p:spPr>
        <p:txBody>
          <a:bodyPr rtlCol="0" anchor="ctr"/>
          <a:lstStyle/>
          <a:p/>
        </p:txBody>
      </p:sp>
      <p:sp>
        <p:nvSpPr>
          <p:cNvPr id="186" name="F dot"/>
          <p:cNvSpPr/>
          <p:nvPr/>
        </p:nvSpPr>
        <p:spPr>
          <a:xfrm>
            <a:off x="7018325" y="4294937"/>
            <a:ext cx="32918" cy="32918"/>
          </a:xfrm>
          <a:prstGeom prst="ellipse">
            <a:avLst/>
          </a:prstGeom>
          <a:solidFill>
            <a:srgbClr val="1D4ED8"/>
          </a:solidFill>
          <a:ln w="1270">
            <a:solidFill>
              <a:srgbClr val="1D4ED8"/>
            </a:solidFill>
          </a:ln>
        </p:spPr>
        <p:txBody>
          <a:bodyPr rtlCol="0" anchor="ctr"/>
          <a:lstStyle/>
          <a:p/>
        </p:txBody>
      </p:sp>
      <p:sp>
        <p:nvSpPr>
          <p:cNvPr id="187" name="F dot"/>
          <p:cNvSpPr/>
          <p:nvPr/>
        </p:nvSpPr>
        <p:spPr>
          <a:xfrm>
            <a:off x="7079285" y="4294937"/>
            <a:ext cx="32918" cy="32918"/>
          </a:xfrm>
          <a:prstGeom prst="ellipse">
            <a:avLst/>
          </a:prstGeom>
          <a:solidFill>
            <a:srgbClr val="1D4ED8"/>
          </a:solidFill>
          <a:ln w="1270">
            <a:solidFill>
              <a:srgbClr val="1D4ED8"/>
            </a:solidFill>
          </a:ln>
        </p:spPr>
        <p:txBody>
          <a:bodyPr rtlCol="0" anchor="ctr"/>
          <a:lstStyle/>
          <a:p/>
        </p:txBody>
      </p:sp>
      <p:sp>
        <p:nvSpPr>
          <p:cNvPr id="188" name="F shape"/>
          <p:cNvSpPr txBox="1"/>
          <p:nvPr/>
        </p:nvSpPr>
        <p:spPr>
          <a:xfrm>
            <a:off x="6675120" y="4379976"/>
            <a:ext cx="658368" cy="91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90" b="1">
                <a:solidFill>
                  <a:srgbClr val="1D4ED8"/>
                </a:solidFill>
                <a:latin typeface="Arial"/>
              </a:rPr>
              <a:t>F in R^(8 x 768)</a:t>
            </a:r>
          </a:p>
        </p:txBody>
      </p:sp>
      <p:cxnSp>
        <p:nvCxnSpPr>
          <p:cNvPr id="189" name="Arrow"/>
          <p:cNvCxnSpPr/>
          <p:nvPr/>
        </p:nvCxnSpPr>
        <p:spPr>
          <a:xfrm>
            <a:off x="7461504" y="4078224"/>
            <a:ext cx="182880" cy="0"/>
          </a:xfrm>
          <a:prstGeom prst="line">
            <a:avLst/>
          </a:prstGeom>
          <a:ln w="17145">
            <a:solidFill>
              <a:srgbClr val="D97706"/>
            </a:solidFill>
            <a:tailEnd type="triangle" w="med" h="med"/>
          </a:ln>
        </p:spPr>
      </p:cxnSp>
      <p:sp>
        <p:nvSpPr>
          <p:cNvPr id="190" name="Box"/>
          <p:cNvSpPr/>
          <p:nvPr/>
        </p:nvSpPr>
        <p:spPr>
          <a:xfrm>
            <a:off x="7699248" y="3602736"/>
            <a:ext cx="1051560" cy="960120"/>
          </a:xfrm>
          <a:prstGeom prst="roundRect">
            <a:avLst/>
          </a:prstGeom>
          <a:solidFill>
            <a:srgbClr val="ECFDF5"/>
          </a:solidFill>
          <a:ln w="11430">
            <a:solidFill>
              <a:srgbClr val="0F766E"/>
            </a:solidFill>
          </a:ln>
        </p:spPr>
        <p:txBody>
          <a:bodyPr rtlCol="0" anchor="ctr"/>
          <a:lstStyle/>
          <a:p/>
        </p:txBody>
      </p:sp>
      <p:sp>
        <p:nvSpPr>
          <p:cNvPr id="191" name="Box title"/>
          <p:cNvSpPr txBox="1"/>
          <p:nvPr/>
        </p:nvSpPr>
        <p:spPr>
          <a:xfrm>
            <a:off x="7772400" y="3694176"/>
            <a:ext cx="905256" cy="1554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620" b="1">
                <a:solidFill>
                  <a:srgbClr val="0F766E"/>
                </a:solidFill>
                <a:latin typeface="Arial"/>
              </a:rPr>
              <a:t>workflow token w</a:t>
            </a:r>
          </a:p>
        </p:txBody>
      </p:sp>
      <p:sp>
        <p:nvSpPr>
          <p:cNvPr id="192" name="Token formula hard"/>
          <p:cNvSpPr txBox="1"/>
          <p:nvPr/>
        </p:nvSpPr>
        <p:spPr>
          <a:xfrm>
            <a:off x="7790688" y="3968496"/>
            <a:ext cx="868680" cy="1097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00" b="0">
                <a:solidFill>
                  <a:srgbClr val="111827"/>
                </a:solidFill>
                <a:latin typeface="Arial"/>
              </a:rPr>
              <a:t>oracle: w = E[z]</a:t>
            </a:r>
          </a:p>
        </p:txBody>
      </p:sp>
      <p:sp>
        <p:nvSpPr>
          <p:cNvPr id="193" name="Token formula soft"/>
          <p:cNvSpPr txBox="1"/>
          <p:nvPr/>
        </p:nvSpPr>
        <p:spPr>
          <a:xfrm>
            <a:off x="7790688" y="4133088"/>
            <a:ext cx="868680" cy="1097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00" b="0">
                <a:solidFill>
                  <a:srgbClr val="111827"/>
                </a:solidFill>
                <a:latin typeface="Arial"/>
              </a:rPr>
              <a:t>causal: w = sum_k q_k E[k]</a:t>
            </a:r>
          </a:p>
        </p:txBody>
      </p:sp>
      <p:sp>
        <p:nvSpPr>
          <p:cNvPr id="194" name="Token row"/>
          <p:cNvSpPr/>
          <p:nvPr/>
        </p:nvSpPr>
        <p:spPr>
          <a:xfrm>
            <a:off x="8028432" y="4379976"/>
            <a:ext cx="393192" cy="128016"/>
          </a:xfrm>
          <a:prstGeom prst="rect">
            <a:avLst/>
          </a:prstGeom>
          <a:solidFill>
            <a:srgbClr val="7C3AED"/>
          </a:solidFill>
          <a:ln w="1270">
            <a:solidFill>
              <a:srgbClr val="7C3AED"/>
            </a:solidFill>
          </a:ln>
        </p:spPr>
        <p:txBody>
          <a:bodyPr rtlCol="0" anchor="ctr"/>
          <a:lstStyle/>
          <a:p/>
        </p:txBody>
      </p:sp>
      <p:cxnSp>
        <p:nvCxnSpPr>
          <p:cNvPr id="195" name="Arrow"/>
          <p:cNvCxnSpPr/>
          <p:nvPr/>
        </p:nvCxnSpPr>
        <p:spPr>
          <a:xfrm>
            <a:off x="8787384" y="4078224"/>
            <a:ext cx="173736" cy="0"/>
          </a:xfrm>
          <a:prstGeom prst="line">
            <a:avLst/>
          </a:prstGeom>
          <a:ln w="17145">
            <a:solidFill>
              <a:srgbClr val="D97706"/>
            </a:solidFill>
            <a:tailEnd type="triangle" w="med" h="med"/>
          </a:ln>
        </p:spPr>
      </p:cxnSp>
      <p:sp>
        <p:nvSpPr>
          <p:cNvPr id="196" name="Box"/>
          <p:cNvSpPr/>
          <p:nvPr/>
        </p:nvSpPr>
        <p:spPr>
          <a:xfrm>
            <a:off x="9015984" y="3602736"/>
            <a:ext cx="932688" cy="96012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97706"/>
            </a:solidFill>
          </a:ln>
        </p:spPr>
        <p:txBody>
          <a:bodyPr rtlCol="0" anchor="ctr"/>
          <a:lstStyle/>
          <a:p/>
        </p:txBody>
      </p:sp>
      <p:sp>
        <p:nvSpPr>
          <p:cNvPr id="197" name="Box title"/>
          <p:cNvSpPr txBox="1"/>
          <p:nvPr/>
        </p:nvSpPr>
        <p:spPr>
          <a:xfrm>
            <a:off x="9089136" y="3694176"/>
            <a:ext cx="786384" cy="1554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80" b="1">
                <a:solidFill>
                  <a:srgbClr val="D97706"/>
                </a:solidFill>
                <a:latin typeface="Arial"/>
              </a:rPr>
              <a:t>sequence S</a:t>
            </a:r>
          </a:p>
        </p:txBody>
      </p:sp>
      <p:sp>
        <p:nvSpPr>
          <p:cNvPr id="198" name="S formula"/>
          <p:cNvSpPr txBox="1"/>
          <p:nvPr/>
        </p:nvSpPr>
        <p:spPr>
          <a:xfrm>
            <a:off x="9098280" y="3968496"/>
            <a:ext cx="768096" cy="1188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90" b="1">
                <a:solidFill>
                  <a:srgbClr val="111827"/>
                </a:solidFill>
                <a:latin typeface="Arial"/>
              </a:rPr>
              <a:t>S = [w ; f1 ; ... ; f8]</a:t>
            </a:r>
          </a:p>
        </p:txBody>
      </p:sp>
      <p:sp>
        <p:nvSpPr>
          <p:cNvPr id="199" name="S shape"/>
          <p:cNvSpPr txBox="1"/>
          <p:nvPr/>
        </p:nvSpPr>
        <p:spPr>
          <a:xfrm>
            <a:off x="9098280" y="4169664"/>
            <a:ext cx="768096" cy="1005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40" b="0">
                <a:solidFill>
                  <a:srgbClr val="4B5563"/>
                </a:solidFill>
                <a:latin typeface="Arial"/>
              </a:rPr>
              <a:t>R^(9 x 768)</a:t>
            </a:r>
          </a:p>
        </p:txBody>
      </p:sp>
      <p:sp>
        <p:nvSpPr>
          <p:cNvPr id="200" name="No plus"/>
          <p:cNvSpPr txBox="1"/>
          <p:nvPr/>
        </p:nvSpPr>
        <p:spPr>
          <a:xfrm>
            <a:off x="9107424" y="4352544"/>
            <a:ext cx="749808" cy="91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30" b="1">
                <a:solidFill>
                  <a:srgbClr val="DC2626"/>
                </a:solidFill>
                <a:latin typeface="Arial"/>
              </a:rPr>
              <a:t>prepend, not +</a:t>
            </a:r>
          </a:p>
        </p:txBody>
      </p:sp>
      <p:cxnSp>
        <p:nvCxnSpPr>
          <p:cNvPr id="201" name="Arrow"/>
          <p:cNvCxnSpPr/>
          <p:nvPr/>
        </p:nvCxnSpPr>
        <p:spPr>
          <a:xfrm>
            <a:off x="9994392" y="4078224"/>
            <a:ext cx="173736" cy="0"/>
          </a:xfrm>
          <a:prstGeom prst="line">
            <a:avLst/>
          </a:prstGeom>
          <a:ln w="17145">
            <a:solidFill>
              <a:srgbClr val="334155"/>
            </a:solidFill>
            <a:tailEnd type="triangle" w="med" h="med"/>
          </a:ln>
        </p:spPr>
      </p:cxnSp>
      <p:sp>
        <p:nvSpPr>
          <p:cNvPr id="202" name="Box"/>
          <p:cNvSpPr/>
          <p:nvPr/>
        </p:nvSpPr>
        <p:spPr>
          <a:xfrm>
            <a:off x="10222992" y="3602736"/>
            <a:ext cx="749808" cy="960120"/>
          </a:xfrm>
          <a:prstGeom prst="roundRect">
            <a:avLst/>
          </a:prstGeom>
          <a:solidFill>
            <a:srgbClr val="F1F5F9"/>
          </a:solidFill>
          <a:ln w="11430">
            <a:solidFill>
              <a:srgbClr val="334155"/>
            </a:solidFill>
          </a:ln>
        </p:spPr>
        <p:txBody>
          <a:bodyPr rtlCol="0" anchor="ctr"/>
          <a:lstStyle/>
          <a:p/>
        </p:txBody>
      </p:sp>
      <p:sp>
        <p:nvSpPr>
          <p:cNvPr id="203" name="Box title"/>
          <p:cNvSpPr txBox="1"/>
          <p:nvPr/>
        </p:nvSpPr>
        <p:spPr>
          <a:xfrm>
            <a:off x="10296144" y="3694176"/>
            <a:ext cx="603504" cy="1554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600" b="1">
                <a:solidFill>
                  <a:srgbClr val="111827"/>
                </a:solidFill>
                <a:latin typeface="Arial"/>
              </a:rPr>
              <a:t>HTA</a:t>
            </a:r>
          </a:p>
        </p:txBody>
      </p:sp>
      <p:sp>
        <p:nvSpPr>
          <p:cNvPr id="204" name="HTA line"/>
          <p:cNvSpPr/>
          <p:nvPr/>
        </p:nvSpPr>
        <p:spPr>
          <a:xfrm>
            <a:off x="10351008" y="3886200"/>
            <a:ext cx="493776" cy="45720"/>
          </a:xfrm>
          <a:prstGeom prst="roundRect">
            <a:avLst/>
          </a:prstGeom>
          <a:solidFill>
            <a:srgbClr val="E5E7EB"/>
          </a:solidFill>
          <a:ln w="2286">
            <a:solidFill>
              <a:srgbClr val="334155"/>
            </a:solidFill>
          </a:ln>
        </p:spPr>
        <p:txBody>
          <a:bodyPr rtlCol="0" anchor="ctr"/>
          <a:lstStyle/>
          <a:p/>
        </p:txBody>
      </p:sp>
      <p:sp>
        <p:nvSpPr>
          <p:cNvPr id="205" name="HTA line"/>
          <p:cNvSpPr/>
          <p:nvPr/>
        </p:nvSpPr>
        <p:spPr>
          <a:xfrm>
            <a:off x="10351008" y="3968496"/>
            <a:ext cx="493776" cy="45720"/>
          </a:xfrm>
          <a:prstGeom prst="roundRect">
            <a:avLst/>
          </a:prstGeom>
          <a:solidFill>
            <a:srgbClr val="E5E7EB"/>
          </a:solidFill>
          <a:ln w="2286">
            <a:solidFill>
              <a:srgbClr val="334155"/>
            </a:solidFill>
          </a:ln>
        </p:spPr>
        <p:txBody>
          <a:bodyPr rtlCol="0" anchor="ctr"/>
          <a:lstStyle/>
          <a:p/>
        </p:txBody>
      </p:sp>
      <p:sp>
        <p:nvSpPr>
          <p:cNvPr id="206" name="HTA line"/>
          <p:cNvSpPr/>
          <p:nvPr/>
        </p:nvSpPr>
        <p:spPr>
          <a:xfrm>
            <a:off x="10351008" y="4050792"/>
            <a:ext cx="493776" cy="45720"/>
          </a:xfrm>
          <a:prstGeom prst="roundRect">
            <a:avLst/>
          </a:prstGeom>
          <a:solidFill>
            <a:srgbClr val="E5E7EB"/>
          </a:solidFill>
          <a:ln w="2286">
            <a:solidFill>
              <a:srgbClr val="334155"/>
            </a:solidFill>
          </a:ln>
        </p:spPr>
        <p:txBody>
          <a:bodyPr rtlCol="0" anchor="ctr"/>
          <a:lstStyle/>
          <a:p/>
        </p:txBody>
      </p:sp>
      <p:sp>
        <p:nvSpPr>
          <p:cNvPr id="207" name="HTA line"/>
          <p:cNvSpPr/>
          <p:nvPr/>
        </p:nvSpPr>
        <p:spPr>
          <a:xfrm>
            <a:off x="10351008" y="4133088"/>
            <a:ext cx="493776" cy="45720"/>
          </a:xfrm>
          <a:prstGeom prst="roundRect">
            <a:avLst/>
          </a:prstGeom>
          <a:solidFill>
            <a:srgbClr val="E5E7EB"/>
          </a:solidFill>
          <a:ln w="2286">
            <a:solidFill>
              <a:srgbClr val="334155"/>
            </a:solidFill>
          </a:ln>
        </p:spPr>
        <p:txBody>
          <a:bodyPr rtlCol="0" anchor="ctr"/>
          <a:lstStyle/>
          <a:p/>
        </p:txBody>
      </p:sp>
      <p:sp>
        <p:nvSpPr>
          <p:cNvPr id="208" name="HTA line"/>
          <p:cNvSpPr/>
          <p:nvPr/>
        </p:nvSpPr>
        <p:spPr>
          <a:xfrm>
            <a:off x="10351008" y="4215384"/>
            <a:ext cx="493776" cy="45720"/>
          </a:xfrm>
          <a:prstGeom prst="roundRect">
            <a:avLst/>
          </a:prstGeom>
          <a:solidFill>
            <a:srgbClr val="E5E7EB"/>
          </a:solidFill>
          <a:ln w="2286">
            <a:solidFill>
              <a:srgbClr val="334155"/>
            </a:solidFill>
          </a:ln>
        </p:spPr>
        <p:txBody>
          <a:bodyPr rtlCol="0" anchor="ctr"/>
          <a:lstStyle/>
          <a:p/>
        </p:txBody>
      </p:sp>
      <p:cxnSp>
        <p:nvCxnSpPr>
          <p:cNvPr id="209" name="Arrow"/>
          <p:cNvCxnSpPr/>
          <p:nvPr/>
        </p:nvCxnSpPr>
        <p:spPr>
          <a:xfrm>
            <a:off x="11018520" y="4078224"/>
            <a:ext cx="173736" cy="0"/>
          </a:xfrm>
          <a:prstGeom prst="line">
            <a:avLst/>
          </a:prstGeom>
          <a:ln w="17145">
            <a:solidFill>
              <a:srgbClr val="334155"/>
            </a:solidFill>
            <a:tailEnd type="triangle" w="med" h="med"/>
          </a:ln>
        </p:spPr>
      </p:cxnSp>
      <p:sp>
        <p:nvSpPr>
          <p:cNvPr id="210" name="Box"/>
          <p:cNvSpPr/>
          <p:nvPr/>
        </p:nvSpPr>
        <p:spPr>
          <a:xfrm>
            <a:off x="11247120" y="3602736"/>
            <a:ext cx="530352" cy="96012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97706"/>
            </a:solidFill>
          </a:ln>
        </p:spPr>
        <p:txBody>
          <a:bodyPr rtlCol="0" anchor="ctr"/>
          <a:lstStyle/>
          <a:p/>
        </p:txBody>
      </p:sp>
      <p:sp>
        <p:nvSpPr>
          <p:cNvPr id="211" name="Box title"/>
          <p:cNvSpPr txBox="1"/>
          <p:nvPr/>
        </p:nvSpPr>
        <p:spPr>
          <a:xfrm>
            <a:off x="11320272" y="3694176"/>
            <a:ext cx="384048" cy="1554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40" b="1">
                <a:solidFill>
                  <a:srgbClr val="D97706"/>
                </a:solidFill>
                <a:latin typeface="Arial"/>
              </a:rPr>
              <a:t>heads</a:t>
            </a:r>
          </a:p>
        </p:txBody>
      </p:sp>
      <p:sp>
        <p:nvSpPr>
          <p:cNvPr id="212" name="Head chip"/>
          <p:cNvSpPr/>
          <p:nvPr/>
        </p:nvSpPr>
        <p:spPr>
          <a:xfrm>
            <a:off x="11320272" y="3877056"/>
            <a:ext cx="384048" cy="109728"/>
          </a:xfrm>
          <a:prstGeom prst="roundRect">
            <a:avLst/>
          </a:prstGeom>
          <a:solidFill>
            <a:srgbClr val="FFFFFF"/>
          </a:solidFill>
          <a:ln w="3175">
            <a:solidFill>
              <a:srgbClr val="D97706"/>
            </a:solidFill>
          </a:ln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70" b="1">
                <a:solidFill>
                  <a:srgbClr val="111827"/>
                </a:solidFill>
                <a:latin typeface="Arial"/>
              </a:rPr>
              <a:t>RSD</a:t>
            </a:r>
          </a:p>
        </p:txBody>
      </p:sp>
      <p:sp>
        <p:nvSpPr>
          <p:cNvPr id="213" name="Head chip"/>
          <p:cNvSpPr/>
          <p:nvPr/>
        </p:nvSpPr>
        <p:spPr>
          <a:xfrm>
            <a:off x="11320272" y="4041648"/>
            <a:ext cx="384048" cy="109728"/>
          </a:xfrm>
          <a:prstGeom prst="roundRect">
            <a:avLst/>
          </a:prstGeom>
          <a:solidFill>
            <a:srgbClr val="FFFFFF"/>
          </a:solidFill>
          <a:ln w="3175">
            <a:solidFill>
              <a:srgbClr val="D97706"/>
            </a:solidFill>
          </a:ln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70" b="1">
                <a:solidFill>
                  <a:srgbClr val="111827"/>
                </a:solidFill>
                <a:latin typeface="Arial"/>
              </a:rPr>
              <a:t>phase</a:t>
            </a:r>
          </a:p>
        </p:txBody>
      </p:sp>
      <p:sp>
        <p:nvSpPr>
          <p:cNvPr id="214" name="Head chip"/>
          <p:cNvSpPr/>
          <p:nvPr/>
        </p:nvSpPr>
        <p:spPr>
          <a:xfrm>
            <a:off x="11320272" y="4206240"/>
            <a:ext cx="384048" cy="109728"/>
          </a:xfrm>
          <a:prstGeom prst="roundRect">
            <a:avLst/>
          </a:prstGeom>
          <a:solidFill>
            <a:srgbClr val="FFFFFF"/>
          </a:solidFill>
          <a:ln w="3175">
            <a:solidFill>
              <a:srgbClr val="D97706"/>
            </a:solidFill>
          </a:ln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70" b="1">
                <a:solidFill>
                  <a:srgbClr val="111827"/>
                </a:solidFill>
                <a:latin typeface="Arial"/>
              </a:rPr>
              <a:t>dev</a:t>
            </a:r>
          </a:p>
        </p:txBody>
      </p:sp>
      <p:sp>
        <p:nvSpPr>
          <p:cNvPr id="215" name="Project relation"/>
          <p:cNvSpPr txBox="1"/>
          <p:nvPr/>
        </p:nvSpPr>
        <p:spPr>
          <a:xfrm>
            <a:off x="6565392" y="4718304"/>
            <a:ext cx="508406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610" b="1">
                <a:solidFill>
                  <a:srgbClr val="111827"/>
                </a:solidFill>
                <a:latin typeface="Arial"/>
              </a:rPr>
              <a:t>Purpose: test whether explicit workflow-style information improves remaining-surgery-duration prediction beyond visual evidence alone.</a:t>
            </a:r>
          </a:p>
        </p:txBody>
      </p:sp>
      <p:sp>
        <p:nvSpPr>
          <p:cNvPr id="216" name="Clarifier"/>
          <p:cNvSpPr/>
          <p:nvPr/>
        </p:nvSpPr>
        <p:spPr>
          <a:xfrm>
            <a:off x="585216" y="5797296"/>
            <a:ext cx="11119104" cy="384048"/>
          </a:xfrm>
          <a:prstGeom prst="roundRect">
            <a:avLst/>
          </a:prstGeom>
          <a:solidFill>
            <a:srgbClr val="EFF6FF"/>
          </a:solidFill>
          <a:ln w="9525">
            <a:solidFill>
              <a:srgbClr val="1D4ED8"/>
            </a:solidFill>
          </a:ln>
        </p:spPr>
        <p:txBody>
          <a:bodyPr rtlCol="0" anchor="ctr"/>
          <a:lstStyle/>
          <a:p/>
        </p:txBody>
      </p:sp>
      <p:sp>
        <p:nvSpPr>
          <p:cNvPr id="217" name="Clarifier text"/>
          <p:cNvSpPr txBox="1"/>
          <p:nvPr/>
        </p:nvSpPr>
        <p:spPr>
          <a:xfrm>
            <a:off x="804672" y="5916168"/>
            <a:ext cx="10680192" cy="1188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600" b="1">
                <a:solidFill>
                  <a:srgbClr val="1D4ED8"/>
                </a:solidFill>
                <a:latin typeface="Arial"/>
              </a:rPr>
              <a:t>This module is not the ViT visual encoder. It is a side-channel that summarizes procedural order/variation and produces the workflow token w.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