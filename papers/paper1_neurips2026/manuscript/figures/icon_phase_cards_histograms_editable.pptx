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383280" cy="1627632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38328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Phase card"/>
          <p:cNvSpPr/>
          <p:nvPr/>
        </p:nvSpPr>
        <p:spPr>
          <a:xfrm>
            <a:off x="214884" y="214884"/>
            <a:ext cx="749808" cy="530352"/>
          </a:xfrm>
          <a:prstGeom prst="roundRect">
            <a:avLst/>
          </a:prstGeom>
          <a:solidFill>
            <a:srgbClr val="000000"/>
          </a:solidFill>
          <a:ln w="1270">
            <a:solidFill>
              <a:srgbClr val="000000"/>
            </a:solidFill>
          </a:ln>
        </p:spPr>
        <p:txBody>
          <a:bodyPr rtlCol="0" anchor="ctr"/>
          <a:lstStyle/>
          <a:p/>
        </p:txBody>
      </p:sp>
      <p:sp>
        <p:nvSpPr>
          <p:cNvPr id="4" name="Phase card"/>
          <p:cNvSpPr/>
          <p:nvPr/>
        </p:nvSpPr>
        <p:spPr>
          <a:xfrm>
            <a:off x="182880" y="182880"/>
            <a:ext cx="749808" cy="530352"/>
          </a:xfrm>
          <a:prstGeom prst="roundRect">
            <a:avLst/>
          </a:prstGeom>
          <a:solidFill>
            <a:srgbClr val="FBCFE8"/>
          </a:solidFill>
          <a:ln w="13335">
            <a:solidFill>
              <a:srgbClr val="F472B6"/>
            </a:solidFill>
          </a:ln>
        </p:spPr>
        <p:txBody>
          <a:bodyPr rtlCol="0" anchor="ctr"/>
          <a:lstStyle/>
          <a:p/>
        </p:txBody>
      </p:sp>
      <p:sp>
        <p:nvSpPr>
          <p:cNvPr id="5" name="Phase label"/>
          <p:cNvSpPr txBox="1"/>
          <p:nvPr/>
        </p:nvSpPr>
        <p:spPr>
          <a:xfrm>
            <a:off x="182880" y="310896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11827"/>
                </a:solidFill>
                <a:latin typeface="Arial"/>
              </a:rPr>
              <a:t>A</a:t>
            </a:r>
          </a:p>
        </p:txBody>
      </p:sp>
      <p:cxnSp>
        <p:nvCxnSpPr>
          <p:cNvPr id="6" name="Histogram x-axis"/>
          <p:cNvCxnSpPr/>
          <p:nvPr/>
        </p:nvCxnSpPr>
        <p:spPr>
          <a:xfrm>
            <a:off x="365760" y="1307592"/>
            <a:ext cx="420624" cy="0"/>
          </a:xfrm>
          <a:prstGeom prst="line">
            <a:avLst/>
          </a:prstGeom>
          <a:ln w="9525">
            <a:solidFill>
              <a:srgbClr val="111827"/>
            </a:solidFill>
          </a:ln>
        </p:spPr>
      </p:cxnSp>
      <p:cxnSp>
        <p:nvCxnSpPr>
          <p:cNvPr id="7" name="Histogram y-axis"/>
          <p:cNvCxnSpPr/>
          <p:nvPr/>
        </p:nvCxnSpPr>
        <p:spPr>
          <a:xfrm flipV="1">
            <a:off x="365760" y="1033272"/>
            <a:ext cx="0" cy="274320"/>
          </a:xfrm>
          <a:prstGeom prst="line">
            <a:avLst/>
          </a:prstGeom>
          <a:ln w="9525">
            <a:solidFill>
              <a:srgbClr val="111827"/>
            </a:solidFill>
          </a:ln>
        </p:spPr>
      </p:cxnSp>
      <p:sp>
        <p:nvSpPr>
          <p:cNvPr id="8" name="Histogram bar"/>
          <p:cNvSpPr/>
          <p:nvPr/>
        </p:nvSpPr>
        <p:spPr>
          <a:xfrm>
            <a:off x="411480" y="1112642"/>
            <a:ext cx="40234" cy="194950"/>
          </a:xfrm>
          <a:prstGeom prst="rect">
            <a:avLst/>
          </a:prstGeom>
          <a:solidFill>
            <a:srgbClr val="6B7280"/>
          </a:solidFill>
          <a:ln w="317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9" name="Histogram bar"/>
          <p:cNvSpPr/>
          <p:nvPr/>
        </p:nvSpPr>
        <p:spPr>
          <a:xfrm>
            <a:off x="483718" y="1150681"/>
            <a:ext cx="40234" cy="156911"/>
          </a:xfrm>
          <a:prstGeom prst="rect">
            <a:avLst/>
          </a:prstGeom>
          <a:solidFill>
            <a:srgbClr val="D1D5DB"/>
          </a:solidFill>
          <a:ln w="317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10" name="Histogram bar"/>
          <p:cNvSpPr/>
          <p:nvPr/>
        </p:nvSpPr>
        <p:spPr>
          <a:xfrm>
            <a:off x="555955" y="1179210"/>
            <a:ext cx="40234" cy="128382"/>
          </a:xfrm>
          <a:prstGeom prst="rect">
            <a:avLst/>
          </a:prstGeom>
          <a:solidFill>
            <a:srgbClr val="6B7280"/>
          </a:solidFill>
          <a:ln w="317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11" name="Histogram bar"/>
          <p:cNvSpPr/>
          <p:nvPr/>
        </p:nvSpPr>
        <p:spPr>
          <a:xfrm>
            <a:off x="628193" y="1217249"/>
            <a:ext cx="40234" cy="90343"/>
          </a:xfrm>
          <a:prstGeom prst="rect">
            <a:avLst/>
          </a:prstGeom>
          <a:solidFill>
            <a:srgbClr val="D1D5DB"/>
          </a:solidFill>
          <a:ln w="317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12" name="Histogram bar"/>
          <p:cNvSpPr/>
          <p:nvPr/>
        </p:nvSpPr>
        <p:spPr>
          <a:xfrm>
            <a:off x="700430" y="1248156"/>
            <a:ext cx="40234" cy="59436"/>
          </a:xfrm>
          <a:prstGeom prst="rect">
            <a:avLst/>
          </a:prstGeom>
          <a:solidFill>
            <a:srgbClr val="D1D5DB"/>
          </a:solidFill>
          <a:ln w="317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13" name="Phase card"/>
          <p:cNvSpPr/>
          <p:nvPr/>
        </p:nvSpPr>
        <p:spPr>
          <a:xfrm>
            <a:off x="982980" y="214884"/>
            <a:ext cx="749808" cy="530352"/>
          </a:xfrm>
          <a:prstGeom prst="roundRect">
            <a:avLst/>
          </a:prstGeom>
          <a:solidFill>
            <a:srgbClr val="000000"/>
          </a:solidFill>
          <a:ln w="1270">
            <a:solidFill>
              <a:srgbClr val="000000"/>
            </a:solidFill>
          </a:ln>
        </p:spPr>
        <p:txBody>
          <a:bodyPr rtlCol="0" anchor="ctr"/>
          <a:lstStyle/>
          <a:p/>
        </p:txBody>
      </p:sp>
      <p:sp>
        <p:nvSpPr>
          <p:cNvPr id="14" name="Phase card"/>
          <p:cNvSpPr/>
          <p:nvPr/>
        </p:nvSpPr>
        <p:spPr>
          <a:xfrm>
            <a:off x="950976" y="182880"/>
            <a:ext cx="749808" cy="530352"/>
          </a:xfrm>
          <a:prstGeom prst="roundRect">
            <a:avLst/>
          </a:prstGeom>
          <a:solidFill>
            <a:srgbClr val="FED7AA"/>
          </a:solidFill>
          <a:ln w="13335">
            <a:solidFill>
              <a:srgbClr val="F59E0B"/>
            </a:solidFill>
          </a:ln>
        </p:spPr>
        <p:txBody>
          <a:bodyPr rtlCol="0" anchor="ctr"/>
          <a:lstStyle/>
          <a:p/>
        </p:txBody>
      </p:sp>
      <p:sp>
        <p:nvSpPr>
          <p:cNvPr id="15" name="Phase label"/>
          <p:cNvSpPr txBox="1"/>
          <p:nvPr/>
        </p:nvSpPr>
        <p:spPr>
          <a:xfrm>
            <a:off x="950976" y="310896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11827"/>
                </a:solidFill>
                <a:latin typeface="Arial"/>
              </a:rPr>
              <a:t>B</a:t>
            </a:r>
          </a:p>
        </p:txBody>
      </p:sp>
      <p:cxnSp>
        <p:nvCxnSpPr>
          <p:cNvPr id="16" name="Histogram x-axis"/>
          <p:cNvCxnSpPr/>
          <p:nvPr/>
        </p:nvCxnSpPr>
        <p:spPr>
          <a:xfrm>
            <a:off x="1133856" y="1307592"/>
            <a:ext cx="420624" cy="0"/>
          </a:xfrm>
          <a:prstGeom prst="line">
            <a:avLst/>
          </a:prstGeom>
          <a:ln w="9525">
            <a:solidFill>
              <a:srgbClr val="111827"/>
            </a:solidFill>
          </a:ln>
        </p:spPr>
      </p:cxnSp>
      <p:cxnSp>
        <p:nvCxnSpPr>
          <p:cNvPr id="17" name="Histogram y-axis"/>
          <p:cNvCxnSpPr/>
          <p:nvPr/>
        </p:nvCxnSpPr>
        <p:spPr>
          <a:xfrm flipV="1">
            <a:off x="1133856" y="1033272"/>
            <a:ext cx="0" cy="274320"/>
          </a:xfrm>
          <a:prstGeom prst="line">
            <a:avLst/>
          </a:prstGeom>
          <a:ln w="9525">
            <a:solidFill>
              <a:srgbClr val="111827"/>
            </a:solidFill>
          </a:ln>
        </p:spPr>
      </p:cxnSp>
      <p:sp>
        <p:nvSpPr>
          <p:cNvPr id="18" name="Histogram bar"/>
          <p:cNvSpPr/>
          <p:nvPr/>
        </p:nvSpPr>
        <p:spPr>
          <a:xfrm>
            <a:off x="1179576" y="1264798"/>
            <a:ext cx="40234" cy="42794"/>
          </a:xfrm>
          <a:prstGeom prst="rect">
            <a:avLst/>
          </a:prstGeom>
          <a:solidFill>
            <a:srgbClr val="6B7280"/>
          </a:solidFill>
          <a:ln w="317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19" name="Histogram bar"/>
          <p:cNvSpPr/>
          <p:nvPr/>
        </p:nvSpPr>
        <p:spPr>
          <a:xfrm>
            <a:off x="1251814" y="1241024"/>
            <a:ext cx="40234" cy="66568"/>
          </a:xfrm>
          <a:prstGeom prst="rect">
            <a:avLst/>
          </a:prstGeom>
          <a:solidFill>
            <a:srgbClr val="D1D5DB"/>
          </a:solidFill>
          <a:ln w="317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20" name="Histogram bar"/>
          <p:cNvSpPr/>
          <p:nvPr/>
        </p:nvSpPr>
        <p:spPr>
          <a:xfrm>
            <a:off x="1324051" y="1226759"/>
            <a:ext cx="40234" cy="80833"/>
          </a:xfrm>
          <a:prstGeom prst="rect">
            <a:avLst/>
          </a:prstGeom>
          <a:solidFill>
            <a:srgbClr val="6B7280"/>
          </a:solidFill>
          <a:ln w="317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21" name="Histogram bar"/>
          <p:cNvSpPr/>
          <p:nvPr/>
        </p:nvSpPr>
        <p:spPr>
          <a:xfrm>
            <a:off x="1396289" y="1198230"/>
            <a:ext cx="40234" cy="109362"/>
          </a:xfrm>
          <a:prstGeom prst="rect">
            <a:avLst/>
          </a:prstGeom>
          <a:solidFill>
            <a:srgbClr val="D1D5DB"/>
          </a:solidFill>
          <a:ln w="317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22" name="Histogram bar"/>
          <p:cNvSpPr/>
          <p:nvPr/>
        </p:nvSpPr>
        <p:spPr>
          <a:xfrm>
            <a:off x="1468526" y="1176833"/>
            <a:ext cx="40234" cy="130759"/>
          </a:xfrm>
          <a:prstGeom prst="rect">
            <a:avLst/>
          </a:prstGeom>
          <a:solidFill>
            <a:srgbClr val="D1D5DB"/>
          </a:solidFill>
          <a:ln w="317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23" name="Phase card"/>
          <p:cNvSpPr/>
          <p:nvPr/>
        </p:nvSpPr>
        <p:spPr>
          <a:xfrm>
            <a:off x="1751076" y="214884"/>
            <a:ext cx="749808" cy="530352"/>
          </a:xfrm>
          <a:prstGeom prst="roundRect">
            <a:avLst/>
          </a:prstGeom>
          <a:solidFill>
            <a:srgbClr val="000000"/>
          </a:solidFill>
          <a:ln w="1270">
            <a:solidFill>
              <a:srgbClr val="000000"/>
            </a:solidFill>
          </a:ln>
        </p:spPr>
        <p:txBody>
          <a:bodyPr rtlCol="0" anchor="ctr"/>
          <a:lstStyle/>
          <a:p/>
        </p:txBody>
      </p:sp>
      <p:sp>
        <p:nvSpPr>
          <p:cNvPr id="24" name="Phase card"/>
          <p:cNvSpPr/>
          <p:nvPr/>
        </p:nvSpPr>
        <p:spPr>
          <a:xfrm>
            <a:off x="1719072" y="182880"/>
            <a:ext cx="749808" cy="530352"/>
          </a:xfrm>
          <a:prstGeom prst="roundRect">
            <a:avLst/>
          </a:prstGeom>
          <a:solidFill>
            <a:srgbClr val="FED7AA"/>
          </a:solidFill>
          <a:ln w="13335">
            <a:solidFill>
              <a:srgbClr val="B45309"/>
            </a:solidFill>
          </a:ln>
        </p:spPr>
        <p:txBody>
          <a:bodyPr rtlCol="0" anchor="ctr"/>
          <a:lstStyle/>
          <a:p/>
        </p:txBody>
      </p:sp>
      <p:sp>
        <p:nvSpPr>
          <p:cNvPr id="25" name="Phase label"/>
          <p:cNvSpPr txBox="1"/>
          <p:nvPr/>
        </p:nvSpPr>
        <p:spPr>
          <a:xfrm>
            <a:off x="1719072" y="310896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11827"/>
                </a:solidFill>
                <a:latin typeface="Arial"/>
              </a:rPr>
              <a:t>B</a:t>
            </a:r>
          </a:p>
        </p:txBody>
      </p:sp>
      <p:cxnSp>
        <p:nvCxnSpPr>
          <p:cNvPr id="26" name="Histogram x-axis"/>
          <p:cNvCxnSpPr/>
          <p:nvPr/>
        </p:nvCxnSpPr>
        <p:spPr>
          <a:xfrm>
            <a:off x="1901952" y="1307592"/>
            <a:ext cx="420624" cy="0"/>
          </a:xfrm>
          <a:prstGeom prst="line">
            <a:avLst/>
          </a:prstGeom>
          <a:ln w="9525">
            <a:solidFill>
              <a:srgbClr val="111827"/>
            </a:solidFill>
          </a:ln>
        </p:spPr>
      </p:cxnSp>
      <p:cxnSp>
        <p:nvCxnSpPr>
          <p:cNvPr id="27" name="Histogram y-axis"/>
          <p:cNvCxnSpPr/>
          <p:nvPr/>
        </p:nvCxnSpPr>
        <p:spPr>
          <a:xfrm flipV="1">
            <a:off x="1901952" y="1033272"/>
            <a:ext cx="0" cy="274320"/>
          </a:xfrm>
          <a:prstGeom prst="line">
            <a:avLst/>
          </a:prstGeom>
          <a:ln w="9525">
            <a:solidFill>
              <a:srgbClr val="111827"/>
            </a:solidFill>
          </a:ln>
        </p:spPr>
      </p:cxnSp>
      <p:sp>
        <p:nvSpPr>
          <p:cNvPr id="28" name="Histogram bar"/>
          <p:cNvSpPr/>
          <p:nvPr/>
        </p:nvSpPr>
        <p:spPr>
          <a:xfrm>
            <a:off x="1947672" y="1160191"/>
            <a:ext cx="40234" cy="147401"/>
          </a:xfrm>
          <a:prstGeom prst="rect">
            <a:avLst/>
          </a:prstGeom>
          <a:solidFill>
            <a:srgbClr val="6B7280"/>
          </a:solidFill>
          <a:ln w="317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29" name="Histogram bar"/>
          <p:cNvSpPr/>
          <p:nvPr/>
        </p:nvSpPr>
        <p:spPr>
          <a:xfrm>
            <a:off x="2019910" y="1260043"/>
            <a:ext cx="40234" cy="47549"/>
          </a:xfrm>
          <a:prstGeom prst="rect">
            <a:avLst/>
          </a:prstGeom>
          <a:solidFill>
            <a:srgbClr val="D1D5DB"/>
          </a:solidFill>
          <a:ln w="317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30" name="Histogram bar"/>
          <p:cNvSpPr/>
          <p:nvPr/>
        </p:nvSpPr>
        <p:spPr>
          <a:xfrm>
            <a:off x="2092147" y="1271930"/>
            <a:ext cx="40234" cy="35662"/>
          </a:xfrm>
          <a:prstGeom prst="rect">
            <a:avLst/>
          </a:prstGeom>
          <a:solidFill>
            <a:srgbClr val="6B7280"/>
          </a:solidFill>
          <a:ln w="317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31" name="Histogram bar"/>
          <p:cNvSpPr/>
          <p:nvPr/>
        </p:nvSpPr>
        <p:spPr>
          <a:xfrm>
            <a:off x="2164385" y="1241024"/>
            <a:ext cx="40234" cy="66568"/>
          </a:xfrm>
          <a:prstGeom prst="rect">
            <a:avLst/>
          </a:prstGeom>
          <a:solidFill>
            <a:srgbClr val="D1D5DB"/>
          </a:solidFill>
          <a:ln w="317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32" name="Histogram bar"/>
          <p:cNvSpPr/>
          <p:nvPr/>
        </p:nvSpPr>
        <p:spPr>
          <a:xfrm>
            <a:off x="2236622" y="1226759"/>
            <a:ext cx="40234" cy="80833"/>
          </a:xfrm>
          <a:prstGeom prst="rect">
            <a:avLst/>
          </a:prstGeom>
          <a:solidFill>
            <a:srgbClr val="D1D5DB"/>
          </a:solidFill>
          <a:ln w="317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33" name="Phase card"/>
          <p:cNvSpPr/>
          <p:nvPr/>
        </p:nvSpPr>
        <p:spPr>
          <a:xfrm>
            <a:off x="2519172" y="214884"/>
            <a:ext cx="749808" cy="530352"/>
          </a:xfrm>
          <a:prstGeom prst="roundRect">
            <a:avLst/>
          </a:prstGeom>
          <a:solidFill>
            <a:srgbClr val="000000"/>
          </a:solidFill>
          <a:ln w="1270">
            <a:solidFill>
              <a:srgbClr val="000000"/>
            </a:solidFill>
          </a:ln>
        </p:spPr>
        <p:txBody>
          <a:bodyPr rtlCol="0" anchor="ctr"/>
          <a:lstStyle/>
          <a:p/>
        </p:txBody>
      </p:sp>
      <p:sp>
        <p:nvSpPr>
          <p:cNvPr id="34" name="Phase card"/>
          <p:cNvSpPr/>
          <p:nvPr/>
        </p:nvSpPr>
        <p:spPr>
          <a:xfrm>
            <a:off x="2487168" y="182880"/>
            <a:ext cx="749808" cy="530352"/>
          </a:xfrm>
          <a:prstGeom prst="roundRect">
            <a:avLst/>
          </a:prstGeom>
          <a:solidFill>
            <a:srgbClr val="FEF9C3"/>
          </a:solidFill>
          <a:ln w="13335">
            <a:solidFill>
              <a:srgbClr val="FDE047"/>
            </a:solidFill>
          </a:ln>
        </p:spPr>
        <p:txBody>
          <a:bodyPr rtlCol="0" anchor="ctr"/>
          <a:lstStyle/>
          <a:p/>
        </p:txBody>
      </p:sp>
      <p:sp>
        <p:nvSpPr>
          <p:cNvPr id="35" name="Phase label"/>
          <p:cNvSpPr txBox="1"/>
          <p:nvPr/>
        </p:nvSpPr>
        <p:spPr>
          <a:xfrm>
            <a:off x="2487168" y="310896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11827"/>
                </a:solidFill>
                <a:latin typeface="Arial"/>
              </a:rPr>
              <a:t>C</a:t>
            </a:r>
          </a:p>
        </p:txBody>
      </p:sp>
      <p:cxnSp>
        <p:nvCxnSpPr>
          <p:cNvPr id="36" name="Histogram x-axis"/>
          <p:cNvCxnSpPr/>
          <p:nvPr/>
        </p:nvCxnSpPr>
        <p:spPr>
          <a:xfrm>
            <a:off x="2670048" y="1307592"/>
            <a:ext cx="420624" cy="0"/>
          </a:xfrm>
          <a:prstGeom prst="line">
            <a:avLst/>
          </a:prstGeom>
          <a:ln w="9525">
            <a:solidFill>
              <a:srgbClr val="111827"/>
            </a:solidFill>
          </a:ln>
        </p:spPr>
      </p:cxnSp>
      <p:cxnSp>
        <p:nvCxnSpPr>
          <p:cNvPr id="37" name="Histogram y-axis"/>
          <p:cNvCxnSpPr/>
          <p:nvPr/>
        </p:nvCxnSpPr>
        <p:spPr>
          <a:xfrm flipV="1">
            <a:off x="2670048" y="1033272"/>
            <a:ext cx="0" cy="274320"/>
          </a:xfrm>
          <a:prstGeom prst="line">
            <a:avLst/>
          </a:prstGeom>
          <a:ln w="9525">
            <a:solidFill>
              <a:srgbClr val="111827"/>
            </a:solidFill>
          </a:ln>
        </p:spPr>
      </p:cxnSp>
      <p:sp>
        <p:nvSpPr>
          <p:cNvPr id="38" name="Histogram bar"/>
          <p:cNvSpPr/>
          <p:nvPr/>
        </p:nvSpPr>
        <p:spPr>
          <a:xfrm>
            <a:off x="2715768" y="1126907"/>
            <a:ext cx="40234" cy="180685"/>
          </a:xfrm>
          <a:prstGeom prst="rect">
            <a:avLst/>
          </a:prstGeom>
          <a:solidFill>
            <a:srgbClr val="6B7280"/>
          </a:solidFill>
          <a:ln w="317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39" name="Histogram bar"/>
          <p:cNvSpPr/>
          <p:nvPr/>
        </p:nvSpPr>
        <p:spPr>
          <a:xfrm>
            <a:off x="2788006" y="1098377"/>
            <a:ext cx="40234" cy="209215"/>
          </a:xfrm>
          <a:prstGeom prst="rect">
            <a:avLst/>
          </a:prstGeom>
          <a:solidFill>
            <a:srgbClr val="D1D5DB"/>
          </a:solidFill>
          <a:ln w="317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40" name="Histogram bar"/>
          <p:cNvSpPr/>
          <p:nvPr/>
        </p:nvSpPr>
        <p:spPr>
          <a:xfrm>
            <a:off x="2860243" y="1193475"/>
            <a:ext cx="40234" cy="114117"/>
          </a:xfrm>
          <a:prstGeom prst="rect">
            <a:avLst/>
          </a:prstGeom>
          <a:solidFill>
            <a:srgbClr val="6B7280"/>
          </a:solidFill>
          <a:ln w="317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41" name="Histogram bar"/>
          <p:cNvSpPr/>
          <p:nvPr/>
        </p:nvSpPr>
        <p:spPr>
          <a:xfrm>
            <a:off x="2932481" y="1245779"/>
            <a:ext cx="40234" cy="61813"/>
          </a:xfrm>
          <a:prstGeom prst="rect">
            <a:avLst/>
          </a:prstGeom>
          <a:solidFill>
            <a:srgbClr val="D1D5DB"/>
          </a:solidFill>
          <a:ln w="317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42" name="Histogram bar"/>
          <p:cNvSpPr/>
          <p:nvPr/>
        </p:nvSpPr>
        <p:spPr>
          <a:xfrm>
            <a:off x="3004718" y="1264798"/>
            <a:ext cx="40234" cy="42794"/>
          </a:xfrm>
          <a:prstGeom prst="rect">
            <a:avLst/>
          </a:prstGeom>
          <a:solidFill>
            <a:srgbClr val="D1D5DB"/>
          </a:solidFill>
          <a:ln w="3175">
            <a:solidFill>
              <a:srgbClr val="111827"/>
            </a:solidFill>
          </a:ln>
        </p:spPr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