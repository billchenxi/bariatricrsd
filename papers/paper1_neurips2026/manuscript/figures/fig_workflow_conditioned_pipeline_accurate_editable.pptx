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435840" cy="745236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38912" y="146304"/>
            <a:ext cx="11430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111827"/>
                </a:solidFill>
                <a:latin typeface="Arial"/>
              </a:rPr>
              <a:t>Workflow-conditioned RSD pipeline, with accurate ViT token flow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58368" y="512064"/>
            <a:ext cx="10972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40" b="0">
                <a:solidFill>
                  <a:srgbClr val="4B5563"/>
                </a:solidFill>
                <a:latin typeface="Arial"/>
              </a:rPr>
              <a:t>Key correction: patch tokens and workflow tokens are prepended/concatenated along the token axis; '+' is reserved for positional embeddings.</a:t>
            </a:r>
          </a:p>
        </p:txBody>
      </p:sp>
      <p:sp>
        <p:nvSpPr>
          <p:cNvPr id="4" name="A label"/>
          <p:cNvSpPr txBox="1"/>
          <p:nvPr/>
        </p:nvSpPr>
        <p:spPr>
          <a:xfrm>
            <a:off x="402336" y="896112"/>
            <a:ext cx="19202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  <a:latin typeface="Arial"/>
              </a:rPr>
              <a:t>A. Per-frame visual encoding</a:t>
            </a:r>
          </a:p>
        </p:txBody>
      </p:sp>
      <p:sp>
        <p:nvSpPr>
          <p:cNvPr id="5" name="Video label"/>
          <p:cNvSpPr txBox="1"/>
          <p:nvPr/>
        </p:nvSpPr>
        <p:spPr>
          <a:xfrm>
            <a:off x="438912" y="969264"/>
            <a:ext cx="157276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30" b="1">
                <a:solidFill>
                  <a:srgbClr val="111827"/>
                </a:solidFill>
                <a:latin typeface="Arial"/>
              </a:rPr>
              <a:t>Observed prefix video</a:t>
            </a:r>
          </a:p>
        </p:txBody>
      </p:sp>
      <p:sp>
        <p:nvSpPr>
          <p:cNvPr id="6" name="Film outer"/>
          <p:cNvSpPr/>
          <p:nvPr/>
        </p:nvSpPr>
        <p:spPr>
          <a:xfrm>
            <a:off x="822960" y="1243584"/>
            <a:ext cx="7315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7" name="Film hole L"/>
          <p:cNvSpPr/>
          <p:nvPr/>
        </p:nvSpPr>
        <p:spPr>
          <a:xfrm>
            <a:off x="877824" y="1316736"/>
            <a:ext cx="91440" cy="91440"/>
          </a:xfrm>
          <a:prstGeom prst="rect">
            <a:avLst/>
          </a:prstGeom>
          <a:solidFill>
            <a:srgbClr val="111827"/>
          </a:solidFill>
          <a:ln w="1270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8" name="Film hole R"/>
          <p:cNvSpPr/>
          <p:nvPr/>
        </p:nvSpPr>
        <p:spPr>
          <a:xfrm>
            <a:off x="1408176" y="1316736"/>
            <a:ext cx="91440" cy="91440"/>
          </a:xfrm>
          <a:prstGeom prst="rect">
            <a:avLst/>
          </a:prstGeom>
          <a:solidFill>
            <a:srgbClr val="111827"/>
          </a:solidFill>
          <a:ln w="1270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9" name="Film hole L"/>
          <p:cNvSpPr/>
          <p:nvPr/>
        </p:nvSpPr>
        <p:spPr>
          <a:xfrm>
            <a:off x="877824" y="1475232"/>
            <a:ext cx="91440" cy="91440"/>
          </a:xfrm>
          <a:prstGeom prst="rect">
            <a:avLst/>
          </a:prstGeom>
          <a:solidFill>
            <a:srgbClr val="111827"/>
          </a:solidFill>
          <a:ln w="1270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0" name="Film hole R"/>
          <p:cNvSpPr/>
          <p:nvPr/>
        </p:nvSpPr>
        <p:spPr>
          <a:xfrm>
            <a:off x="1408176" y="1475232"/>
            <a:ext cx="91440" cy="91440"/>
          </a:xfrm>
          <a:prstGeom prst="rect">
            <a:avLst/>
          </a:prstGeom>
          <a:solidFill>
            <a:srgbClr val="111827"/>
          </a:solidFill>
          <a:ln w="1270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1" name="Film hole L"/>
          <p:cNvSpPr/>
          <p:nvPr/>
        </p:nvSpPr>
        <p:spPr>
          <a:xfrm>
            <a:off x="877824" y="1633728"/>
            <a:ext cx="91440" cy="91440"/>
          </a:xfrm>
          <a:prstGeom prst="rect">
            <a:avLst/>
          </a:prstGeom>
          <a:solidFill>
            <a:srgbClr val="111827"/>
          </a:solidFill>
          <a:ln w="1270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2" name="Film hole R"/>
          <p:cNvSpPr/>
          <p:nvPr/>
        </p:nvSpPr>
        <p:spPr>
          <a:xfrm>
            <a:off x="1408176" y="1633728"/>
            <a:ext cx="91440" cy="91440"/>
          </a:xfrm>
          <a:prstGeom prst="rect">
            <a:avLst/>
          </a:prstGeom>
          <a:solidFill>
            <a:srgbClr val="111827"/>
          </a:solidFill>
          <a:ln w="1270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3" name="Film hole L"/>
          <p:cNvSpPr/>
          <p:nvPr/>
        </p:nvSpPr>
        <p:spPr>
          <a:xfrm>
            <a:off x="877824" y="1792224"/>
            <a:ext cx="91440" cy="91440"/>
          </a:xfrm>
          <a:prstGeom prst="rect">
            <a:avLst/>
          </a:prstGeom>
          <a:solidFill>
            <a:srgbClr val="111827"/>
          </a:solidFill>
          <a:ln w="1270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4" name="Film hole R"/>
          <p:cNvSpPr/>
          <p:nvPr/>
        </p:nvSpPr>
        <p:spPr>
          <a:xfrm>
            <a:off x="1408176" y="1792224"/>
            <a:ext cx="91440" cy="91440"/>
          </a:xfrm>
          <a:prstGeom prst="rect">
            <a:avLst/>
          </a:prstGeom>
          <a:solidFill>
            <a:srgbClr val="111827"/>
          </a:solidFill>
          <a:ln w="1270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5" name="Play triangle"/>
          <p:cNvSpPr/>
          <p:nvPr/>
        </p:nvSpPr>
        <p:spPr>
          <a:xfrm>
            <a:off x="1137514" y="1460845"/>
            <a:ext cx="160934" cy="223845"/>
          </a:xfrm>
          <a:prstGeom prst="triangle">
            <a:avLst/>
          </a:prstGeom>
          <a:solidFill>
            <a:srgbClr val="111827"/>
          </a:solidFill>
          <a:ln w="1270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6" name="Video note"/>
          <p:cNvSpPr txBox="1"/>
          <p:nvPr/>
        </p:nvSpPr>
        <p:spPr>
          <a:xfrm>
            <a:off x="493776" y="1993392"/>
            <a:ext cx="1353312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0">
                <a:solidFill>
                  <a:srgbClr val="4B5563"/>
                </a:solidFill>
                <a:latin typeface="Arial"/>
              </a:rPr>
              <a:t>8 frames: x_1:t</a:t>
            </a:r>
          </a:p>
        </p:txBody>
      </p:sp>
      <p:sp>
        <p:nvSpPr>
          <p:cNvPr id="17" name="Frame chip"/>
          <p:cNvSpPr/>
          <p:nvPr/>
        </p:nvSpPr>
        <p:spPr>
          <a:xfrm>
            <a:off x="466344" y="2212848"/>
            <a:ext cx="128016" cy="146304"/>
          </a:xfrm>
          <a:prstGeom prst="rect">
            <a:avLst/>
          </a:prstGeom>
          <a:solidFill>
            <a:srgbClr val="DBEAFE"/>
          </a:solidFill>
          <a:ln w="4445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8" name="Frame chip"/>
          <p:cNvSpPr/>
          <p:nvPr/>
        </p:nvSpPr>
        <p:spPr>
          <a:xfrm>
            <a:off x="640080" y="2212848"/>
            <a:ext cx="128016" cy="146304"/>
          </a:xfrm>
          <a:prstGeom prst="rect">
            <a:avLst/>
          </a:prstGeom>
          <a:solidFill>
            <a:srgbClr val="DBEAFE"/>
          </a:solidFill>
          <a:ln w="4445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9" name="Frame chip"/>
          <p:cNvSpPr/>
          <p:nvPr/>
        </p:nvSpPr>
        <p:spPr>
          <a:xfrm>
            <a:off x="813816" y="2212848"/>
            <a:ext cx="128016" cy="146304"/>
          </a:xfrm>
          <a:prstGeom prst="rect">
            <a:avLst/>
          </a:prstGeom>
          <a:solidFill>
            <a:srgbClr val="DBEAFE"/>
          </a:solidFill>
          <a:ln w="4445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0" name="Frame chip"/>
          <p:cNvSpPr/>
          <p:nvPr/>
        </p:nvSpPr>
        <p:spPr>
          <a:xfrm>
            <a:off x="987552" y="2212848"/>
            <a:ext cx="128016" cy="146304"/>
          </a:xfrm>
          <a:prstGeom prst="rect">
            <a:avLst/>
          </a:prstGeom>
          <a:solidFill>
            <a:srgbClr val="DBEAFE"/>
          </a:solidFill>
          <a:ln w="4445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1" name="Frame chip"/>
          <p:cNvSpPr/>
          <p:nvPr/>
        </p:nvSpPr>
        <p:spPr>
          <a:xfrm>
            <a:off x="1161288" y="2212848"/>
            <a:ext cx="128016" cy="146304"/>
          </a:xfrm>
          <a:prstGeom prst="rect">
            <a:avLst/>
          </a:prstGeom>
          <a:solidFill>
            <a:srgbClr val="DBEAFE"/>
          </a:solidFill>
          <a:ln w="4445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2" name="Frame chip"/>
          <p:cNvSpPr/>
          <p:nvPr/>
        </p:nvSpPr>
        <p:spPr>
          <a:xfrm>
            <a:off x="1335024" y="2212848"/>
            <a:ext cx="128016" cy="146304"/>
          </a:xfrm>
          <a:prstGeom prst="rect">
            <a:avLst/>
          </a:prstGeom>
          <a:solidFill>
            <a:srgbClr val="DBEAFE"/>
          </a:solidFill>
          <a:ln w="4445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3" name="Frame chip"/>
          <p:cNvSpPr/>
          <p:nvPr/>
        </p:nvSpPr>
        <p:spPr>
          <a:xfrm>
            <a:off x="1508760" y="2212848"/>
            <a:ext cx="128016" cy="146304"/>
          </a:xfrm>
          <a:prstGeom prst="rect">
            <a:avLst/>
          </a:prstGeom>
          <a:solidFill>
            <a:srgbClr val="DBEAFE"/>
          </a:solidFill>
          <a:ln w="4445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4" name="Frame chip"/>
          <p:cNvSpPr/>
          <p:nvPr/>
        </p:nvSpPr>
        <p:spPr>
          <a:xfrm>
            <a:off x="1682496" y="2212848"/>
            <a:ext cx="128016" cy="146304"/>
          </a:xfrm>
          <a:prstGeom prst="rect">
            <a:avLst/>
          </a:prstGeom>
          <a:solidFill>
            <a:srgbClr val="FFF7ED"/>
          </a:solidFill>
          <a:ln w="4445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cxnSp>
        <p:nvCxnSpPr>
          <p:cNvPr id="25" name="Arrow"/>
          <p:cNvCxnSpPr/>
          <p:nvPr/>
        </p:nvCxnSpPr>
        <p:spPr>
          <a:xfrm>
            <a:off x="2048256" y="1965960"/>
            <a:ext cx="365760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26" name="ViT encoder detail"/>
          <p:cNvSpPr/>
          <p:nvPr/>
        </p:nvSpPr>
        <p:spPr>
          <a:xfrm>
            <a:off x="2542032" y="932688"/>
            <a:ext cx="7973568" cy="1664208"/>
          </a:xfrm>
          <a:prstGeom prst="roundRect">
            <a:avLst/>
          </a:prstGeom>
          <a:solidFill>
            <a:srgbClr val="EFF6FF"/>
          </a:solidFill>
          <a:ln w="12065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7" name="ViT title"/>
          <p:cNvSpPr txBox="1"/>
          <p:nvPr/>
        </p:nvSpPr>
        <p:spPr>
          <a:xfrm>
            <a:off x="2633472" y="1024128"/>
            <a:ext cx="779068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Arial"/>
              </a:rPr>
              <a:t>Shared ViT-B/16 frame encoder</a:t>
            </a:r>
          </a:p>
        </p:txBody>
      </p:sp>
      <p:sp>
        <p:nvSpPr>
          <p:cNvPr id="28" name="Patch grid"/>
          <p:cNvSpPr/>
          <p:nvPr/>
        </p:nvSpPr>
        <p:spPr>
          <a:xfrm>
            <a:off x="2706624" y="1371600"/>
            <a:ext cx="493776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9" name="Patch cell"/>
          <p:cNvSpPr/>
          <p:nvPr/>
        </p:nvSpPr>
        <p:spPr>
          <a:xfrm>
            <a:off x="2743200" y="1408176"/>
            <a:ext cx="100584" cy="100584"/>
          </a:xfrm>
          <a:prstGeom prst="rect">
            <a:avLst/>
          </a:prstGeom>
          <a:solidFill>
            <a:srgbClr val="6B2C23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0" name="Patch cell"/>
          <p:cNvSpPr/>
          <p:nvPr/>
        </p:nvSpPr>
        <p:spPr>
          <a:xfrm>
            <a:off x="2852928" y="1408176"/>
            <a:ext cx="100584" cy="100584"/>
          </a:xfrm>
          <a:prstGeom prst="rect">
            <a:avLst/>
          </a:prstGeom>
          <a:solidFill>
            <a:srgbClr val="A64E3F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1" name="Patch cell"/>
          <p:cNvSpPr/>
          <p:nvPr/>
        </p:nvSpPr>
        <p:spPr>
          <a:xfrm>
            <a:off x="2962656" y="1408176"/>
            <a:ext cx="100584" cy="100584"/>
          </a:xfrm>
          <a:prstGeom prst="rect">
            <a:avLst/>
          </a:prstGeom>
          <a:solidFill>
            <a:srgbClr val="3D1F1B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2" name="Patch cell"/>
          <p:cNvSpPr/>
          <p:nvPr/>
        </p:nvSpPr>
        <p:spPr>
          <a:xfrm>
            <a:off x="3072384" y="1408176"/>
            <a:ext cx="100584" cy="100584"/>
          </a:xfrm>
          <a:prstGeom prst="rect">
            <a:avLst/>
          </a:prstGeom>
          <a:solidFill>
            <a:srgbClr val="1B1210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3" name="Patch cell"/>
          <p:cNvSpPr/>
          <p:nvPr/>
        </p:nvSpPr>
        <p:spPr>
          <a:xfrm>
            <a:off x="2743200" y="1517904"/>
            <a:ext cx="100584" cy="100584"/>
          </a:xfrm>
          <a:prstGeom prst="rect">
            <a:avLst/>
          </a:prstGeom>
          <a:solidFill>
            <a:srgbClr val="CF7A6A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4" name="Patch cell"/>
          <p:cNvSpPr/>
          <p:nvPr/>
        </p:nvSpPr>
        <p:spPr>
          <a:xfrm>
            <a:off x="2852928" y="1517904"/>
            <a:ext cx="100584" cy="100584"/>
          </a:xfrm>
          <a:prstGeom prst="rect">
            <a:avLst/>
          </a:prstGeom>
          <a:solidFill>
            <a:srgbClr val="754034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5" name="Patch cell"/>
          <p:cNvSpPr/>
          <p:nvPr/>
        </p:nvSpPr>
        <p:spPr>
          <a:xfrm>
            <a:off x="2962656" y="1517904"/>
            <a:ext cx="100584" cy="100584"/>
          </a:xfrm>
          <a:prstGeom prst="rect">
            <a:avLst/>
          </a:prstGeom>
          <a:solidFill>
            <a:srgbClr val="4A2422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6" name="Patch cell"/>
          <p:cNvSpPr/>
          <p:nvPr/>
        </p:nvSpPr>
        <p:spPr>
          <a:xfrm>
            <a:off x="3072384" y="1517904"/>
            <a:ext cx="100584" cy="100584"/>
          </a:xfrm>
          <a:prstGeom prst="rect">
            <a:avLst/>
          </a:prstGeom>
          <a:solidFill>
            <a:srgbClr val="9C5A50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7" name="Patch cell"/>
          <p:cNvSpPr/>
          <p:nvPr/>
        </p:nvSpPr>
        <p:spPr>
          <a:xfrm>
            <a:off x="2743200" y="1627632"/>
            <a:ext cx="100584" cy="100584"/>
          </a:xfrm>
          <a:prstGeom prst="rect">
            <a:avLst/>
          </a:prstGeom>
          <a:solidFill>
            <a:srgbClr val="E3A093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8" name="Patch cell"/>
          <p:cNvSpPr/>
          <p:nvPr/>
        </p:nvSpPr>
        <p:spPr>
          <a:xfrm>
            <a:off x="2852928" y="1627632"/>
            <a:ext cx="100584" cy="100584"/>
          </a:xfrm>
          <a:prstGeom prst="rect">
            <a:avLst/>
          </a:prstGeom>
          <a:solidFill>
            <a:srgbClr val="884B43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9" name="Patch cell"/>
          <p:cNvSpPr/>
          <p:nvPr/>
        </p:nvSpPr>
        <p:spPr>
          <a:xfrm>
            <a:off x="2962656" y="1627632"/>
            <a:ext cx="100584" cy="100584"/>
          </a:xfrm>
          <a:prstGeom prst="rect">
            <a:avLst/>
          </a:prstGeom>
          <a:solidFill>
            <a:srgbClr val="6C3736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40" name="Patch cell"/>
          <p:cNvSpPr/>
          <p:nvPr/>
        </p:nvSpPr>
        <p:spPr>
          <a:xfrm>
            <a:off x="3072384" y="1627632"/>
            <a:ext cx="100584" cy="100584"/>
          </a:xfrm>
          <a:prstGeom prst="rect">
            <a:avLst/>
          </a:prstGeom>
          <a:solidFill>
            <a:srgbClr val="B05F57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41" name="Patch cell"/>
          <p:cNvSpPr/>
          <p:nvPr/>
        </p:nvSpPr>
        <p:spPr>
          <a:xfrm>
            <a:off x="2743200" y="1737360"/>
            <a:ext cx="100584" cy="100584"/>
          </a:xfrm>
          <a:prstGeom prst="rect">
            <a:avLst/>
          </a:prstGeom>
          <a:solidFill>
            <a:srgbClr val="B96D62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42" name="Patch cell"/>
          <p:cNvSpPr/>
          <p:nvPr/>
        </p:nvSpPr>
        <p:spPr>
          <a:xfrm>
            <a:off x="2852928" y="1737360"/>
            <a:ext cx="100584" cy="100584"/>
          </a:xfrm>
          <a:prstGeom prst="rect">
            <a:avLst/>
          </a:prstGeom>
          <a:solidFill>
            <a:srgbClr val="6D403B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43" name="Patch cell"/>
          <p:cNvSpPr/>
          <p:nvPr/>
        </p:nvSpPr>
        <p:spPr>
          <a:xfrm>
            <a:off x="2962656" y="1737360"/>
            <a:ext cx="100584" cy="100584"/>
          </a:xfrm>
          <a:prstGeom prst="rect">
            <a:avLst/>
          </a:prstGeom>
          <a:solidFill>
            <a:srgbClr val="8A4747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44" name="Patch cell"/>
          <p:cNvSpPr/>
          <p:nvPr/>
        </p:nvSpPr>
        <p:spPr>
          <a:xfrm>
            <a:off x="3072384" y="1737360"/>
            <a:ext cx="100584" cy="100584"/>
          </a:xfrm>
          <a:prstGeom prst="rect">
            <a:avLst/>
          </a:prstGeom>
          <a:solidFill>
            <a:srgbClr val="BF6B62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45" name="Patch label"/>
          <p:cNvSpPr txBox="1"/>
          <p:nvPr/>
        </p:nvSpPr>
        <p:spPr>
          <a:xfrm>
            <a:off x="2569464" y="1911096"/>
            <a:ext cx="74980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" b="0">
                <a:solidFill>
                  <a:srgbClr val="4B5563"/>
                </a:solidFill>
                <a:latin typeface="Arial"/>
              </a:rPr>
              <a:t>14 x 14 grid</a:t>
            </a:r>
          </a:p>
          <a:p>
            <a:pPr algn="ctr"/>
            <a:r>
              <a:rPr sz="480" b="0">
                <a:solidFill>
                  <a:srgbClr val="4B5563"/>
                </a:solidFill>
                <a:latin typeface="Arial"/>
              </a:rPr>
              <a:t>16 x 16 px each</a:t>
            </a:r>
          </a:p>
        </p:txBody>
      </p:sp>
      <p:cxnSp>
        <p:nvCxnSpPr>
          <p:cNvPr id="46" name="Arrow"/>
          <p:cNvCxnSpPr/>
          <p:nvPr/>
        </p:nvCxnSpPr>
        <p:spPr>
          <a:xfrm>
            <a:off x="3255264" y="1618488"/>
            <a:ext cx="292608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47" name="Block"/>
          <p:cNvSpPr/>
          <p:nvPr/>
        </p:nvSpPr>
        <p:spPr>
          <a:xfrm>
            <a:off x="3621024" y="1335024"/>
            <a:ext cx="960120" cy="548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48" name="Block title"/>
          <p:cNvSpPr txBox="1"/>
          <p:nvPr/>
        </p:nvSpPr>
        <p:spPr>
          <a:xfrm>
            <a:off x="3694176" y="1426464"/>
            <a:ext cx="81381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80" b="1">
                <a:solidFill>
                  <a:srgbClr val="111827"/>
                </a:solidFill>
                <a:latin typeface="Arial"/>
              </a:rPr>
              <a:t>flatten + linear</a:t>
            </a:r>
          </a:p>
        </p:txBody>
      </p:sp>
      <p:sp>
        <p:nvSpPr>
          <p:cNvPr id="49" name="Block body"/>
          <p:cNvSpPr txBox="1"/>
          <p:nvPr/>
        </p:nvSpPr>
        <p:spPr>
          <a:xfrm>
            <a:off x="3712464" y="1664208"/>
            <a:ext cx="7772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" b="0">
                <a:solidFill>
                  <a:srgbClr val="111827"/>
                </a:solidFill>
                <a:latin typeface="Arial"/>
              </a:rPr>
              <a:t>16 x 16 x 3 = 768</a:t>
            </a:r>
          </a:p>
          <a:p>
            <a:pPr algn="ctr"/>
            <a:r>
              <a:rPr sz="480" b="0">
                <a:solidFill>
                  <a:srgbClr val="111827"/>
                </a:solidFill>
                <a:latin typeface="Arial"/>
              </a:rPr>
              <a:t>-&gt; token in R^768</a:t>
            </a:r>
          </a:p>
        </p:txBody>
      </p:sp>
      <p:cxnSp>
        <p:nvCxnSpPr>
          <p:cNvPr id="50" name="Arrow"/>
          <p:cNvCxnSpPr/>
          <p:nvPr/>
        </p:nvCxnSpPr>
        <p:spPr>
          <a:xfrm>
            <a:off x="4626864" y="1618488"/>
            <a:ext cx="274320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51" name="CLS token"/>
          <p:cNvSpPr/>
          <p:nvPr/>
        </p:nvSpPr>
        <p:spPr>
          <a:xfrm>
            <a:off x="4956048" y="1389888"/>
            <a:ext cx="384048" cy="219456"/>
          </a:xfrm>
          <a:prstGeom prst="roundRect">
            <a:avLst/>
          </a:prstGeom>
          <a:solidFill>
            <a:srgbClr val="FFF7ED"/>
          </a:solidFill>
          <a:ln w="825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1">
                <a:solidFill>
                  <a:srgbClr val="D97706"/>
                </a:solidFill>
                <a:latin typeface="Arial"/>
              </a:rPr>
              <a:t>CLS</a:t>
            </a:r>
          </a:p>
        </p:txBody>
      </p:sp>
      <p:sp>
        <p:nvSpPr>
          <p:cNvPr id="52" name="Token"/>
          <p:cNvSpPr/>
          <p:nvPr/>
        </p:nvSpPr>
        <p:spPr>
          <a:xfrm>
            <a:off x="5413248" y="1389888"/>
            <a:ext cx="384048" cy="219456"/>
          </a:xfrm>
          <a:prstGeom prst="roundRect">
            <a:avLst/>
          </a:prstGeom>
          <a:solidFill>
            <a:srgbClr val="DCE6F2"/>
          </a:solidFill>
          <a:ln w="698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111827"/>
                </a:solidFill>
                <a:latin typeface="Arial"/>
              </a:rPr>
              <a:t>p1</a:t>
            </a:r>
          </a:p>
        </p:txBody>
      </p:sp>
      <p:sp>
        <p:nvSpPr>
          <p:cNvPr id="53" name="Token"/>
          <p:cNvSpPr/>
          <p:nvPr/>
        </p:nvSpPr>
        <p:spPr>
          <a:xfrm>
            <a:off x="5843016" y="1389888"/>
            <a:ext cx="384048" cy="219456"/>
          </a:xfrm>
          <a:prstGeom prst="roundRect">
            <a:avLst/>
          </a:prstGeom>
          <a:solidFill>
            <a:srgbClr val="DCE6F2"/>
          </a:solidFill>
          <a:ln w="698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111827"/>
                </a:solidFill>
                <a:latin typeface="Arial"/>
              </a:rPr>
              <a:t>p2</a:t>
            </a:r>
          </a:p>
        </p:txBody>
      </p:sp>
      <p:sp>
        <p:nvSpPr>
          <p:cNvPr id="54" name="Token"/>
          <p:cNvSpPr/>
          <p:nvPr/>
        </p:nvSpPr>
        <p:spPr>
          <a:xfrm>
            <a:off x="6272784" y="1389888"/>
            <a:ext cx="384048" cy="219456"/>
          </a:xfrm>
          <a:prstGeom prst="roundRect">
            <a:avLst/>
          </a:prstGeom>
          <a:solidFill>
            <a:srgbClr val="DCE6F2"/>
          </a:solidFill>
          <a:ln w="698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sp>
        <p:nvSpPr>
          <p:cNvPr id="55" name="Token"/>
          <p:cNvSpPr/>
          <p:nvPr/>
        </p:nvSpPr>
        <p:spPr>
          <a:xfrm>
            <a:off x="6665976" y="1389888"/>
            <a:ext cx="438912" cy="219456"/>
          </a:xfrm>
          <a:prstGeom prst="roundRect">
            <a:avLst/>
          </a:prstGeom>
          <a:solidFill>
            <a:srgbClr val="DCE6F2"/>
          </a:solidFill>
          <a:ln w="698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111827"/>
                </a:solidFill>
                <a:latin typeface="Arial"/>
              </a:rPr>
              <a:t>p196</a:t>
            </a:r>
          </a:p>
        </p:txBody>
      </p:sp>
      <p:sp>
        <p:nvSpPr>
          <p:cNvPr id="56" name="Vstack formula"/>
          <p:cNvSpPr txBox="1"/>
          <p:nvPr/>
        </p:nvSpPr>
        <p:spPr>
          <a:xfrm>
            <a:off x="4828032" y="1719072"/>
            <a:ext cx="241401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" b="0">
                <a:solidFill>
                  <a:srgbClr val="111827"/>
                </a:solidFill>
                <a:latin typeface="Arial"/>
              </a:rPr>
              <a:t>X = [x_CLS ; p_1 ; ... ; p_196] + pos</a:t>
            </a:r>
          </a:p>
        </p:txBody>
      </p:sp>
      <p:sp>
        <p:nvSpPr>
          <p:cNvPr id="57" name="Vstack shape"/>
          <p:cNvSpPr txBox="1"/>
          <p:nvPr/>
        </p:nvSpPr>
        <p:spPr>
          <a:xfrm>
            <a:off x="5230368" y="1883664"/>
            <a:ext cx="1609344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30" b="0">
                <a:solidFill>
                  <a:srgbClr val="4B5563"/>
                </a:solidFill>
                <a:latin typeface="Arial"/>
              </a:rPr>
              <a:t>X in R^(197 x 768)</a:t>
            </a:r>
          </a:p>
        </p:txBody>
      </p:sp>
      <p:cxnSp>
        <p:nvCxnSpPr>
          <p:cNvPr id="58" name="Arrow"/>
          <p:cNvCxnSpPr/>
          <p:nvPr/>
        </p:nvCxnSpPr>
        <p:spPr>
          <a:xfrm>
            <a:off x="7296912" y="1618488"/>
            <a:ext cx="292608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59" name="ViT blocks mini"/>
          <p:cNvSpPr/>
          <p:nvPr/>
        </p:nvSpPr>
        <p:spPr>
          <a:xfrm>
            <a:off x="7662672" y="1289304"/>
            <a:ext cx="786384" cy="713232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60" name="Mini block"/>
          <p:cNvSpPr/>
          <p:nvPr/>
        </p:nvSpPr>
        <p:spPr>
          <a:xfrm>
            <a:off x="7772400" y="1389888"/>
            <a:ext cx="566928" cy="50292"/>
          </a:xfrm>
          <a:prstGeom prst="roundRect">
            <a:avLst/>
          </a:prstGeom>
          <a:solidFill>
            <a:srgbClr val="DCE6F2"/>
          </a:solidFill>
          <a:ln w="1905">
            <a:solidFill>
              <a:srgbClr val="9FB6CF"/>
            </a:solidFill>
          </a:ln>
        </p:spPr>
        <p:txBody>
          <a:bodyPr rtlCol="0" anchor="ctr"/>
          <a:lstStyle/>
          <a:p/>
        </p:txBody>
      </p:sp>
      <p:sp>
        <p:nvSpPr>
          <p:cNvPr id="61" name="Mini block"/>
          <p:cNvSpPr/>
          <p:nvPr/>
        </p:nvSpPr>
        <p:spPr>
          <a:xfrm>
            <a:off x="7772400" y="1476756"/>
            <a:ext cx="566928" cy="50292"/>
          </a:xfrm>
          <a:prstGeom prst="roundRect">
            <a:avLst/>
          </a:prstGeom>
          <a:solidFill>
            <a:srgbClr val="DCE6F2"/>
          </a:solidFill>
          <a:ln w="1905">
            <a:solidFill>
              <a:srgbClr val="9FB6CF"/>
            </a:solidFill>
          </a:ln>
        </p:spPr>
        <p:txBody>
          <a:bodyPr rtlCol="0" anchor="ctr"/>
          <a:lstStyle/>
          <a:p/>
        </p:txBody>
      </p:sp>
      <p:sp>
        <p:nvSpPr>
          <p:cNvPr id="62" name="Mini block"/>
          <p:cNvSpPr/>
          <p:nvPr/>
        </p:nvSpPr>
        <p:spPr>
          <a:xfrm>
            <a:off x="7772400" y="1563624"/>
            <a:ext cx="566928" cy="50292"/>
          </a:xfrm>
          <a:prstGeom prst="roundRect">
            <a:avLst/>
          </a:prstGeom>
          <a:solidFill>
            <a:srgbClr val="DCE6F2"/>
          </a:solidFill>
          <a:ln w="1905">
            <a:solidFill>
              <a:srgbClr val="9FB6CF"/>
            </a:solidFill>
          </a:ln>
        </p:spPr>
        <p:txBody>
          <a:bodyPr rtlCol="0" anchor="ctr"/>
          <a:lstStyle/>
          <a:p/>
        </p:txBody>
      </p:sp>
      <p:sp>
        <p:nvSpPr>
          <p:cNvPr id="63" name="Mini block"/>
          <p:cNvSpPr/>
          <p:nvPr/>
        </p:nvSpPr>
        <p:spPr>
          <a:xfrm>
            <a:off x="7772400" y="1650492"/>
            <a:ext cx="566928" cy="50292"/>
          </a:xfrm>
          <a:prstGeom prst="roundRect">
            <a:avLst/>
          </a:prstGeom>
          <a:solidFill>
            <a:srgbClr val="1D4ED8"/>
          </a:solidFill>
          <a:ln w="1905">
            <a:solidFill>
              <a:srgbClr val="143880"/>
            </a:solidFill>
          </a:ln>
        </p:spPr>
        <p:txBody>
          <a:bodyPr rtlCol="0" anchor="ctr"/>
          <a:lstStyle/>
          <a:p/>
        </p:txBody>
      </p:sp>
      <p:sp>
        <p:nvSpPr>
          <p:cNvPr id="64" name="Mini block"/>
          <p:cNvSpPr/>
          <p:nvPr/>
        </p:nvSpPr>
        <p:spPr>
          <a:xfrm>
            <a:off x="7772400" y="1737360"/>
            <a:ext cx="566928" cy="50292"/>
          </a:xfrm>
          <a:prstGeom prst="roundRect">
            <a:avLst/>
          </a:prstGeom>
          <a:solidFill>
            <a:srgbClr val="1D4ED8"/>
          </a:solidFill>
          <a:ln w="1905">
            <a:solidFill>
              <a:srgbClr val="143880"/>
            </a:solidFill>
          </a:ln>
        </p:spPr>
        <p:txBody>
          <a:bodyPr rtlCol="0" anchor="ctr"/>
          <a:lstStyle/>
          <a:p/>
        </p:txBody>
      </p:sp>
      <p:sp>
        <p:nvSpPr>
          <p:cNvPr id="65" name="Mini block"/>
          <p:cNvSpPr/>
          <p:nvPr/>
        </p:nvSpPr>
        <p:spPr>
          <a:xfrm>
            <a:off x="7772400" y="1824228"/>
            <a:ext cx="566928" cy="50292"/>
          </a:xfrm>
          <a:prstGeom prst="roundRect">
            <a:avLst/>
          </a:prstGeom>
          <a:solidFill>
            <a:srgbClr val="1D4ED8"/>
          </a:solidFill>
          <a:ln w="1905">
            <a:solidFill>
              <a:srgbClr val="143880"/>
            </a:solidFill>
          </a:ln>
        </p:spPr>
        <p:txBody>
          <a:bodyPr rtlCol="0" anchor="ctr"/>
          <a:lstStyle/>
          <a:p/>
        </p:txBody>
      </p:sp>
      <p:sp>
        <p:nvSpPr>
          <p:cNvPr id="66" name="12 blocks"/>
          <p:cNvSpPr txBox="1"/>
          <p:nvPr/>
        </p:nvSpPr>
        <p:spPr>
          <a:xfrm>
            <a:off x="7690104" y="2039112"/>
            <a:ext cx="73152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70" b="0">
                <a:solidFill>
                  <a:srgbClr val="4B5563"/>
                </a:solidFill>
                <a:latin typeface="Arial"/>
              </a:rPr>
              <a:t>12 blocks</a:t>
            </a:r>
          </a:p>
        </p:txBody>
      </p:sp>
      <p:cxnSp>
        <p:nvCxnSpPr>
          <p:cNvPr id="67" name="Arrow"/>
          <p:cNvCxnSpPr/>
          <p:nvPr/>
        </p:nvCxnSpPr>
        <p:spPr>
          <a:xfrm>
            <a:off x="8503920" y="1618488"/>
            <a:ext cx="274320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68" name="CLS token"/>
          <p:cNvSpPr/>
          <p:nvPr/>
        </p:nvSpPr>
        <p:spPr>
          <a:xfrm>
            <a:off x="8833104" y="1389888"/>
            <a:ext cx="420624" cy="219456"/>
          </a:xfrm>
          <a:prstGeom prst="roundRect">
            <a:avLst/>
          </a:prstGeom>
          <a:solidFill>
            <a:srgbClr val="FFF7ED"/>
          </a:solidFill>
          <a:ln w="825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1">
                <a:solidFill>
                  <a:srgbClr val="D97706"/>
                </a:solidFill>
                <a:latin typeface="Arial"/>
              </a:rPr>
              <a:t>CLS'</a:t>
            </a:r>
          </a:p>
        </p:txBody>
      </p:sp>
      <p:cxnSp>
        <p:nvCxnSpPr>
          <p:cNvPr id="69" name="Arrow"/>
          <p:cNvCxnSpPr/>
          <p:nvPr/>
        </p:nvCxnSpPr>
        <p:spPr>
          <a:xfrm>
            <a:off x="9326880" y="1499616"/>
            <a:ext cx="347472" cy="0"/>
          </a:xfrm>
          <a:prstGeom prst="line">
            <a:avLst/>
          </a:prstGeom>
          <a:ln w="17145">
            <a:solidFill>
              <a:srgbClr val="0F766E"/>
            </a:solidFill>
            <a:tailEnd type="triangle" w="med" h="med"/>
          </a:ln>
        </p:spPr>
      </p:cxnSp>
      <p:sp>
        <p:nvSpPr>
          <p:cNvPr id="70" name="Frame feature"/>
          <p:cNvSpPr/>
          <p:nvPr/>
        </p:nvSpPr>
        <p:spPr>
          <a:xfrm>
            <a:off x="9747504" y="1243584"/>
            <a:ext cx="457200" cy="640080"/>
          </a:xfrm>
          <a:prstGeom prst="roundRect">
            <a:avLst/>
          </a:prstGeom>
          <a:solidFill>
            <a:srgbClr val="E8F3DC"/>
          </a:solidFill>
          <a:ln w="9525">
            <a:solidFill>
              <a:srgbClr val="64748B"/>
            </a:solidFill>
          </a:ln>
        </p:spPr>
        <p:txBody>
          <a:bodyPr rtlCol="0" anchor="ctr"/>
          <a:lstStyle/>
          <a:p/>
        </p:txBody>
      </p:sp>
      <p:sp>
        <p:nvSpPr>
          <p:cNvPr id="71" name="Feature dot"/>
          <p:cNvSpPr/>
          <p:nvPr/>
        </p:nvSpPr>
        <p:spPr>
          <a:xfrm>
            <a:off x="9930384" y="1344168"/>
            <a:ext cx="73152" cy="73152"/>
          </a:xfrm>
          <a:prstGeom prst="ellipse">
            <a:avLst/>
          </a:prstGeom>
          <a:solidFill>
            <a:srgbClr val="75A65B"/>
          </a:solidFill>
          <a:ln w="127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72" name="Feature dot"/>
          <p:cNvSpPr/>
          <p:nvPr/>
        </p:nvSpPr>
        <p:spPr>
          <a:xfrm>
            <a:off x="9930384" y="1463040"/>
            <a:ext cx="73152" cy="73152"/>
          </a:xfrm>
          <a:prstGeom prst="ellipse">
            <a:avLst/>
          </a:prstGeom>
          <a:solidFill>
            <a:srgbClr val="75A65B"/>
          </a:solidFill>
          <a:ln w="127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73" name="Feature dot"/>
          <p:cNvSpPr/>
          <p:nvPr/>
        </p:nvSpPr>
        <p:spPr>
          <a:xfrm>
            <a:off x="9930384" y="1581912"/>
            <a:ext cx="73152" cy="73152"/>
          </a:xfrm>
          <a:prstGeom prst="ellipse">
            <a:avLst/>
          </a:prstGeom>
          <a:solidFill>
            <a:srgbClr val="75A65B"/>
          </a:solidFill>
          <a:ln w="127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74" name="Feature dot"/>
          <p:cNvSpPr/>
          <p:nvPr/>
        </p:nvSpPr>
        <p:spPr>
          <a:xfrm>
            <a:off x="9930384" y="1700784"/>
            <a:ext cx="73152" cy="73152"/>
          </a:xfrm>
          <a:prstGeom prst="ellipse">
            <a:avLst/>
          </a:prstGeom>
          <a:solidFill>
            <a:srgbClr val="75A65B"/>
          </a:solidFill>
          <a:ln w="127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75" name="Feature label"/>
          <p:cNvSpPr txBox="1"/>
          <p:nvPr/>
        </p:nvSpPr>
        <p:spPr>
          <a:xfrm>
            <a:off x="9491472" y="1920240"/>
            <a:ext cx="960120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" b="1">
                <a:solidFill>
                  <a:srgbClr val="0F766E"/>
                </a:solidFill>
                <a:latin typeface="Arial"/>
              </a:rPr>
              <a:t>f_i in R^768</a:t>
            </a:r>
          </a:p>
        </p:txBody>
      </p:sp>
      <p:sp>
        <p:nvSpPr>
          <p:cNvPr id="76" name="ViT note"/>
          <p:cNvSpPr txBox="1"/>
          <p:nvPr/>
        </p:nvSpPr>
        <p:spPr>
          <a:xfrm>
            <a:off x="2816352" y="2194560"/>
            <a:ext cx="7424928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D97706"/>
                </a:solidFill>
                <a:latin typeface="Arial"/>
              </a:rPr>
              <a:t>The final CLS row is the frame summary; it is not concatenated after the blocks.</a:t>
            </a:r>
          </a:p>
        </p:txBody>
      </p:sp>
      <p:cxnSp>
        <p:nvCxnSpPr>
          <p:cNvPr id="77" name="Arrow"/>
          <p:cNvCxnSpPr/>
          <p:nvPr/>
        </p:nvCxnSpPr>
        <p:spPr>
          <a:xfrm>
            <a:off x="10607040" y="1965960"/>
            <a:ext cx="292608" cy="0"/>
          </a:xfrm>
          <a:prstGeom prst="line">
            <a:avLst/>
          </a:prstGeom>
          <a:ln w="17145">
            <a:solidFill>
              <a:srgbClr val="0F766E"/>
            </a:solidFill>
            <a:tailEnd type="triangle" w="med" h="med"/>
          </a:ln>
        </p:spPr>
      </p:cxnSp>
      <p:sp>
        <p:nvSpPr>
          <p:cNvPr id="78" name="Block"/>
          <p:cNvSpPr/>
          <p:nvPr/>
        </p:nvSpPr>
        <p:spPr>
          <a:xfrm>
            <a:off x="10972800" y="1024128"/>
            <a:ext cx="1078992" cy="148132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79" name="Block title"/>
          <p:cNvSpPr txBox="1"/>
          <p:nvPr/>
        </p:nvSpPr>
        <p:spPr>
          <a:xfrm>
            <a:off x="11045952" y="1115568"/>
            <a:ext cx="93268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30" b="1">
                <a:solidFill>
                  <a:srgbClr val="1D4ED8"/>
                </a:solidFill>
                <a:latin typeface="Arial"/>
              </a:rPr>
              <a:t>Frame-feature matrix</a:t>
            </a:r>
          </a:p>
        </p:txBody>
      </p:sp>
      <p:sp>
        <p:nvSpPr>
          <p:cNvPr id="80" name="F matrix"/>
          <p:cNvSpPr/>
          <p:nvPr/>
        </p:nvSpPr>
        <p:spPr>
          <a:xfrm>
            <a:off x="11155680" y="1408176"/>
            <a:ext cx="713232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cxnSp>
        <p:nvCxnSpPr>
          <p:cNvPr id="81" name="F row"/>
          <p:cNvCxnSpPr/>
          <p:nvPr/>
        </p:nvCxnSpPr>
        <p:spPr>
          <a:xfrm>
            <a:off x="11155680" y="1511046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82" name="F row"/>
          <p:cNvCxnSpPr/>
          <p:nvPr/>
        </p:nvCxnSpPr>
        <p:spPr>
          <a:xfrm>
            <a:off x="11155680" y="1613916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83" name="F row"/>
          <p:cNvCxnSpPr/>
          <p:nvPr/>
        </p:nvCxnSpPr>
        <p:spPr>
          <a:xfrm>
            <a:off x="11155680" y="1716786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84" name="F row"/>
          <p:cNvCxnSpPr/>
          <p:nvPr/>
        </p:nvCxnSpPr>
        <p:spPr>
          <a:xfrm>
            <a:off x="11155680" y="1819656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85" name="F row"/>
          <p:cNvCxnSpPr/>
          <p:nvPr/>
        </p:nvCxnSpPr>
        <p:spPr>
          <a:xfrm>
            <a:off x="11155680" y="1922526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86" name="F row"/>
          <p:cNvCxnSpPr/>
          <p:nvPr/>
        </p:nvCxnSpPr>
        <p:spPr>
          <a:xfrm>
            <a:off x="11155680" y="2025396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87" name="F row"/>
          <p:cNvCxnSpPr/>
          <p:nvPr/>
        </p:nvCxnSpPr>
        <p:spPr>
          <a:xfrm>
            <a:off x="11155680" y="2128266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sp>
        <p:nvSpPr>
          <p:cNvPr id="88" name="f label"/>
          <p:cNvSpPr txBox="1"/>
          <p:nvPr/>
        </p:nvSpPr>
        <p:spPr>
          <a:xfrm>
            <a:off x="10972800" y="1418463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f_1</a:t>
            </a:r>
          </a:p>
        </p:txBody>
      </p:sp>
      <p:sp>
        <p:nvSpPr>
          <p:cNvPr id="89" name="F dot"/>
          <p:cNvSpPr/>
          <p:nvPr/>
        </p:nvSpPr>
        <p:spPr>
          <a:xfrm>
            <a:off x="11248949" y="144315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0" name="F dot"/>
          <p:cNvSpPr/>
          <p:nvPr/>
        </p:nvSpPr>
        <p:spPr>
          <a:xfrm>
            <a:off x="11413541" y="144315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1" name="F dot"/>
          <p:cNvSpPr/>
          <p:nvPr/>
        </p:nvSpPr>
        <p:spPr>
          <a:xfrm>
            <a:off x="11578133" y="144315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2" name="F dot"/>
          <p:cNvSpPr/>
          <p:nvPr/>
        </p:nvSpPr>
        <p:spPr>
          <a:xfrm>
            <a:off x="11742725" y="144315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3" name="f label"/>
          <p:cNvSpPr txBox="1"/>
          <p:nvPr/>
        </p:nvSpPr>
        <p:spPr>
          <a:xfrm>
            <a:off x="10972800" y="1521333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f_2</a:t>
            </a:r>
          </a:p>
        </p:txBody>
      </p:sp>
      <p:sp>
        <p:nvSpPr>
          <p:cNvPr id="94" name="F dot"/>
          <p:cNvSpPr/>
          <p:nvPr/>
        </p:nvSpPr>
        <p:spPr>
          <a:xfrm>
            <a:off x="11248949" y="154602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5" name="F dot"/>
          <p:cNvSpPr/>
          <p:nvPr/>
        </p:nvSpPr>
        <p:spPr>
          <a:xfrm>
            <a:off x="11413541" y="154602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6" name="F dot"/>
          <p:cNvSpPr/>
          <p:nvPr/>
        </p:nvSpPr>
        <p:spPr>
          <a:xfrm>
            <a:off x="11578133" y="154602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7" name="F dot"/>
          <p:cNvSpPr/>
          <p:nvPr/>
        </p:nvSpPr>
        <p:spPr>
          <a:xfrm>
            <a:off x="11742725" y="154602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8" name="f label"/>
          <p:cNvSpPr txBox="1"/>
          <p:nvPr/>
        </p:nvSpPr>
        <p:spPr>
          <a:xfrm>
            <a:off x="10972800" y="1624203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f_3</a:t>
            </a:r>
          </a:p>
        </p:txBody>
      </p:sp>
      <p:sp>
        <p:nvSpPr>
          <p:cNvPr id="99" name="F dot"/>
          <p:cNvSpPr/>
          <p:nvPr/>
        </p:nvSpPr>
        <p:spPr>
          <a:xfrm>
            <a:off x="11248949" y="164889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0" name="F dot"/>
          <p:cNvSpPr/>
          <p:nvPr/>
        </p:nvSpPr>
        <p:spPr>
          <a:xfrm>
            <a:off x="11413541" y="164889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1" name="F dot"/>
          <p:cNvSpPr/>
          <p:nvPr/>
        </p:nvSpPr>
        <p:spPr>
          <a:xfrm>
            <a:off x="11578133" y="164889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2" name="F dot"/>
          <p:cNvSpPr/>
          <p:nvPr/>
        </p:nvSpPr>
        <p:spPr>
          <a:xfrm>
            <a:off x="11742725" y="164889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3" name="f label"/>
          <p:cNvSpPr txBox="1"/>
          <p:nvPr/>
        </p:nvSpPr>
        <p:spPr>
          <a:xfrm>
            <a:off x="10972800" y="1727073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f_4</a:t>
            </a:r>
          </a:p>
        </p:txBody>
      </p:sp>
      <p:sp>
        <p:nvSpPr>
          <p:cNvPr id="104" name="F dot"/>
          <p:cNvSpPr/>
          <p:nvPr/>
        </p:nvSpPr>
        <p:spPr>
          <a:xfrm>
            <a:off x="11248949" y="175176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5" name="F dot"/>
          <p:cNvSpPr/>
          <p:nvPr/>
        </p:nvSpPr>
        <p:spPr>
          <a:xfrm>
            <a:off x="11413541" y="175176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6" name="F dot"/>
          <p:cNvSpPr/>
          <p:nvPr/>
        </p:nvSpPr>
        <p:spPr>
          <a:xfrm>
            <a:off x="11578133" y="175176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7" name="F dot"/>
          <p:cNvSpPr/>
          <p:nvPr/>
        </p:nvSpPr>
        <p:spPr>
          <a:xfrm>
            <a:off x="11742725" y="175176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8" name="f label"/>
          <p:cNvSpPr txBox="1"/>
          <p:nvPr/>
        </p:nvSpPr>
        <p:spPr>
          <a:xfrm>
            <a:off x="10972800" y="1829943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f_5</a:t>
            </a:r>
          </a:p>
        </p:txBody>
      </p:sp>
      <p:sp>
        <p:nvSpPr>
          <p:cNvPr id="109" name="F dot"/>
          <p:cNvSpPr/>
          <p:nvPr/>
        </p:nvSpPr>
        <p:spPr>
          <a:xfrm>
            <a:off x="11248949" y="185463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10" name="F dot"/>
          <p:cNvSpPr/>
          <p:nvPr/>
        </p:nvSpPr>
        <p:spPr>
          <a:xfrm>
            <a:off x="11413541" y="185463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11" name="F dot"/>
          <p:cNvSpPr/>
          <p:nvPr/>
        </p:nvSpPr>
        <p:spPr>
          <a:xfrm>
            <a:off x="11578133" y="185463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12" name="F dot"/>
          <p:cNvSpPr/>
          <p:nvPr/>
        </p:nvSpPr>
        <p:spPr>
          <a:xfrm>
            <a:off x="11742725" y="185463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13" name="f label"/>
          <p:cNvSpPr txBox="1"/>
          <p:nvPr/>
        </p:nvSpPr>
        <p:spPr>
          <a:xfrm>
            <a:off x="10972800" y="1932813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f_6</a:t>
            </a:r>
          </a:p>
        </p:txBody>
      </p:sp>
      <p:sp>
        <p:nvSpPr>
          <p:cNvPr id="114" name="F dot"/>
          <p:cNvSpPr/>
          <p:nvPr/>
        </p:nvSpPr>
        <p:spPr>
          <a:xfrm>
            <a:off x="11248949" y="195750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15" name="F dot"/>
          <p:cNvSpPr/>
          <p:nvPr/>
        </p:nvSpPr>
        <p:spPr>
          <a:xfrm>
            <a:off x="11413541" y="195750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16" name="F dot"/>
          <p:cNvSpPr/>
          <p:nvPr/>
        </p:nvSpPr>
        <p:spPr>
          <a:xfrm>
            <a:off x="11578133" y="195750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17" name="F dot"/>
          <p:cNvSpPr/>
          <p:nvPr/>
        </p:nvSpPr>
        <p:spPr>
          <a:xfrm>
            <a:off x="11742725" y="195750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18" name="f label"/>
          <p:cNvSpPr txBox="1"/>
          <p:nvPr/>
        </p:nvSpPr>
        <p:spPr>
          <a:xfrm>
            <a:off x="10972800" y="2035683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f_7</a:t>
            </a:r>
          </a:p>
        </p:txBody>
      </p:sp>
      <p:sp>
        <p:nvSpPr>
          <p:cNvPr id="119" name="F dot"/>
          <p:cNvSpPr/>
          <p:nvPr/>
        </p:nvSpPr>
        <p:spPr>
          <a:xfrm>
            <a:off x="11248949" y="206037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20" name="F dot"/>
          <p:cNvSpPr/>
          <p:nvPr/>
        </p:nvSpPr>
        <p:spPr>
          <a:xfrm>
            <a:off x="11413541" y="206037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21" name="F dot"/>
          <p:cNvSpPr/>
          <p:nvPr/>
        </p:nvSpPr>
        <p:spPr>
          <a:xfrm>
            <a:off x="11578133" y="206037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22" name="F dot"/>
          <p:cNvSpPr/>
          <p:nvPr/>
        </p:nvSpPr>
        <p:spPr>
          <a:xfrm>
            <a:off x="11742725" y="206037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23" name="f label"/>
          <p:cNvSpPr txBox="1"/>
          <p:nvPr/>
        </p:nvSpPr>
        <p:spPr>
          <a:xfrm>
            <a:off x="10972800" y="2138553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f_8</a:t>
            </a:r>
          </a:p>
        </p:txBody>
      </p:sp>
      <p:sp>
        <p:nvSpPr>
          <p:cNvPr id="124" name="F dot"/>
          <p:cNvSpPr/>
          <p:nvPr/>
        </p:nvSpPr>
        <p:spPr>
          <a:xfrm>
            <a:off x="11248949" y="216324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25" name="F dot"/>
          <p:cNvSpPr/>
          <p:nvPr/>
        </p:nvSpPr>
        <p:spPr>
          <a:xfrm>
            <a:off x="11413541" y="216324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26" name="F dot"/>
          <p:cNvSpPr/>
          <p:nvPr/>
        </p:nvSpPr>
        <p:spPr>
          <a:xfrm>
            <a:off x="11578133" y="216324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27" name="F dot"/>
          <p:cNvSpPr/>
          <p:nvPr/>
        </p:nvSpPr>
        <p:spPr>
          <a:xfrm>
            <a:off x="11742725" y="216324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28" name="F shape"/>
          <p:cNvSpPr txBox="1"/>
          <p:nvPr/>
        </p:nvSpPr>
        <p:spPr>
          <a:xfrm>
            <a:off x="11045952" y="2304288"/>
            <a:ext cx="93268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70" b="1">
                <a:solidFill>
                  <a:srgbClr val="1D4ED8"/>
                </a:solidFill>
                <a:latin typeface="Arial"/>
              </a:rPr>
              <a:t>F in R^(8 x 768)</a:t>
            </a:r>
          </a:p>
        </p:txBody>
      </p:sp>
      <p:sp>
        <p:nvSpPr>
          <p:cNvPr id="129" name="B label"/>
          <p:cNvSpPr txBox="1"/>
          <p:nvPr/>
        </p:nvSpPr>
        <p:spPr>
          <a:xfrm>
            <a:off x="402336" y="2889504"/>
            <a:ext cx="24231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  <a:latin typeface="Arial"/>
              </a:rPr>
              <a:t>B. Workflow-token construction</a:t>
            </a:r>
          </a:p>
        </p:txBody>
      </p:sp>
      <p:sp>
        <p:nvSpPr>
          <p:cNvPr id="130" name="Workflow band"/>
          <p:cNvSpPr/>
          <p:nvPr/>
        </p:nvSpPr>
        <p:spPr>
          <a:xfrm>
            <a:off x="402336" y="3127248"/>
            <a:ext cx="11612880" cy="1481328"/>
          </a:xfrm>
          <a:prstGeom prst="roundRect">
            <a:avLst/>
          </a:prstGeom>
          <a:noFill/>
          <a:ln w="1270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31" name="Block"/>
          <p:cNvSpPr/>
          <p:nvPr/>
        </p:nvSpPr>
        <p:spPr>
          <a:xfrm>
            <a:off x="658368" y="3346704"/>
            <a:ext cx="1115568" cy="987552"/>
          </a:xfrm>
          <a:prstGeom prst="roundRect">
            <a:avLst/>
          </a:prstGeom>
          <a:solidFill>
            <a:srgbClr val="F5F3FF"/>
          </a:solidFill>
          <a:ln w="1143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132" name="Block title"/>
          <p:cNvSpPr txBox="1"/>
          <p:nvPr/>
        </p:nvSpPr>
        <p:spPr>
          <a:xfrm>
            <a:off x="731520" y="3438144"/>
            <a:ext cx="96926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70" b="1">
                <a:solidFill>
                  <a:srgbClr val="7C3AED"/>
                </a:solidFill>
                <a:latin typeface="Arial"/>
              </a:rPr>
              <a:t>Full phase sequence</a:t>
            </a:r>
          </a:p>
        </p:txBody>
      </p:sp>
      <p:sp>
        <p:nvSpPr>
          <p:cNvPr id="133" name="Phase dot"/>
          <p:cNvSpPr/>
          <p:nvPr/>
        </p:nvSpPr>
        <p:spPr>
          <a:xfrm>
            <a:off x="804672" y="3785616"/>
            <a:ext cx="146304" cy="146304"/>
          </a:xfrm>
          <a:prstGeom prst="ellipse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34" name="Phase dot"/>
          <p:cNvSpPr/>
          <p:nvPr/>
        </p:nvSpPr>
        <p:spPr>
          <a:xfrm>
            <a:off x="941832" y="3785616"/>
            <a:ext cx="146304" cy="146304"/>
          </a:xfrm>
          <a:prstGeom prst="ellipse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5" name="Phase dot"/>
          <p:cNvSpPr/>
          <p:nvPr/>
        </p:nvSpPr>
        <p:spPr>
          <a:xfrm>
            <a:off x="1078992" y="3785616"/>
            <a:ext cx="146304" cy="146304"/>
          </a:xfrm>
          <a:prstGeom prst="ellipse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36" name="Phase dot"/>
          <p:cNvSpPr/>
          <p:nvPr/>
        </p:nvSpPr>
        <p:spPr>
          <a:xfrm>
            <a:off x="1216152" y="3785616"/>
            <a:ext cx="146304" cy="146304"/>
          </a:xfrm>
          <a:prstGeom prst="ellipse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7" name="Phase dot"/>
          <p:cNvSpPr/>
          <p:nvPr/>
        </p:nvSpPr>
        <p:spPr>
          <a:xfrm>
            <a:off x="1353312" y="3785616"/>
            <a:ext cx="146304" cy="146304"/>
          </a:xfrm>
          <a:prstGeom prst="ellipse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38" name="Phase dot"/>
          <p:cNvSpPr/>
          <p:nvPr/>
        </p:nvSpPr>
        <p:spPr>
          <a:xfrm>
            <a:off x="1490472" y="3785616"/>
            <a:ext cx="146304" cy="146304"/>
          </a:xfrm>
          <a:prstGeom prst="ellipse">
            <a:avLst/>
          </a:prstGeom>
          <a:solidFill>
            <a:srgbClr val="DB2777"/>
          </a:solidFill>
          <a:ln w="1270">
            <a:solidFill>
              <a:srgbClr val="DB2777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39" name="Phase caption"/>
          <p:cNvSpPr txBox="1"/>
          <p:nvPr/>
        </p:nvSpPr>
        <p:spPr>
          <a:xfrm>
            <a:off x="804672" y="4059936"/>
            <a:ext cx="82296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" b="0">
                <a:solidFill>
                  <a:srgbClr val="4B5563"/>
                </a:solidFill>
                <a:latin typeface="Arial"/>
              </a:rPr>
              <a:t>ordered labels over time</a:t>
            </a:r>
          </a:p>
        </p:txBody>
      </p:sp>
      <p:cxnSp>
        <p:nvCxnSpPr>
          <p:cNvPr id="140" name="Arrow"/>
          <p:cNvCxnSpPr/>
          <p:nvPr/>
        </p:nvCxnSpPr>
        <p:spPr>
          <a:xfrm>
            <a:off x="1810512" y="3840480"/>
            <a:ext cx="274320" cy="0"/>
          </a:xfrm>
          <a:prstGeom prst="line">
            <a:avLst/>
          </a:prstGeom>
          <a:ln w="17145">
            <a:solidFill>
              <a:srgbClr val="7C3AED"/>
            </a:solidFill>
            <a:tailEnd type="triangle" w="med" h="med"/>
          </a:ln>
        </p:spPr>
      </p:cxnSp>
      <p:sp>
        <p:nvSpPr>
          <p:cNvPr id="141" name="Block"/>
          <p:cNvSpPr/>
          <p:nvPr/>
        </p:nvSpPr>
        <p:spPr>
          <a:xfrm>
            <a:off x="2139696" y="3346704"/>
            <a:ext cx="1024128" cy="987552"/>
          </a:xfrm>
          <a:prstGeom prst="roundRect">
            <a:avLst/>
          </a:prstGeom>
          <a:solidFill>
            <a:srgbClr val="F5F3FF"/>
          </a:solidFill>
          <a:ln w="1143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142" name="Block title"/>
          <p:cNvSpPr txBox="1"/>
          <p:nvPr/>
        </p:nvSpPr>
        <p:spPr>
          <a:xfrm>
            <a:off x="2212848" y="3438144"/>
            <a:ext cx="87782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" b="1">
                <a:solidFill>
                  <a:srgbClr val="7C3AED"/>
                </a:solidFill>
                <a:latin typeface="Arial"/>
              </a:rPr>
              <a:t>Transition bigrams</a:t>
            </a:r>
          </a:p>
        </p:txBody>
      </p:sp>
      <p:sp>
        <p:nvSpPr>
          <p:cNvPr id="143" name="Bigram chip"/>
          <p:cNvSpPr/>
          <p:nvPr/>
        </p:nvSpPr>
        <p:spPr>
          <a:xfrm>
            <a:off x="2304288" y="3758184"/>
            <a:ext cx="365760" cy="118872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111827"/>
                </a:solidFill>
                <a:latin typeface="Arial"/>
              </a:rPr>
              <a:t>(A,B)</a:t>
            </a:r>
          </a:p>
        </p:txBody>
      </p:sp>
      <p:sp>
        <p:nvSpPr>
          <p:cNvPr id="144" name="Bigram chip"/>
          <p:cNvSpPr/>
          <p:nvPr/>
        </p:nvSpPr>
        <p:spPr>
          <a:xfrm>
            <a:off x="2743200" y="3758184"/>
            <a:ext cx="365760" cy="118872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111827"/>
                </a:solidFill>
                <a:latin typeface="Arial"/>
              </a:rPr>
              <a:t>(B,C)</a:t>
            </a:r>
          </a:p>
        </p:txBody>
      </p:sp>
      <p:sp>
        <p:nvSpPr>
          <p:cNvPr id="145" name="Bigram chip"/>
          <p:cNvSpPr/>
          <p:nvPr/>
        </p:nvSpPr>
        <p:spPr>
          <a:xfrm>
            <a:off x="2304288" y="3941064"/>
            <a:ext cx="365760" cy="118872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111827"/>
                </a:solidFill>
                <a:latin typeface="Arial"/>
              </a:rPr>
              <a:t>(C,B)</a:t>
            </a:r>
          </a:p>
        </p:txBody>
      </p:sp>
      <p:sp>
        <p:nvSpPr>
          <p:cNvPr id="146" name="Bigram chip"/>
          <p:cNvSpPr/>
          <p:nvPr/>
        </p:nvSpPr>
        <p:spPr>
          <a:xfrm>
            <a:off x="2743200" y="3941064"/>
            <a:ext cx="365760" cy="118872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111827"/>
                </a:solidFill>
                <a:latin typeface="Arial"/>
              </a:rPr>
              <a:t>(B,D)</a:t>
            </a:r>
          </a:p>
        </p:txBody>
      </p:sp>
      <p:cxnSp>
        <p:nvCxnSpPr>
          <p:cNvPr id="147" name="Arrow"/>
          <p:cNvCxnSpPr/>
          <p:nvPr/>
        </p:nvCxnSpPr>
        <p:spPr>
          <a:xfrm>
            <a:off x="3200400" y="3840480"/>
            <a:ext cx="274320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148" name="Block"/>
          <p:cNvSpPr/>
          <p:nvPr/>
        </p:nvSpPr>
        <p:spPr>
          <a:xfrm>
            <a:off x="3529584" y="3346704"/>
            <a:ext cx="1664208" cy="987552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49" name="Block title"/>
          <p:cNvSpPr txBox="1"/>
          <p:nvPr/>
        </p:nvSpPr>
        <p:spPr>
          <a:xfrm>
            <a:off x="3602736" y="3438144"/>
            <a:ext cx="151790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D97706"/>
                </a:solidFill>
                <a:latin typeface="Arial"/>
              </a:rPr>
              <a:t>Fixed offline artifacts</a:t>
            </a:r>
          </a:p>
        </p:txBody>
      </p:sp>
      <p:sp>
        <p:nvSpPr>
          <p:cNvPr id="150" name="TFIDF cell"/>
          <p:cNvSpPr/>
          <p:nvPr/>
        </p:nvSpPr>
        <p:spPr>
          <a:xfrm>
            <a:off x="3675888" y="3749040"/>
            <a:ext cx="82296" cy="82296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51" name="TFIDF cell"/>
          <p:cNvSpPr/>
          <p:nvPr/>
        </p:nvSpPr>
        <p:spPr>
          <a:xfrm>
            <a:off x="3767328" y="3749040"/>
            <a:ext cx="82296" cy="82296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52" name="TFIDF cell"/>
          <p:cNvSpPr/>
          <p:nvPr/>
        </p:nvSpPr>
        <p:spPr>
          <a:xfrm>
            <a:off x="3858768" y="3749040"/>
            <a:ext cx="82296" cy="82296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53" name="TFIDF cell"/>
          <p:cNvSpPr/>
          <p:nvPr/>
        </p:nvSpPr>
        <p:spPr>
          <a:xfrm>
            <a:off x="3950208" y="3749040"/>
            <a:ext cx="82296" cy="82296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54" name="TFIDF cell"/>
          <p:cNvSpPr/>
          <p:nvPr/>
        </p:nvSpPr>
        <p:spPr>
          <a:xfrm>
            <a:off x="4041648" y="3749040"/>
            <a:ext cx="82296" cy="82296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55" name="TFIDF cell"/>
          <p:cNvSpPr/>
          <p:nvPr/>
        </p:nvSpPr>
        <p:spPr>
          <a:xfrm>
            <a:off x="3675888" y="3840480"/>
            <a:ext cx="82296" cy="82296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56" name="TFIDF cell"/>
          <p:cNvSpPr/>
          <p:nvPr/>
        </p:nvSpPr>
        <p:spPr>
          <a:xfrm>
            <a:off x="3767328" y="3840480"/>
            <a:ext cx="82296" cy="82296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57" name="TFIDF cell"/>
          <p:cNvSpPr/>
          <p:nvPr/>
        </p:nvSpPr>
        <p:spPr>
          <a:xfrm>
            <a:off x="3858768" y="3840480"/>
            <a:ext cx="82296" cy="82296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58" name="TFIDF cell"/>
          <p:cNvSpPr/>
          <p:nvPr/>
        </p:nvSpPr>
        <p:spPr>
          <a:xfrm>
            <a:off x="3950208" y="3840480"/>
            <a:ext cx="82296" cy="82296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59" name="TFIDF cell"/>
          <p:cNvSpPr/>
          <p:nvPr/>
        </p:nvSpPr>
        <p:spPr>
          <a:xfrm>
            <a:off x="4041648" y="3840480"/>
            <a:ext cx="82296" cy="82296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60" name="TFIDF cell"/>
          <p:cNvSpPr/>
          <p:nvPr/>
        </p:nvSpPr>
        <p:spPr>
          <a:xfrm>
            <a:off x="3675888" y="3931920"/>
            <a:ext cx="82296" cy="82296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61" name="TFIDF cell"/>
          <p:cNvSpPr/>
          <p:nvPr/>
        </p:nvSpPr>
        <p:spPr>
          <a:xfrm>
            <a:off x="3767328" y="3931920"/>
            <a:ext cx="82296" cy="82296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62" name="TFIDF cell"/>
          <p:cNvSpPr/>
          <p:nvPr/>
        </p:nvSpPr>
        <p:spPr>
          <a:xfrm>
            <a:off x="3858768" y="3931920"/>
            <a:ext cx="82296" cy="82296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63" name="TFIDF cell"/>
          <p:cNvSpPr/>
          <p:nvPr/>
        </p:nvSpPr>
        <p:spPr>
          <a:xfrm>
            <a:off x="3950208" y="3931920"/>
            <a:ext cx="82296" cy="82296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64" name="TFIDF cell"/>
          <p:cNvSpPr/>
          <p:nvPr/>
        </p:nvSpPr>
        <p:spPr>
          <a:xfrm>
            <a:off x="4041648" y="3931920"/>
            <a:ext cx="82296" cy="82296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65" name="TFIDF cell"/>
          <p:cNvSpPr/>
          <p:nvPr/>
        </p:nvSpPr>
        <p:spPr>
          <a:xfrm>
            <a:off x="3675888" y="4023360"/>
            <a:ext cx="82296" cy="82296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66" name="TFIDF cell"/>
          <p:cNvSpPr/>
          <p:nvPr/>
        </p:nvSpPr>
        <p:spPr>
          <a:xfrm>
            <a:off x="3767328" y="4023360"/>
            <a:ext cx="82296" cy="82296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67" name="TFIDF cell"/>
          <p:cNvSpPr/>
          <p:nvPr/>
        </p:nvSpPr>
        <p:spPr>
          <a:xfrm>
            <a:off x="3858768" y="4023360"/>
            <a:ext cx="82296" cy="82296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68" name="TFIDF cell"/>
          <p:cNvSpPr/>
          <p:nvPr/>
        </p:nvSpPr>
        <p:spPr>
          <a:xfrm>
            <a:off x="3950208" y="4023360"/>
            <a:ext cx="82296" cy="82296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69" name="TFIDF cell"/>
          <p:cNvSpPr/>
          <p:nvPr/>
        </p:nvSpPr>
        <p:spPr>
          <a:xfrm>
            <a:off x="4041648" y="4023360"/>
            <a:ext cx="82296" cy="82296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70" name="TFIDF"/>
          <p:cNvSpPr txBox="1"/>
          <p:nvPr/>
        </p:nvSpPr>
        <p:spPr>
          <a:xfrm>
            <a:off x="3657600" y="4160520"/>
            <a:ext cx="530352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" b="0">
                <a:solidFill>
                  <a:srgbClr val="4B5563"/>
                </a:solidFill>
                <a:latin typeface="Arial"/>
              </a:rPr>
              <a:t>TF-IDF</a:t>
            </a:r>
          </a:p>
        </p:txBody>
      </p:sp>
      <p:cxnSp>
        <p:nvCxnSpPr>
          <p:cNvPr id="171" name="PCA x"/>
          <p:cNvCxnSpPr/>
          <p:nvPr/>
        </p:nvCxnSpPr>
        <p:spPr>
          <a:xfrm>
            <a:off x="4297680" y="3950208"/>
            <a:ext cx="603504" cy="0"/>
          </a:xfrm>
          <a:prstGeom prst="line">
            <a:avLst/>
          </a:prstGeom>
          <a:ln w="3810">
            <a:solidFill>
              <a:srgbClr val="4B5563"/>
            </a:solidFill>
          </a:ln>
        </p:spPr>
      </p:cxnSp>
      <p:cxnSp>
        <p:nvCxnSpPr>
          <p:cNvPr id="172" name="PCA y"/>
          <p:cNvCxnSpPr/>
          <p:nvPr/>
        </p:nvCxnSpPr>
        <p:spPr>
          <a:xfrm>
            <a:off x="4370832" y="3803904"/>
            <a:ext cx="0" cy="438912"/>
          </a:xfrm>
          <a:prstGeom prst="line">
            <a:avLst/>
          </a:prstGeom>
          <a:ln w="3810">
            <a:solidFill>
              <a:srgbClr val="4B5563"/>
            </a:solidFill>
          </a:ln>
        </p:spPr>
      </p:cxnSp>
      <p:sp>
        <p:nvSpPr>
          <p:cNvPr id="173" name="PCA point"/>
          <p:cNvSpPr/>
          <p:nvPr/>
        </p:nvSpPr>
        <p:spPr>
          <a:xfrm>
            <a:off x="4462272" y="3877056"/>
            <a:ext cx="50292" cy="50292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74" name="PCA point"/>
          <p:cNvSpPr/>
          <p:nvPr/>
        </p:nvSpPr>
        <p:spPr>
          <a:xfrm>
            <a:off x="4553712" y="4078224"/>
            <a:ext cx="50292" cy="50292"/>
          </a:xfrm>
          <a:prstGeom prst="ellipse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75" name="PCA point"/>
          <p:cNvSpPr/>
          <p:nvPr/>
        </p:nvSpPr>
        <p:spPr>
          <a:xfrm>
            <a:off x="4754880" y="3950208"/>
            <a:ext cx="50292" cy="50292"/>
          </a:xfrm>
          <a:prstGeom prst="ellipse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76" name="PCA point"/>
          <p:cNvSpPr/>
          <p:nvPr/>
        </p:nvSpPr>
        <p:spPr>
          <a:xfrm>
            <a:off x="4700016" y="4151376"/>
            <a:ext cx="50292" cy="50292"/>
          </a:xfrm>
          <a:prstGeom prst="ellipse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177" name="PCA point"/>
          <p:cNvSpPr/>
          <p:nvPr/>
        </p:nvSpPr>
        <p:spPr>
          <a:xfrm>
            <a:off x="4864608" y="4041648"/>
            <a:ext cx="50292" cy="50292"/>
          </a:xfrm>
          <a:prstGeom prst="ellipse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78" name="PCA label"/>
          <p:cNvSpPr txBox="1"/>
          <p:nvPr/>
        </p:nvSpPr>
        <p:spPr>
          <a:xfrm>
            <a:off x="4389120" y="4160520"/>
            <a:ext cx="566928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0">
                <a:solidFill>
                  <a:srgbClr val="4B5563"/>
                </a:solidFill>
                <a:latin typeface="Arial"/>
              </a:rPr>
              <a:t>PCA + k-means</a:t>
            </a:r>
          </a:p>
        </p:txBody>
      </p:sp>
      <p:cxnSp>
        <p:nvCxnSpPr>
          <p:cNvPr id="179" name="Arrow"/>
          <p:cNvCxnSpPr/>
          <p:nvPr/>
        </p:nvCxnSpPr>
        <p:spPr>
          <a:xfrm>
            <a:off x="5230368" y="3840480"/>
            <a:ext cx="274320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180" name="Block"/>
          <p:cNvSpPr/>
          <p:nvPr/>
        </p:nvSpPr>
        <p:spPr>
          <a:xfrm>
            <a:off x="5559552" y="3346704"/>
            <a:ext cx="1024128" cy="987552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81" name="Block title"/>
          <p:cNvSpPr txBox="1"/>
          <p:nvPr/>
        </p:nvSpPr>
        <p:spPr>
          <a:xfrm>
            <a:off x="5632704" y="3438144"/>
            <a:ext cx="87782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70" b="1">
                <a:solidFill>
                  <a:srgbClr val="0F766E"/>
                </a:solidFill>
                <a:latin typeface="Arial"/>
              </a:rPr>
              <a:t>Prefix phases</a:t>
            </a:r>
          </a:p>
        </p:txBody>
      </p:sp>
      <p:sp>
        <p:nvSpPr>
          <p:cNvPr id="182" name="Phase dot"/>
          <p:cNvSpPr/>
          <p:nvPr/>
        </p:nvSpPr>
        <p:spPr>
          <a:xfrm>
            <a:off x="5705856" y="3785616"/>
            <a:ext cx="146304" cy="146304"/>
          </a:xfrm>
          <a:prstGeom prst="ellipse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83" name="Phase dot"/>
          <p:cNvSpPr/>
          <p:nvPr/>
        </p:nvSpPr>
        <p:spPr>
          <a:xfrm>
            <a:off x="5827776" y="3785616"/>
            <a:ext cx="146304" cy="146304"/>
          </a:xfrm>
          <a:prstGeom prst="ellipse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84" name="Phase dot"/>
          <p:cNvSpPr/>
          <p:nvPr/>
        </p:nvSpPr>
        <p:spPr>
          <a:xfrm>
            <a:off x="5949696" y="3785616"/>
            <a:ext cx="146304" cy="146304"/>
          </a:xfrm>
          <a:prstGeom prst="ellipse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85" name="Phase dot"/>
          <p:cNvSpPr/>
          <p:nvPr/>
        </p:nvSpPr>
        <p:spPr>
          <a:xfrm>
            <a:off x="6071616" y="3785616"/>
            <a:ext cx="146304" cy="146304"/>
          </a:xfrm>
          <a:prstGeom prst="ellipse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86" name="Phase dot"/>
          <p:cNvSpPr/>
          <p:nvPr/>
        </p:nvSpPr>
        <p:spPr>
          <a:xfrm>
            <a:off x="6193536" y="3785616"/>
            <a:ext cx="146304" cy="146304"/>
          </a:xfrm>
          <a:prstGeom prst="ellipse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7" name="Phase dot"/>
          <p:cNvSpPr/>
          <p:nvPr/>
        </p:nvSpPr>
        <p:spPr>
          <a:xfrm>
            <a:off x="6315456" y="3785616"/>
            <a:ext cx="146304" cy="146304"/>
          </a:xfrm>
          <a:prstGeom prst="ellipse">
            <a:avLst/>
          </a:prstGeom>
          <a:solidFill>
            <a:srgbClr val="DB2777"/>
          </a:solidFill>
          <a:ln w="1270">
            <a:solidFill>
              <a:srgbClr val="DB2777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88" name="Phase caption"/>
          <p:cNvSpPr txBox="1"/>
          <p:nvPr/>
        </p:nvSpPr>
        <p:spPr>
          <a:xfrm>
            <a:off x="5705856" y="4059936"/>
            <a:ext cx="73152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" b="0">
                <a:solidFill>
                  <a:srgbClr val="4B5563"/>
                </a:solidFill>
                <a:latin typeface="Arial"/>
              </a:rPr>
              <a:t>ordered labels over time</a:t>
            </a:r>
          </a:p>
        </p:txBody>
      </p:sp>
      <p:cxnSp>
        <p:nvCxnSpPr>
          <p:cNvPr id="189" name="Arrow"/>
          <p:cNvCxnSpPr/>
          <p:nvPr/>
        </p:nvCxnSpPr>
        <p:spPr>
          <a:xfrm>
            <a:off x="6620256" y="3840480"/>
            <a:ext cx="274320" cy="0"/>
          </a:xfrm>
          <a:prstGeom prst="line">
            <a:avLst/>
          </a:prstGeom>
          <a:ln w="17145">
            <a:solidFill>
              <a:srgbClr val="0F766E"/>
            </a:solidFill>
            <a:tailEnd type="triangle" w="med" h="med"/>
          </a:ln>
        </p:spPr>
      </p:cxnSp>
      <p:sp>
        <p:nvSpPr>
          <p:cNvPr id="190" name="Posterior"/>
          <p:cNvSpPr/>
          <p:nvPr/>
        </p:nvSpPr>
        <p:spPr>
          <a:xfrm>
            <a:off x="6949440" y="3346704"/>
            <a:ext cx="932688" cy="987552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1" name="Posterior title"/>
          <p:cNvSpPr txBox="1"/>
          <p:nvPr/>
        </p:nvSpPr>
        <p:spPr>
          <a:xfrm>
            <a:off x="7040880" y="3474720"/>
            <a:ext cx="749808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1">
                <a:solidFill>
                  <a:srgbClr val="0F766E"/>
                </a:solidFill>
                <a:latin typeface="Arial"/>
              </a:rPr>
              <a:t>posterior q</a:t>
            </a:r>
          </a:p>
        </p:txBody>
      </p:sp>
      <p:sp>
        <p:nvSpPr>
          <p:cNvPr id="192" name="q bar"/>
          <p:cNvSpPr/>
          <p:nvPr/>
        </p:nvSpPr>
        <p:spPr>
          <a:xfrm>
            <a:off x="7150608" y="3785616"/>
            <a:ext cx="54864" cy="164592"/>
          </a:xfrm>
          <a:prstGeom prst="rect">
            <a:avLst/>
          </a:prstGeom>
          <a:solidFill>
            <a:srgbClr val="99F6E4"/>
          </a:solidFill>
          <a:ln w="1524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3" name="q bar"/>
          <p:cNvSpPr/>
          <p:nvPr/>
        </p:nvSpPr>
        <p:spPr>
          <a:xfrm>
            <a:off x="7251192" y="3621024"/>
            <a:ext cx="54864" cy="329184"/>
          </a:xfrm>
          <a:prstGeom prst="rect">
            <a:avLst/>
          </a:prstGeom>
          <a:solidFill>
            <a:srgbClr val="99F6E4"/>
          </a:solidFill>
          <a:ln w="1524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4" name="q bar"/>
          <p:cNvSpPr/>
          <p:nvPr/>
        </p:nvSpPr>
        <p:spPr>
          <a:xfrm>
            <a:off x="7351776" y="3840480"/>
            <a:ext cx="54864" cy="109728"/>
          </a:xfrm>
          <a:prstGeom prst="rect">
            <a:avLst/>
          </a:prstGeom>
          <a:solidFill>
            <a:srgbClr val="99F6E4"/>
          </a:solidFill>
          <a:ln w="1524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5" name="q bar"/>
          <p:cNvSpPr/>
          <p:nvPr/>
        </p:nvSpPr>
        <p:spPr>
          <a:xfrm>
            <a:off x="7452360" y="3538728"/>
            <a:ext cx="54864" cy="411480"/>
          </a:xfrm>
          <a:prstGeom prst="rect">
            <a:avLst/>
          </a:prstGeom>
          <a:solidFill>
            <a:srgbClr val="0F766E"/>
          </a:solidFill>
          <a:ln w="1524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6" name="q bar"/>
          <p:cNvSpPr/>
          <p:nvPr/>
        </p:nvSpPr>
        <p:spPr>
          <a:xfrm>
            <a:off x="7552944" y="3749040"/>
            <a:ext cx="54864" cy="201168"/>
          </a:xfrm>
          <a:prstGeom prst="rect">
            <a:avLst/>
          </a:prstGeom>
          <a:solidFill>
            <a:srgbClr val="99F6E4"/>
          </a:solidFill>
          <a:ln w="1524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cxnSp>
        <p:nvCxnSpPr>
          <p:cNvPr id="197" name="Arrow"/>
          <p:cNvCxnSpPr/>
          <p:nvPr/>
        </p:nvCxnSpPr>
        <p:spPr>
          <a:xfrm>
            <a:off x="7918704" y="3840480"/>
            <a:ext cx="274320" cy="0"/>
          </a:xfrm>
          <a:prstGeom prst="line">
            <a:avLst/>
          </a:prstGeom>
          <a:ln w="17145">
            <a:solidFill>
              <a:srgbClr val="0F766E"/>
            </a:solidFill>
            <a:tailEnd type="triangle" w="med" h="med"/>
          </a:ln>
        </p:spPr>
      </p:cxnSp>
      <p:sp>
        <p:nvSpPr>
          <p:cNvPr id="198" name="Block"/>
          <p:cNvSpPr/>
          <p:nvPr/>
        </p:nvSpPr>
        <p:spPr>
          <a:xfrm>
            <a:off x="8247888" y="3346704"/>
            <a:ext cx="1481328" cy="987552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9" name="Block title"/>
          <p:cNvSpPr txBox="1"/>
          <p:nvPr/>
        </p:nvSpPr>
        <p:spPr>
          <a:xfrm>
            <a:off x="8321040" y="3438144"/>
            <a:ext cx="133502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>
                <a:solidFill>
                  <a:srgbClr val="0F766E"/>
                </a:solidFill>
                <a:latin typeface="Arial"/>
              </a:rPr>
              <a:t>Workflow token w</a:t>
            </a:r>
          </a:p>
        </p:txBody>
      </p:sp>
      <p:sp>
        <p:nvSpPr>
          <p:cNvPr id="200" name="w formula 1"/>
          <p:cNvSpPr txBox="1"/>
          <p:nvPr/>
        </p:nvSpPr>
        <p:spPr>
          <a:xfrm>
            <a:off x="8339328" y="3739896"/>
            <a:ext cx="1298448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30" b="0">
                <a:solidFill>
                  <a:srgbClr val="111827"/>
                </a:solidFill>
                <a:latin typeface="Arial"/>
              </a:rPr>
              <a:t>oracle: w = E[z_full]</a:t>
            </a:r>
          </a:p>
        </p:txBody>
      </p:sp>
      <p:sp>
        <p:nvSpPr>
          <p:cNvPr id="201" name="w formula 2"/>
          <p:cNvSpPr txBox="1"/>
          <p:nvPr/>
        </p:nvSpPr>
        <p:spPr>
          <a:xfrm>
            <a:off x="8339328" y="3931920"/>
            <a:ext cx="1298448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30" b="0">
                <a:solidFill>
                  <a:srgbClr val="111827"/>
                </a:solidFill>
                <a:latin typeface="Arial"/>
              </a:rPr>
              <a:t>causal: w = sum_k q_k E[k]</a:t>
            </a:r>
          </a:p>
        </p:txBody>
      </p:sp>
      <p:sp>
        <p:nvSpPr>
          <p:cNvPr id="202" name="Token visual"/>
          <p:cNvSpPr/>
          <p:nvPr/>
        </p:nvSpPr>
        <p:spPr>
          <a:xfrm>
            <a:off x="8522208" y="4169664"/>
            <a:ext cx="932688" cy="128016"/>
          </a:xfrm>
          <a:prstGeom prst="rect">
            <a:avLst/>
          </a:prstGeom>
          <a:solidFill>
            <a:srgbClr val="7C3AED"/>
          </a:solidFill>
          <a:ln w="254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cxnSp>
        <p:nvCxnSpPr>
          <p:cNvPr id="203" name="Arrow"/>
          <p:cNvCxnSpPr/>
          <p:nvPr/>
        </p:nvCxnSpPr>
        <p:spPr>
          <a:xfrm>
            <a:off x="9784080" y="3840480"/>
            <a:ext cx="347472" cy="1225296"/>
          </a:xfrm>
          <a:prstGeom prst="line">
            <a:avLst/>
          </a:prstGeom>
          <a:ln w="17145">
            <a:solidFill>
              <a:srgbClr val="0F766E"/>
            </a:solidFill>
            <a:tailEnd type="triangle" w="med" h="med"/>
          </a:ln>
        </p:spPr>
      </p:cxnSp>
      <p:sp>
        <p:nvSpPr>
          <p:cNvPr id="204" name="Artifact note"/>
          <p:cNvSpPr txBox="1"/>
          <p:nvPr/>
        </p:nvSpPr>
        <p:spPr>
          <a:xfrm>
            <a:off x="3474720" y="3154680"/>
            <a:ext cx="3822192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30" b="1">
                <a:solidFill>
                  <a:srgbClr val="0F766E"/>
                </a:solidFill>
                <a:latin typeface="Arial"/>
              </a:rPr>
              <a:t>fit offline on training corpus; reused for oracle and causal paths</a:t>
            </a:r>
          </a:p>
        </p:txBody>
      </p:sp>
      <p:sp>
        <p:nvSpPr>
          <p:cNvPr id="205" name="Causal note"/>
          <p:cNvSpPr txBox="1"/>
          <p:nvPr/>
        </p:nvSpPr>
        <p:spPr>
          <a:xfrm>
            <a:off x="5504688" y="4425696"/>
            <a:ext cx="2560320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4B5563"/>
                </a:solidFill>
                <a:latin typeface="Arial"/>
              </a:rPr>
              <a:t>causal path uses predicted prefix phases, not full-case labels</a:t>
            </a:r>
          </a:p>
        </p:txBody>
      </p:sp>
      <p:sp>
        <p:nvSpPr>
          <p:cNvPr id="206" name="C label"/>
          <p:cNvSpPr txBox="1"/>
          <p:nvPr/>
        </p:nvSpPr>
        <p:spPr>
          <a:xfrm>
            <a:off x="402336" y="4901184"/>
            <a:ext cx="248716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  <a:latin typeface="Arial"/>
              </a:rPr>
              <a:t>C. Temporal prediction model</a:t>
            </a:r>
          </a:p>
        </p:txBody>
      </p:sp>
      <p:sp>
        <p:nvSpPr>
          <p:cNvPr id="207" name="Block"/>
          <p:cNvSpPr/>
          <p:nvPr/>
        </p:nvSpPr>
        <p:spPr>
          <a:xfrm>
            <a:off x="493776" y="5212080"/>
            <a:ext cx="214884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08" name="Block title"/>
          <p:cNvSpPr txBox="1"/>
          <p:nvPr/>
        </p:nvSpPr>
        <p:spPr>
          <a:xfrm>
            <a:off x="566928" y="5303520"/>
            <a:ext cx="20025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10" b="1">
                <a:solidFill>
                  <a:srgbClr val="1D4ED8"/>
                </a:solidFill>
                <a:latin typeface="Arial"/>
              </a:rPr>
              <a:t>Conditioning settings</a:t>
            </a:r>
          </a:p>
        </p:txBody>
      </p:sp>
      <p:sp>
        <p:nvSpPr>
          <p:cNvPr id="209" name="Setting swatch"/>
          <p:cNvSpPr/>
          <p:nvPr/>
        </p:nvSpPr>
        <p:spPr>
          <a:xfrm>
            <a:off x="676656" y="5632704"/>
            <a:ext cx="146304" cy="146304"/>
          </a:xfrm>
          <a:prstGeom prst="rect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10" name="Setting title"/>
          <p:cNvSpPr txBox="1"/>
          <p:nvPr/>
        </p:nvSpPr>
        <p:spPr>
          <a:xfrm>
            <a:off x="877824" y="5596128"/>
            <a:ext cx="160020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" b="1">
                <a:solidFill>
                  <a:srgbClr val="111827"/>
                </a:solidFill>
                <a:latin typeface="Arial"/>
              </a:rPr>
              <a:t>No-token / constant</a:t>
            </a:r>
          </a:p>
        </p:txBody>
      </p:sp>
      <p:sp>
        <p:nvSpPr>
          <p:cNvPr id="211" name="Setting note"/>
          <p:cNvSpPr txBox="1"/>
          <p:nvPr/>
        </p:nvSpPr>
        <p:spPr>
          <a:xfrm>
            <a:off x="877824" y="5742432"/>
            <a:ext cx="160020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60" b="0">
                <a:solidFill>
                  <a:srgbClr val="4B5563"/>
                </a:solidFill>
                <a:latin typeface="Arial"/>
              </a:rPr>
              <a:t>video features only baseline</a:t>
            </a:r>
          </a:p>
        </p:txBody>
      </p:sp>
      <p:sp>
        <p:nvSpPr>
          <p:cNvPr id="212" name="Setting swatch"/>
          <p:cNvSpPr/>
          <p:nvPr/>
        </p:nvSpPr>
        <p:spPr>
          <a:xfrm>
            <a:off x="676656" y="5934456"/>
            <a:ext cx="146304" cy="146304"/>
          </a:xfrm>
          <a:prstGeom prst="rect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213" name="Setting title"/>
          <p:cNvSpPr txBox="1"/>
          <p:nvPr/>
        </p:nvSpPr>
        <p:spPr>
          <a:xfrm>
            <a:off x="877824" y="5897880"/>
            <a:ext cx="160020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" b="1">
                <a:solidFill>
                  <a:srgbClr val="111827"/>
                </a:solidFill>
                <a:latin typeface="Arial"/>
              </a:rPr>
              <a:t>Oracle</a:t>
            </a:r>
          </a:p>
        </p:txBody>
      </p:sp>
      <p:sp>
        <p:nvSpPr>
          <p:cNvPr id="214" name="Setting note"/>
          <p:cNvSpPr txBox="1"/>
          <p:nvPr/>
        </p:nvSpPr>
        <p:spPr>
          <a:xfrm>
            <a:off x="877824" y="6044184"/>
            <a:ext cx="160020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60" b="0">
                <a:solidFill>
                  <a:srgbClr val="4B5563"/>
                </a:solidFill>
                <a:latin typeface="Arial"/>
              </a:rPr>
              <a:t>full-surgery z_full -&gt; E[z]</a:t>
            </a:r>
          </a:p>
        </p:txBody>
      </p:sp>
      <p:sp>
        <p:nvSpPr>
          <p:cNvPr id="215" name="Setting swatch"/>
          <p:cNvSpPr/>
          <p:nvPr/>
        </p:nvSpPr>
        <p:spPr>
          <a:xfrm>
            <a:off x="676656" y="6236208"/>
            <a:ext cx="146304" cy="146304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216" name="Setting title"/>
          <p:cNvSpPr txBox="1"/>
          <p:nvPr/>
        </p:nvSpPr>
        <p:spPr>
          <a:xfrm>
            <a:off x="877824" y="6199632"/>
            <a:ext cx="160020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" b="1">
                <a:solidFill>
                  <a:srgbClr val="111827"/>
                </a:solidFill>
                <a:latin typeface="Arial"/>
              </a:rPr>
              <a:t>Causal</a:t>
            </a:r>
          </a:p>
        </p:txBody>
      </p:sp>
      <p:sp>
        <p:nvSpPr>
          <p:cNvPr id="217" name="Setting note"/>
          <p:cNvSpPr txBox="1"/>
          <p:nvPr/>
        </p:nvSpPr>
        <p:spPr>
          <a:xfrm>
            <a:off x="877824" y="6345936"/>
            <a:ext cx="160020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60" b="0">
                <a:solidFill>
                  <a:srgbClr val="4B5563"/>
                </a:solidFill>
                <a:latin typeface="Arial"/>
              </a:rPr>
              <a:t>prefix-derived q -&gt; sum qE</a:t>
            </a:r>
          </a:p>
        </p:txBody>
      </p:sp>
      <p:cxnSp>
        <p:nvCxnSpPr>
          <p:cNvPr id="218" name="Arrow"/>
          <p:cNvCxnSpPr/>
          <p:nvPr/>
        </p:nvCxnSpPr>
        <p:spPr>
          <a:xfrm>
            <a:off x="2743200" y="5852160"/>
            <a:ext cx="310896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219" name="Block"/>
          <p:cNvSpPr/>
          <p:nvPr/>
        </p:nvSpPr>
        <p:spPr>
          <a:xfrm>
            <a:off x="3108960" y="5230368"/>
            <a:ext cx="1078992" cy="126187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20" name="Block title"/>
          <p:cNvSpPr txBox="1"/>
          <p:nvPr/>
        </p:nvSpPr>
        <p:spPr>
          <a:xfrm>
            <a:off x="3182112" y="5321808"/>
            <a:ext cx="93268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30" b="1">
                <a:solidFill>
                  <a:srgbClr val="1D4ED8"/>
                </a:solidFill>
                <a:latin typeface="Arial"/>
              </a:rPr>
              <a:t>Frame-feature matrix</a:t>
            </a:r>
          </a:p>
        </p:txBody>
      </p:sp>
      <p:sp>
        <p:nvSpPr>
          <p:cNvPr id="221" name="F matrix"/>
          <p:cNvSpPr/>
          <p:nvPr/>
        </p:nvSpPr>
        <p:spPr>
          <a:xfrm>
            <a:off x="3291840" y="5614416"/>
            <a:ext cx="713232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cxnSp>
        <p:nvCxnSpPr>
          <p:cNvPr id="222" name="F row"/>
          <p:cNvCxnSpPr/>
          <p:nvPr/>
        </p:nvCxnSpPr>
        <p:spPr>
          <a:xfrm>
            <a:off x="3291840" y="5689854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223" name="F row"/>
          <p:cNvCxnSpPr/>
          <p:nvPr/>
        </p:nvCxnSpPr>
        <p:spPr>
          <a:xfrm>
            <a:off x="3291840" y="5765292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224" name="F row"/>
          <p:cNvCxnSpPr/>
          <p:nvPr/>
        </p:nvCxnSpPr>
        <p:spPr>
          <a:xfrm>
            <a:off x="3291840" y="5840730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225" name="F row"/>
          <p:cNvCxnSpPr/>
          <p:nvPr/>
        </p:nvCxnSpPr>
        <p:spPr>
          <a:xfrm>
            <a:off x="3291840" y="5916168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226" name="F row"/>
          <p:cNvCxnSpPr/>
          <p:nvPr/>
        </p:nvCxnSpPr>
        <p:spPr>
          <a:xfrm>
            <a:off x="3291840" y="5991606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227" name="F row"/>
          <p:cNvCxnSpPr/>
          <p:nvPr/>
        </p:nvCxnSpPr>
        <p:spPr>
          <a:xfrm>
            <a:off x="3291840" y="6067044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228" name="F row"/>
          <p:cNvCxnSpPr/>
          <p:nvPr/>
        </p:nvCxnSpPr>
        <p:spPr>
          <a:xfrm>
            <a:off x="3291840" y="6142482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sp>
        <p:nvSpPr>
          <p:cNvPr id="229" name="f label"/>
          <p:cNvSpPr txBox="1"/>
          <p:nvPr/>
        </p:nvSpPr>
        <p:spPr>
          <a:xfrm>
            <a:off x="3108960" y="5610987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f_1</a:t>
            </a:r>
          </a:p>
        </p:txBody>
      </p:sp>
      <p:sp>
        <p:nvSpPr>
          <p:cNvPr id="230" name="F dot"/>
          <p:cNvSpPr/>
          <p:nvPr/>
        </p:nvSpPr>
        <p:spPr>
          <a:xfrm>
            <a:off x="3385109" y="5635676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31" name="F dot"/>
          <p:cNvSpPr/>
          <p:nvPr/>
        </p:nvSpPr>
        <p:spPr>
          <a:xfrm>
            <a:off x="3549701" y="5635676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32" name="F dot"/>
          <p:cNvSpPr/>
          <p:nvPr/>
        </p:nvSpPr>
        <p:spPr>
          <a:xfrm>
            <a:off x="3714293" y="5635676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33" name="F dot"/>
          <p:cNvSpPr/>
          <p:nvPr/>
        </p:nvSpPr>
        <p:spPr>
          <a:xfrm>
            <a:off x="3878885" y="5635676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34" name="f label"/>
          <p:cNvSpPr txBox="1"/>
          <p:nvPr/>
        </p:nvSpPr>
        <p:spPr>
          <a:xfrm>
            <a:off x="3108960" y="5686425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f_2</a:t>
            </a:r>
          </a:p>
        </p:txBody>
      </p:sp>
      <p:sp>
        <p:nvSpPr>
          <p:cNvPr id="235" name="F dot"/>
          <p:cNvSpPr/>
          <p:nvPr/>
        </p:nvSpPr>
        <p:spPr>
          <a:xfrm>
            <a:off x="3385109" y="571111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36" name="F dot"/>
          <p:cNvSpPr/>
          <p:nvPr/>
        </p:nvSpPr>
        <p:spPr>
          <a:xfrm>
            <a:off x="3549701" y="571111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37" name="F dot"/>
          <p:cNvSpPr/>
          <p:nvPr/>
        </p:nvSpPr>
        <p:spPr>
          <a:xfrm>
            <a:off x="3714293" y="571111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38" name="F dot"/>
          <p:cNvSpPr/>
          <p:nvPr/>
        </p:nvSpPr>
        <p:spPr>
          <a:xfrm>
            <a:off x="3878885" y="571111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39" name="f label"/>
          <p:cNvSpPr txBox="1"/>
          <p:nvPr/>
        </p:nvSpPr>
        <p:spPr>
          <a:xfrm>
            <a:off x="3108960" y="5761863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f_3</a:t>
            </a:r>
          </a:p>
        </p:txBody>
      </p:sp>
      <p:sp>
        <p:nvSpPr>
          <p:cNvPr id="240" name="F dot"/>
          <p:cNvSpPr/>
          <p:nvPr/>
        </p:nvSpPr>
        <p:spPr>
          <a:xfrm>
            <a:off x="3385109" y="578655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41" name="F dot"/>
          <p:cNvSpPr/>
          <p:nvPr/>
        </p:nvSpPr>
        <p:spPr>
          <a:xfrm>
            <a:off x="3549701" y="578655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42" name="F dot"/>
          <p:cNvSpPr/>
          <p:nvPr/>
        </p:nvSpPr>
        <p:spPr>
          <a:xfrm>
            <a:off x="3714293" y="578655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43" name="F dot"/>
          <p:cNvSpPr/>
          <p:nvPr/>
        </p:nvSpPr>
        <p:spPr>
          <a:xfrm>
            <a:off x="3878885" y="578655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44" name="f label"/>
          <p:cNvSpPr txBox="1"/>
          <p:nvPr/>
        </p:nvSpPr>
        <p:spPr>
          <a:xfrm>
            <a:off x="3108960" y="5837301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f_4</a:t>
            </a:r>
          </a:p>
        </p:txBody>
      </p:sp>
      <p:sp>
        <p:nvSpPr>
          <p:cNvPr id="245" name="F dot"/>
          <p:cNvSpPr/>
          <p:nvPr/>
        </p:nvSpPr>
        <p:spPr>
          <a:xfrm>
            <a:off x="3385109" y="5861990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46" name="F dot"/>
          <p:cNvSpPr/>
          <p:nvPr/>
        </p:nvSpPr>
        <p:spPr>
          <a:xfrm>
            <a:off x="3549701" y="5861990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47" name="F dot"/>
          <p:cNvSpPr/>
          <p:nvPr/>
        </p:nvSpPr>
        <p:spPr>
          <a:xfrm>
            <a:off x="3714293" y="5861990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48" name="F dot"/>
          <p:cNvSpPr/>
          <p:nvPr/>
        </p:nvSpPr>
        <p:spPr>
          <a:xfrm>
            <a:off x="3878885" y="5861990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49" name="f label"/>
          <p:cNvSpPr txBox="1"/>
          <p:nvPr/>
        </p:nvSpPr>
        <p:spPr>
          <a:xfrm>
            <a:off x="3108960" y="5912739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f_5</a:t>
            </a:r>
          </a:p>
        </p:txBody>
      </p:sp>
      <p:sp>
        <p:nvSpPr>
          <p:cNvPr id="250" name="F dot"/>
          <p:cNvSpPr/>
          <p:nvPr/>
        </p:nvSpPr>
        <p:spPr>
          <a:xfrm>
            <a:off x="3385109" y="5937428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51" name="F dot"/>
          <p:cNvSpPr/>
          <p:nvPr/>
        </p:nvSpPr>
        <p:spPr>
          <a:xfrm>
            <a:off x="3549701" y="5937428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52" name="F dot"/>
          <p:cNvSpPr/>
          <p:nvPr/>
        </p:nvSpPr>
        <p:spPr>
          <a:xfrm>
            <a:off x="3714293" y="5937428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53" name="F dot"/>
          <p:cNvSpPr/>
          <p:nvPr/>
        </p:nvSpPr>
        <p:spPr>
          <a:xfrm>
            <a:off x="3878885" y="5937428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54" name="f label"/>
          <p:cNvSpPr txBox="1"/>
          <p:nvPr/>
        </p:nvSpPr>
        <p:spPr>
          <a:xfrm>
            <a:off x="3108960" y="5988177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f_6</a:t>
            </a:r>
          </a:p>
        </p:txBody>
      </p:sp>
      <p:sp>
        <p:nvSpPr>
          <p:cNvPr id="255" name="F dot"/>
          <p:cNvSpPr/>
          <p:nvPr/>
        </p:nvSpPr>
        <p:spPr>
          <a:xfrm>
            <a:off x="3385109" y="6012866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56" name="F dot"/>
          <p:cNvSpPr/>
          <p:nvPr/>
        </p:nvSpPr>
        <p:spPr>
          <a:xfrm>
            <a:off x="3549701" y="6012866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57" name="F dot"/>
          <p:cNvSpPr/>
          <p:nvPr/>
        </p:nvSpPr>
        <p:spPr>
          <a:xfrm>
            <a:off x="3714293" y="6012866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58" name="F dot"/>
          <p:cNvSpPr/>
          <p:nvPr/>
        </p:nvSpPr>
        <p:spPr>
          <a:xfrm>
            <a:off x="3878885" y="6012866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59" name="f label"/>
          <p:cNvSpPr txBox="1"/>
          <p:nvPr/>
        </p:nvSpPr>
        <p:spPr>
          <a:xfrm>
            <a:off x="3108960" y="6063615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f_7</a:t>
            </a:r>
          </a:p>
        </p:txBody>
      </p:sp>
      <p:sp>
        <p:nvSpPr>
          <p:cNvPr id="260" name="F dot"/>
          <p:cNvSpPr/>
          <p:nvPr/>
        </p:nvSpPr>
        <p:spPr>
          <a:xfrm>
            <a:off x="3385109" y="608830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61" name="F dot"/>
          <p:cNvSpPr/>
          <p:nvPr/>
        </p:nvSpPr>
        <p:spPr>
          <a:xfrm>
            <a:off x="3549701" y="608830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62" name="F dot"/>
          <p:cNvSpPr/>
          <p:nvPr/>
        </p:nvSpPr>
        <p:spPr>
          <a:xfrm>
            <a:off x="3714293" y="608830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63" name="F dot"/>
          <p:cNvSpPr/>
          <p:nvPr/>
        </p:nvSpPr>
        <p:spPr>
          <a:xfrm>
            <a:off x="3878885" y="608830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64" name="f label"/>
          <p:cNvSpPr txBox="1"/>
          <p:nvPr/>
        </p:nvSpPr>
        <p:spPr>
          <a:xfrm>
            <a:off x="3108960" y="6139053"/>
            <a:ext cx="14630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410" b="0">
                <a:solidFill>
                  <a:srgbClr val="4B5563"/>
                </a:solidFill>
                <a:latin typeface="Arial"/>
              </a:rPr>
              <a:t>f_8</a:t>
            </a:r>
          </a:p>
        </p:txBody>
      </p:sp>
      <p:sp>
        <p:nvSpPr>
          <p:cNvPr id="265" name="F dot"/>
          <p:cNvSpPr/>
          <p:nvPr/>
        </p:nvSpPr>
        <p:spPr>
          <a:xfrm>
            <a:off x="3385109" y="616374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66" name="F dot"/>
          <p:cNvSpPr/>
          <p:nvPr/>
        </p:nvSpPr>
        <p:spPr>
          <a:xfrm>
            <a:off x="3549701" y="616374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67" name="F dot"/>
          <p:cNvSpPr/>
          <p:nvPr/>
        </p:nvSpPr>
        <p:spPr>
          <a:xfrm>
            <a:off x="3714293" y="616374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68" name="F dot"/>
          <p:cNvSpPr/>
          <p:nvPr/>
        </p:nvSpPr>
        <p:spPr>
          <a:xfrm>
            <a:off x="3878885" y="616374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69" name="F shape"/>
          <p:cNvSpPr txBox="1"/>
          <p:nvPr/>
        </p:nvSpPr>
        <p:spPr>
          <a:xfrm>
            <a:off x="3182112" y="6291072"/>
            <a:ext cx="93268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70" b="1">
                <a:solidFill>
                  <a:srgbClr val="1D4ED8"/>
                </a:solidFill>
                <a:latin typeface="Arial"/>
              </a:rPr>
              <a:t>F in R^(8 x 768)</a:t>
            </a:r>
          </a:p>
        </p:txBody>
      </p:sp>
      <p:cxnSp>
        <p:nvCxnSpPr>
          <p:cNvPr id="270" name="Arrow"/>
          <p:cNvCxnSpPr/>
          <p:nvPr/>
        </p:nvCxnSpPr>
        <p:spPr>
          <a:xfrm>
            <a:off x="4242816" y="5852160"/>
            <a:ext cx="329184" cy="0"/>
          </a:xfrm>
          <a:prstGeom prst="line">
            <a:avLst/>
          </a:prstGeom>
          <a:ln w="17145">
            <a:solidFill>
              <a:srgbClr val="D97706"/>
            </a:solidFill>
            <a:tailEnd type="triangle" w="med" h="med"/>
          </a:ln>
        </p:spPr>
      </p:cxnSp>
      <p:sp>
        <p:nvSpPr>
          <p:cNvPr id="271" name="Block"/>
          <p:cNvSpPr/>
          <p:nvPr/>
        </p:nvSpPr>
        <p:spPr>
          <a:xfrm>
            <a:off x="4626864" y="5230368"/>
            <a:ext cx="1353312" cy="1261872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272" name="Block title"/>
          <p:cNvSpPr txBox="1"/>
          <p:nvPr/>
        </p:nvSpPr>
        <p:spPr>
          <a:xfrm>
            <a:off x="4700016" y="5321808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>
                <a:solidFill>
                  <a:srgbClr val="0F766E"/>
                </a:solidFill>
                <a:latin typeface="Arial"/>
              </a:rPr>
              <a:t>Workflow token w</a:t>
            </a:r>
          </a:p>
        </p:txBody>
      </p:sp>
      <p:sp>
        <p:nvSpPr>
          <p:cNvPr id="273" name="w formula 1"/>
          <p:cNvSpPr txBox="1"/>
          <p:nvPr/>
        </p:nvSpPr>
        <p:spPr>
          <a:xfrm>
            <a:off x="4718304" y="5623560"/>
            <a:ext cx="1170432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30" b="0">
                <a:solidFill>
                  <a:srgbClr val="111827"/>
                </a:solidFill>
                <a:latin typeface="Arial"/>
              </a:rPr>
              <a:t>oracle: w = E[z_full]</a:t>
            </a:r>
          </a:p>
        </p:txBody>
      </p:sp>
      <p:sp>
        <p:nvSpPr>
          <p:cNvPr id="274" name="w formula 2"/>
          <p:cNvSpPr txBox="1"/>
          <p:nvPr/>
        </p:nvSpPr>
        <p:spPr>
          <a:xfrm>
            <a:off x="4718304" y="5815584"/>
            <a:ext cx="1170432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30" b="0">
                <a:solidFill>
                  <a:srgbClr val="111827"/>
                </a:solidFill>
                <a:latin typeface="Arial"/>
              </a:rPr>
              <a:t>causal: w = sum_k q_k E[k]</a:t>
            </a:r>
          </a:p>
        </p:txBody>
      </p:sp>
      <p:sp>
        <p:nvSpPr>
          <p:cNvPr id="275" name="Token visual"/>
          <p:cNvSpPr/>
          <p:nvPr/>
        </p:nvSpPr>
        <p:spPr>
          <a:xfrm>
            <a:off x="4901184" y="6053328"/>
            <a:ext cx="804672" cy="128016"/>
          </a:xfrm>
          <a:prstGeom prst="rect">
            <a:avLst/>
          </a:prstGeom>
          <a:solidFill>
            <a:srgbClr val="7C3AED"/>
          </a:solidFill>
          <a:ln w="254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cxnSp>
        <p:nvCxnSpPr>
          <p:cNvPr id="276" name="Arrow"/>
          <p:cNvCxnSpPr/>
          <p:nvPr/>
        </p:nvCxnSpPr>
        <p:spPr>
          <a:xfrm>
            <a:off x="6035040" y="5852160"/>
            <a:ext cx="310896" cy="0"/>
          </a:xfrm>
          <a:prstGeom prst="line">
            <a:avLst/>
          </a:prstGeom>
          <a:ln w="17145">
            <a:solidFill>
              <a:srgbClr val="D97706"/>
            </a:solidFill>
            <a:tailEnd type="triangle" w="med" h="med"/>
          </a:ln>
        </p:spPr>
      </p:cxnSp>
      <p:sp>
        <p:nvSpPr>
          <p:cNvPr id="277" name="Block"/>
          <p:cNvSpPr/>
          <p:nvPr/>
        </p:nvSpPr>
        <p:spPr>
          <a:xfrm>
            <a:off x="6400800" y="5102352"/>
            <a:ext cx="1591056" cy="1517904"/>
          </a:xfrm>
          <a:prstGeom prst="roundRect">
            <a:avLst/>
          </a:prstGeom>
          <a:solidFill>
            <a:srgbClr val="FFFBEB"/>
          </a:solidFill>
          <a:ln w="1143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278" name="Block title"/>
          <p:cNvSpPr txBox="1"/>
          <p:nvPr/>
        </p:nvSpPr>
        <p:spPr>
          <a:xfrm>
            <a:off x="6473952" y="5193792"/>
            <a:ext cx="144475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D97706"/>
                </a:solidFill>
                <a:latin typeface="Arial"/>
              </a:rPr>
              <a:t>Temporal input sequence</a:t>
            </a:r>
          </a:p>
        </p:txBody>
      </p:sp>
      <p:sp>
        <p:nvSpPr>
          <p:cNvPr id="279" name="Seq formula"/>
          <p:cNvSpPr txBox="1"/>
          <p:nvPr/>
        </p:nvSpPr>
        <p:spPr>
          <a:xfrm>
            <a:off x="6492240" y="5468112"/>
            <a:ext cx="1408176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S = [w ; f_1 ; ... ; f_8]</a:t>
            </a:r>
          </a:p>
        </p:txBody>
      </p:sp>
      <p:sp>
        <p:nvSpPr>
          <p:cNvPr id="280" name="Seq shape"/>
          <p:cNvSpPr txBox="1"/>
          <p:nvPr/>
        </p:nvSpPr>
        <p:spPr>
          <a:xfrm>
            <a:off x="6492240" y="5650992"/>
            <a:ext cx="1408176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" b="0">
                <a:solidFill>
                  <a:srgbClr val="4B5563"/>
                </a:solidFill>
                <a:latin typeface="Arial"/>
              </a:rPr>
              <a:t>S in R^(9 x 768)</a:t>
            </a:r>
          </a:p>
        </p:txBody>
      </p:sp>
      <p:sp>
        <p:nvSpPr>
          <p:cNvPr id="281" name="w row"/>
          <p:cNvSpPr/>
          <p:nvPr/>
        </p:nvSpPr>
        <p:spPr>
          <a:xfrm>
            <a:off x="6803136" y="5870448"/>
            <a:ext cx="786384" cy="109728"/>
          </a:xfrm>
          <a:prstGeom prst="rect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282" name="f row"/>
          <p:cNvSpPr/>
          <p:nvPr/>
        </p:nvSpPr>
        <p:spPr>
          <a:xfrm>
            <a:off x="6803136" y="6016752"/>
            <a:ext cx="786384" cy="54864"/>
          </a:xfrm>
          <a:prstGeom prst="rect">
            <a:avLst/>
          </a:prstGeom>
          <a:solidFill>
            <a:srgbClr val="DBEAFE"/>
          </a:solidFill>
          <a:ln w="1524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83" name="f row"/>
          <p:cNvSpPr/>
          <p:nvPr/>
        </p:nvSpPr>
        <p:spPr>
          <a:xfrm>
            <a:off x="6803136" y="6108192"/>
            <a:ext cx="786384" cy="54864"/>
          </a:xfrm>
          <a:prstGeom prst="rect">
            <a:avLst/>
          </a:prstGeom>
          <a:solidFill>
            <a:srgbClr val="DBEAFE"/>
          </a:solidFill>
          <a:ln w="1524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84" name="f row"/>
          <p:cNvSpPr/>
          <p:nvPr/>
        </p:nvSpPr>
        <p:spPr>
          <a:xfrm>
            <a:off x="6803136" y="6199632"/>
            <a:ext cx="786384" cy="54864"/>
          </a:xfrm>
          <a:prstGeom prst="rect">
            <a:avLst/>
          </a:prstGeom>
          <a:solidFill>
            <a:srgbClr val="DBEAFE"/>
          </a:solidFill>
          <a:ln w="1524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85" name="f row"/>
          <p:cNvSpPr/>
          <p:nvPr/>
        </p:nvSpPr>
        <p:spPr>
          <a:xfrm>
            <a:off x="6803136" y="6291072"/>
            <a:ext cx="786384" cy="54864"/>
          </a:xfrm>
          <a:prstGeom prst="rect">
            <a:avLst/>
          </a:prstGeom>
          <a:solidFill>
            <a:srgbClr val="DBEAFE"/>
          </a:solidFill>
          <a:ln w="1524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86" name="f row"/>
          <p:cNvSpPr/>
          <p:nvPr/>
        </p:nvSpPr>
        <p:spPr>
          <a:xfrm>
            <a:off x="6803136" y="6382512"/>
            <a:ext cx="786384" cy="54864"/>
          </a:xfrm>
          <a:prstGeom prst="rect">
            <a:avLst/>
          </a:prstGeom>
          <a:solidFill>
            <a:srgbClr val="DBEAFE"/>
          </a:solidFill>
          <a:ln w="1524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87" name="No plus badge"/>
          <p:cNvSpPr/>
          <p:nvPr/>
        </p:nvSpPr>
        <p:spPr>
          <a:xfrm>
            <a:off x="6656832" y="6364224"/>
            <a:ext cx="1078992" cy="164592"/>
          </a:xfrm>
          <a:prstGeom prst="roundRect">
            <a:avLst/>
          </a:prstGeom>
          <a:solidFill>
            <a:srgbClr val="FEF2F2"/>
          </a:solidFill>
          <a:ln w="5715">
            <a:solidFill>
              <a:srgbClr val="DC2626"/>
            </a:solidFill>
          </a:ln>
        </p:spPr>
        <p:txBody>
          <a:bodyPr rtlCol="0" anchor="ctr"/>
          <a:lstStyle/>
          <a:p/>
        </p:txBody>
      </p:sp>
      <p:sp>
        <p:nvSpPr>
          <p:cNvPr id="288" name="No plus"/>
          <p:cNvSpPr txBox="1"/>
          <p:nvPr/>
        </p:nvSpPr>
        <p:spPr>
          <a:xfrm>
            <a:off x="6711696" y="6400800"/>
            <a:ext cx="969264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" b="1">
                <a:solidFill>
                  <a:srgbClr val="DC2626"/>
                </a:solidFill>
                <a:latin typeface="Arial"/>
              </a:rPr>
              <a:t>concat/prepend, not +</a:t>
            </a:r>
          </a:p>
        </p:txBody>
      </p:sp>
      <p:cxnSp>
        <p:nvCxnSpPr>
          <p:cNvPr id="289" name="Arrow"/>
          <p:cNvCxnSpPr/>
          <p:nvPr/>
        </p:nvCxnSpPr>
        <p:spPr>
          <a:xfrm>
            <a:off x="8046720" y="5852160"/>
            <a:ext cx="310896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290" name="Block"/>
          <p:cNvSpPr/>
          <p:nvPr/>
        </p:nvSpPr>
        <p:spPr>
          <a:xfrm>
            <a:off x="8412480" y="5102352"/>
            <a:ext cx="1481328" cy="1517904"/>
          </a:xfrm>
          <a:prstGeom prst="roundRect">
            <a:avLst/>
          </a:prstGeom>
          <a:solidFill>
            <a:srgbClr val="F1F5F9"/>
          </a:solidFill>
          <a:ln w="11430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91" name="Block title"/>
          <p:cNvSpPr txBox="1"/>
          <p:nvPr/>
        </p:nvSpPr>
        <p:spPr>
          <a:xfrm>
            <a:off x="8485632" y="5193792"/>
            <a:ext cx="133502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  <a:latin typeface="Arial"/>
              </a:rPr>
              <a:t>HTA-inspired temporal head</a:t>
            </a:r>
          </a:p>
        </p:txBody>
      </p:sp>
      <p:sp>
        <p:nvSpPr>
          <p:cNvPr id="292" name="HTA block"/>
          <p:cNvSpPr/>
          <p:nvPr/>
        </p:nvSpPr>
        <p:spPr>
          <a:xfrm>
            <a:off x="8631936" y="5513832"/>
            <a:ext cx="1042416" cy="68580"/>
          </a:xfrm>
          <a:prstGeom prst="roundRect">
            <a:avLst/>
          </a:prstGeom>
          <a:solidFill>
            <a:srgbClr val="E5E7EB"/>
          </a:solidFill>
          <a:ln w="2794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93" name="HTA block"/>
          <p:cNvSpPr/>
          <p:nvPr/>
        </p:nvSpPr>
        <p:spPr>
          <a:xfrm>
            <a:off x="8631936" y="5614416"/>
            <a:ext cx="1042416" cy="68580"/>
          </a:xfrm>
          <a:prstGeom prst="roundRect">
            <a:avLst/>
          </a:prstGeom>
          <a:solidFill>
            <a:srgbClr val="E5E7EB"/>
          </a:solidFill>
          <a:ln w="2794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94" name="HTA block"/>
          <p:cNvSpPr/>
          <p:nvPr/>
        </p:nvSpPr>
        <p:spPr>
          <a:xfrm>
            <a:off x="8631936" y="5715000"/>
            <a:ext cx="1042416" cy="68580"/>
          </a:xfrm>
          <a:prstGeom prst="roundRect">
            <a:avLst/>
          </a:prstGeom>
          <a:solidFill>
            <a:srgbClr val="E5E7EB"/>
          </a:solidFill>
          <a:ln w="2794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95" name="HTA block"/>
          <p:cNvSpPr/>
          <p:nvPr/>
        </p:nvSpPr>
        <p:spPr>
          <a:xfrm>
            <a:off x="8631936" y="5815584"/>
            <a:ext cx="1042416" cy="68580"/>
          </a:xfrm>
          <a:prstGeom prst="roundRect">
            <a:avLst/>
          </a:prstGeom>
          <a:solidFill>
            <a:srgbClr val="E5E7EB"/>
          </a:solidFill>
          <a:ln w="2794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96" name="HTA block"/>
          <p:cNvSpPr/>
          <p:nvPr/>
        </p:nvSpPr>
        <p:spPr>
          <a:xfrm>
            <a:off x="8631936" y="5916168"/>
            <a:ext cx="1042416" cy="68580"/>
          </a:xfrm>
          <a:prstGeom prst="roundRect">
            <a:avLst/>
          </a:prstGeom>
          <a:solidFill>
            <a:srgbClr val="E5E7EB"/>
          </a:solidFill>
          <a:ln w="2794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97" name="HTA block"/>
          <p:cNvSpPr/>
          <p:nvPr/>
        </p:nvSpPr>
        <p:spPr>
          <a:xfrm>
            <a:off x="8631936" y="6016752"/>
            <a:ext cx="1042416" cy="68580"/>
          </a:xfrm>
          <a:prstGeom prst="roundRect">
            <a:avLst/>
          </a:prstGeom>
          <a:solidFill>
            <a:srgbClr val="E5E7EB"/>
          </a:solidFill>
          <a:ln w="2794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98" name="HTA note"/>
          <p:cNvSpPr txBox="1"/>
          <p:nvPr/>
        </p:nvSpPr>
        <p:spPr>
          <a:xfrm>
            <a:off x="8540496" y="6391656"/>
            <a:ext cx="1225296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30" b="0">
                <a:solidFill>
                  <a:srgbClr val="4B5563"/>
                </a:solidFill>
                <a:latin typeface="Arial"/>
              </a:rPr>
              <a:t>6 blocks; row 0 becomes h_t</a:t>
            </a:r>
          </a:p>
        </p:txBody>
      </p:sp>
      <p:cxnSp>
        <p:nvCxnSpPr>
          <p:cNvPr id="299" name="Arrow"/>
          <p:cNvCxnSpPr/>
          <p:nvPr/>
        </p:nvCxnSpPr>
        <p:spPr>
          <a:xfrm>
            <a:off x="9948672" y="5852160"/>
            <a:ext cx="310896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300" name="Block"/>
          <p:cNvSpPr/>
          <p:nvPr/>
        </p:nvSpPr>
        <p:spPr>
          <a:xfrm>
            <a:off x="10314432" y="5102352"/>
            <a:ext cx="1700784" cy="15179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301" name="Block title"/>
          <p:cNvSpPr txBox="1"/>
          <p:nvPr/>
        </p:nvSpPr>
        <p:spPr>
          <a:xfrm>
            <a:off x="10387584" y="5193792"/>
            <a:ext cx="1554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10" b="1">
                <a:solidFill>
                  <a:srgbClr val="D97706"/>
                </a:solidFill>
                <a:latin typeface="Arial"/>
              </a:rPr>
              <a:t>Task heads on h_t</a:t>
            </a:r>
          </a:p>
        </p:txBody>
      </p:sp>
      <p:sp>
        <p:nvSpPr>
          <p:cNvPr id="302" name="Head card"/>
          <p:cNvSpPr/>
          <p:nvPr/>
        </p:nvSpPr>
        <p:spPr>
          <a:xfrm>
            <a:off x="10479024" y="5522976"/>
            <a:ext cx="402336" cy="566928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303" name="Head name"/>
          <p:cNvSpPr txBox="1"/>
          <p:nvPr/>
        </p:nvSpPr>
        <p:spPr>
          <a:xfrm>
            <a:off x="10515600" y="5605272"/>
            <a:ext cx="329184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30" b="1">
                <a:solidFill>
                  <a:srgbClr val="111827"/>
                </a:solidFill>
                <a:latin typeface="Arial"/>
              </a:rPr>
              <a:t>RSD regression</a:t>
            </a:r>
          </a:p>
        </p:txBody>
      </p:sp>
      <p:sp>
        <p:nvSpPr>
          <p:cNvPr id="304" name="Head loss"/>
          <p:cNvSpPr txBox="1"/>
          <p:nvPr/>
        </p:nvSpPr>
        <p:spPr>
          <a:xfrm>
            <a:off x="10515600" y="5870448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4B5563"/>
                </a:solidFill>
                <a:latin typeface="Arial"/>
              </a:rPr>
              <a:t>MSE</a:t>
            </a:r>
          </a:p>
        </p:txBody>
      </p:sp>
      <p:sp>
        <p:nvSpPr>
          <p:cNvPr id="305" name="Head card"/>
          <p:cNvSpPr/>
          <p:nvPr/>
        </p:nvSpPr>
        <p:spPr>
          <a:xfrm>
            <a:off x="10917936" y="5522976"/>
            <a:ext cx="402336" cy="566928"/>
          </a:xfrm>
          <a:prstGeom prst="roundRect">
            <a:avLst/>
          </a:prstGeom>
          <a:solidFill>
            <a:srgbClr val="F0FDF4"/>
          </a:solidFill>
          <a:ln w="635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306" name="Head name"/>
          <p:cNvSpPr txBox="1"/>
          <p:nvPr/>
        </p:nvSpPr>
        <p:spPr>
          <a:xfrm>
            <a:off x="10954512" y="5605272"/>
            <a:ext cx="329184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30" b="1">
                <a:solidFill>
                  <a:srgbClr val="111827"/>
                </a:solidFill>
                <a:latin typeface="Arial"/>
              </a:rPr>
              <a:t>Phase cls.</a:t>
            </a:r>
          </a:p>
        </p:txBody>
      </p:sp>
      <p:sp>
        <p:nvSpPr>
          <p:cNvPr id="307" name="Head loss"/>
          <p:cNvSpPr txBox="1"/>
          <p:nvPr/>
        </p:nvSpPr>
        <p:spPr>
          <a:xfrm>
            <a:off x="10954512" y="5870448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4B5563"/>
                </a:solidFill>
                <a:latin typeface="Arial"/>
              </a:rPr>
              <a:t>CE</a:t>
            </a:r>
          </a:p>
        </p:txBody>
      </p:sp>
      <p:sp>
        <p:nvSpPr>
          <p:cNvPr id="308" name="Head card"/>
          <p:cNvSpPr/>
          <p:nvPr/>
        </p:nvSpPr>
        <p:spPr>
          <a:xfrm>
            <a:off x="11356848" y="5522976"/>
            <a:ext cx="402336" cy="566928"/>
          </a:xfrm>
          <a:prstGeom prst="roundRect">
            <a:avLst/>
          </a:prstGeom>
          <a:solidFill>
            <a:srgbClr val="FFF7ED"/>
          </a:solidFill>
          <a:ln w="635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309" name="Head name"/>
          <p:cNvSpPr txBox="1"/>
          <p:nvPr/>
        </p:nvSpPr>
        <p:spPr>
          <a:xfrm>
            <a:off x="11393424" y="5605272"/>
            <a:ext cx="329184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30" b="1">
                <a:solidFill>
                  <a:srgbClr val="111827"/>
                </a:solidFill>
                <a:latin typeface="Arial"/>
              </a:rPr>
              <a:t>Deviation</a:t>
            </a:r>
          </a:p>
        </p:txBody>
      </p:sp>
      <p:sp>
        <p:nvSpPr>
          <p:cNvPr id="310" name="Head loss"/>
          <p:cNvSpPr txBox="1"/>
          <p:nvPr/>
        </p:nvSpPr>
        <p:spPr>
          <a:xfrm>
            <a:off x="11393424" y="5870448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4B5563"/>
                </a:solidFill>
                <a:latin typeface="Arial"/>
              </a:rPr>
              <a:t>BCE</a:t>
            </a:r>
          </a:p>
        </p:txBody>
      </p:sp>
      <p:sp>
        <p:nvSpPr>
          <p:cNvPr id="311" name="Decoupled note"/>
          <p:cNvSpPr txBox="1"/>
          <p:nvPr/>
        </p:nvSpPr>
        <p:spPr>
          <a:xfrm>
            <a:off x="10497312" y="6419088"/>
            <a:ext cx="133502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" b="0">
                <a:solidFill>
                  <a:srgbClr val="4B5563"/>
                </a:solidFill>
                <a:latin typeface="Arial"/>
              </a:rPr>
              <a:t>decoupled runs: phase head reads pre-token visual features</a:t>
            </a:r>
          </a:p>
        </p:txBody>
      </p:sp>
      <p:cxnSp>
        <p:nvCxnSpPr>
          <p:cNvPr id="312" name="Footer rule"/>
          <p:cNvCxnSpPr/>
          <p:nvPr/>
        </p:nvCxnSpPr>
        <p:spPr>
          <a:xfrm>
            <a:off x="420624" y="7114032"/>
            <a:ext cx="11576304" cy="0"/>
          </a:xfrm>
          <a:prstGeom prst="line">
            <a:avLst/>
          </a:prstGeom>
          <a:ln w="7620">
            <a:solidFill>
              <a:srgbClr val="E5E7EB"/>
            </a:solidFill>
          </a:ln>
        </p:spPr>
      </p:cxnSp>
      <p:sp>
        <p:nvSpPr>
          <p:cNvPr id="313" name="Footer"/>
          <p:cNvSpPr txBox="1"/>
          <p:nvPr/>
        </p:nvSpPr>
        <p:spPr>
          <a:xfrm>
            <a:off x="822960" y="7232904"/>
            <a:ext cx="1088136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0">
                <a:solidFill>
                  <a:srgbClr val="4B5563"/>
                </a:solidFill>
                <a:latin typeface="Arial"/>
              </a:rPr>
              <a:t>Notation: [a ; b] means vertical stack / token-axis concatenation. Elementwise '+' is used only for positional embeddings.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