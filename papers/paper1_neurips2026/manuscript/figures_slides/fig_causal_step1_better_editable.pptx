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ausal_step1_frame1.jpeg"/><Relationship Id="rId3" Type="http://schemas.openxmlformats.org/officeDocument/2006/relationships/image" Target="../media/causal_step1_frame2.jpeg"/><Relationship Id="rId4" Type="http://schemas.openxmlformats.org/officeDocument/2006/relationships/image" Target="../media/causal_step1_frame3.jpeg"/><Relationship Id="rId5" Type="http://schemas.openxmlformats.org/officeDocument/2006/relationships/image" Target="../media/causal_step1_frame4.jpeg"/><Relationship Id="rId6" Type="http://schemas.openxmlformats.org/officeDocument/2006/relationships/image" Target="../media/causal_step1_frame5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38912" y="228600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Causal inference step 1: get phase predictions without using workflow identity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38912" y="566928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  <a:latin typeface="Arial"/>
              </a:rPr>
              <a:t>First pass uses a dummy workflow slot. The phase head reads visual-prefix features before workflow-token mixing.</a:t>
            </a:r>
          </a:p>
        </p:txBody>
      </p:sp>
      <p:sp>
        <p:nvSpPr>
          <p:cNvPr id="5" name="Prefix label"/>
          <p:cNvSpPr txBox="1"/>
          <p:nvPr/>
        </p:nvSpPr>
        <p:spPr>
          <a:xfrm>
            <a:off x="438912" y="877824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Observed prefix frames</a:t>
            </a:r>
          </a:p>
        </p:txBody>
      </p:sp>
      <p:pic>
        <p:nvPicPr>
          <p:cNvPr id="6" name="BBP12 frame 1"/>
          <p:cNvPicPr>
            <a:picLocks noChangeAspect="1"/>
          </p:cNvPicPr>
          <p:nvPr/>
        </p:nvPicPr>
        <p:blipFill>
          <a:blip r:embed="rId2"/>
          <a:srcRect t="14300" b="14300"/>
          <a:stretch>
            <a:fillRect/>
          </a:stretch>
        </p:blipFill>
        <p:spPr>
          <a:xfrm>
            <a:off x="438912" y="1133856"/>
            <a:ext cx="1755648" cy="1005840"/>
          </a:xfrm>
          <a:prstGeom prst="rect">
            <a:avLst/>
          </a:prstGeom>
        </p:spPr>
      </p:pic>
      <p:sp>
        <p:nvSpPr>
          <p:cNvPr id="7" name="Frame outline"/>
          <p:cNvSpPr/>
          <p:nvPr/>
        </p:nvSpPr>
        <p:spPr>
          <a:xfrm>
            <a:off x="438912" y="1133856"/>
            <a:ext cx="1755648" cy="1005840"/>
          </a:xfrm>
          <a:prstGeom prst="rect">
            <a:avLst/>
          </a:prstGeom>
          <a:noFill/>
          <a:ln w="889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8" name="BBP12 frame 2"/>
          <p:cNvPicPr>
            <a:picLocks noChangeAspect="1"/>
          </p:cNvPicPr>
          <p:nvPr/>
        </p:nvPicPr>
        <p:blipFill>
          <a:blip r:embed="rId3"/>
          <a:srcRect t="14300" b="14300"/>
          <a:stretch>
            <a:fillRect/>
          </a:stretch>
        </p:blipFill>
        <p:spPr>
          <a:xfrm>
            <a:off x="2359152" y="1133856"/>
            <a:ext cx="1755648" cy="1005840"/>
          </a:xfrm>
          <a:prstGeom prst="rect">
            <a:avLst/>
          </a:prstGeom>
        </p:spPr>
      </p:pic>
      <p:sp>
        <p:nvSpPr>
          <p:cNvPr id="9" name="Frame outline"/>
          <p:cNvSpPr/>
          <p:nvPr/>
        </p:nvSpPr>
        <p:spPr>
          <a:xfrm>
            <a:off x="2359152" y="1133856"/>
            <a:ext cx="1755648" cy="1005840"/>
          </a:xfrm>
          <a:prstGeom prst="rect">
            <a:avLst/>
          </a:prstGeom>
          <a:noFill/>
          <a:ln w="889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10" name="BBP12 frame 3"/>
          <p:cNvPicPr>
            <a:picLocks noChangeAspect="1"/>
          </p:cNvPicPr>
          <p:nvPr/>
        </p:nvPicPr>
        <p:blipFill>
          <a:blip r:embed="rId4"/>
          <a:srcRect t="14300" b="14300"/>
          <a:stretch>
            <a:fillRect/>
          </a:stretch>
        </p:blipFill>
        <p:spPr>
          <a:xfrm>
            <a:off x="4279392" y="1133856"/>
            <a:ext cx="1755648" cy="1005840"/>
          </a:xfrm>
          <a:prstGeom prst="rect">
            <a:avLst/>
          </a:prstGeom>
        </p:spPr>
      </p:pic>
      <p:sp>
        <p:nvSpPr>
          <p:cNvPr id="11" name="Frame outline"/>
          <p:cNvSpPr/>
          <p:nvPr/>
        </p:nvSpPr>
        <p:spPr>
          <a:xfrm>
            <a:off x="4279392" y="1133856"/>
            <a:ext cx="1755648" cy="1005840"/>
          </a:xfrm>
          <a:prstGeom prst="rect">
            <a:avLst/>
          </a:prstGeom>
          <a:noFill/>
          <a:ln w="889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12" name="BBP12 frame 4"/>
          <p:cNvPicPr>
            <a:picLocks noChangeAspect="1"/>
          </p:cNvPicPr>
          <p:nvPr/>
        </p:nvPicPr>
        <p:blipFill>
          <a:blip r:embed="rId5"/>
          <a:srcRect t="14300" b="14300"/>
          <a:stretch>
            <a:fillRect/>
          </a:stretch>
        </p:blipFill>
        <p:spPr>
          <a:xfrm>
            <a:off x="6199632" y="1133856"/>
            <a:ext cx="1755648" cy="1005840"/>
          </a:xfrm>
          <a:prstGeom prst="rect">
            <a:avLst/>
          </a:prstGeom>
        </p:spPr>
      </p:pic>
      <p:sp>
        <p:nvSpPr>
          <p:cNvPr id="13" name="Frame outline"/>
          <p:cNvSpPr/>
          <p:nvPr/>
        </p:nvSpPr>
        <p:spPr>
          <a:xfrm>
            <a:off x="6199632" y="1133856"/>
            <a:ext cx="1755648" cy="1005840"/>
          </a:xfrm>
          <a:prstGeom prst="rect">
            <a:avLst/>
          </a:prstGeom>
          <a:noFill/>
          <a:ln w="889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14" name="BBP12 frame 5"/>
          <p:cNvPicPr>
            <a:picLocks noChangeAspect="1"/>
          </p:cNvPicPr>
          <p:nvPr/>
        </p:nvPicPr>
        <p:blipFill>
          <a:blip r:embed="rId6"/>
          <a:srcRect t="14300" b="14300"/>
          <a:stretch>
            <a:fillRect/>
          </a:stretch>
        </p:blipFill>
        <p:spPr>
          <a:xfrm>
            <a:off x="8119872" y="1133856"/>
            <a:ext cx="1755648" cy="1005840"/>
          </a:xfrm>
          <a:prstGeom prst="rect">
            <a:avLst/>
          </a:prstGeom>
        </p:spPr>
      </p:pic>
      <p:sp>
        <p:nvSpPr>
          <p:cNvPr id="15" name="Frame outline"/>
          <p:cNvSpPr/>
          <p:nvPr/>
        </p:nvSpPr>
        <p:spPr>
          <a:xfrm>
            <a:off x="8119872" y="1133856"/>
            <a:ext cx="1755648" cy="1005840"/>
          </a:xfrm>
          <a:prstGeom prst="rect">
            <a:avLst/>
          </a:prstGeom>
          <a:noFill/>
          <a:ln w="889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6" name="Current timestamp border"/>
          <p:cNvSpPr/>
          <p:nvPr/>
        </p:nvSpPr>
        <p:spPr>
          <a:xfrm>
            <a:off x="8119872" y="1133856"/>
            <a:ext cx="1755648" cy="1005840"/>
          </a:xfrm>
          <a:prstGeom prst="rect">
            <a:avLst/>
          </a:prstGeom>
          <a:noFill/>
          <a:ln w="30480">
            <a:solidFill>
              <a:srgbClr val="F59E0B"/>
            </a:solidFill>
          </a:ln>
        </p:spPr>
        <p:txBody>
          <a:bodyPr rtlCol="0" anchor="ctr"/>
          <a:lstStyle/>
          <a:p/>
        </p:txBody>
      </p:sp>
      <p:sp>
        <p:nvSpPr>
          <p:cNvPr id="17" name="xt badge"/>
          <p:cNvSpPr/>
          <p:nvPr/>
        </p:nvSpPr>
        <p:spPr>
          <a:xfrm>
            <a:off x="8119872" y="1133856"/>
            <a:ext cx="420624" cy="2194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xt text"/>
          <p:cNvSpPr txBox="1"/>
          <p:nvPr/>
        </p:nvSpPr>
        <p:spPr>
          <a:xfrm>
            <a:off x="8174736" y="1161288"/>
            <a:ext cx="32004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x_t</a:t>
            </a:r>
          </a:p>
        </p:txBody>
      </p:sp>
      <p:sp>
        <p:nvSpPr>
          <p:cNvPr id="19" name="Prefix note"/>
          <p:cNvSpPr txBox="1"/>
          <p:nvPr/>
        </p:nvSpPr>
        <p:spPr>
          <a:xfrm>
            <a:off x="438912" y="2194560"/>
            <a:ext cx="5577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20" b="0">
                <a:solidFill>
                  <a:srgbClr val="4B5563"/>
                </a:solidFill>
                <a:latin typeface="Arial"/>
              </a:rPr>
              <a:t>Concrete MB140 / BBP12 prefix ending at the current timestamp.</a:t>
            </a:r>
          </a:p>
        </p:txBody>
      </p:sp>
      <p:sp>
        <p:nvSpPr>
          <p:cNvPr id="20" name="Phase lane"/>
          <p:cNvSpPr/>
          <p:nvPr/>
        </p:nvSpPr>
        <p:spPr>
          <a:xfrm>
            <a:off x="438912" y="2542032"/>
            <a:ext cx="11018520" cy="1335024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txBody>
          <a:bodyPr rtlCol="0" anchor="ctr"/>
          <a:lstStyle/>
          <a:p/>
        </p:txBody>
      </p:sp>
      <p:sp>
        <p:nvSpPr>
          <p:cNvPr id="21" name="Phase lane title"/>
          <p:cNvSpPr txBox="1"/>
          <p:nvPr/>
        </p:nvSpPr>
        <p:spPr>
          <a:xfrm>
            <a:off x="640080" y="2697480"/>
            <a:ext cx="36576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80" b="1">
                <a:solidFill>
                  <a:srgbClr val="111827"/>
                </a:solidFill>
                <a:latin typeface="Arial"/>
              </a:rPr>
              <a:t>A. Phase branch: visual features only</a:t>
            </a:r>
          </a:p>
        </p:txBody>
      </p:sp>
      <p:sp>
        <p:nvSpPr>
          <p:cNvPr id="22" name="Temporal lane"/>
          <p:cNvSpPr/>
          <p:nvPr/>
        </p:nvSpPr>
        <p:spPr>
          <a:xfrm>
            <a:off x="438912" y="4133088"/>
            <a:ext cx="11018520" cy="1755648"/>
          </a:xfrm>
          <a:prstGeom prst="roundRect">
            <a:avLst/>
          </a:prstGeom>
          <a:solidFill>
            <a:srgbClr val="FAF5FF"/>
          </a:solidFill>
          <a:ln w="10160">
            <a:solidFill>
              <a:srgbClr val="DDD6FE"/>
            </a:solidFill>
          </a:ln>
        </p:spPr>
        <p:txBody>
          <a:bodyPr rtlCol="0" anchor="ctr"/>
          <a:lstStyle/>
          <a:p/>
        </p:txBody>
      </p:sp>
      <p:sp>
        <p:nvSpPr>
          <p:cNvPr id="23" name="Temporal lane title"/>
          <p:cNvSpPr txBox="1"/>
          <p:nvPr/>
        </p:nvSpPr>
        <p:spPr>
          <a:xfrm>
            <a:off x="640080" y="4288536"/>
            <a:ext cx="59436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80" b="1">
                <a:solidFill>
                  <a:srgbClr val="111827"/>
                </a:solidFill>
                <a:latin typeface="Arial"/>
              </a:rPr>
              <a:t>B. Temporal branch: dummy workflow token fills the slot for this first pass</a:t>
            </a:r>
          </a:p>
        </p:txBody>
      </p:sp>
      <p:sp>
        <p:nvSpPr>
          <p:cNvPr id="24" name="Block"/>
          <p:cNvSpPr/>
          <p:nvPr/>
        </p:nvSpPr>
        <p:spPr>
          <a:xfrm>
            <a:off x="658368" y="2999232"/>
            <a:ext cx="1143000" cy="566928"/>
          </a:xfrm>
          <a:prstGeom prst="roundRect">
            <a:avLst/>
          </a:prstGeom>
          <a:solidFill>
            <a:srgbClr val="DBEAFE"/>
          </a:solidFill>
          <a:ln w="17145">
            <a:solidFill>
              <a:srgbClr val="2563E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11827"/>
                </a:solidFill>
                <a:latin typeface="Arial"/>
              </a:rPr>
              <a:t>prefix</a:t>
            </a:r>
          </a:p>
          <a:p>
            <a:pPr algn="ctr"/>
            <a:r>
              <a:rPr sz="1120" b="1">
                <a:solidFill>
                  <a:srgbClr val="111827"/>
                </a:solidFill>
                <a:latin typeface="Arial"/>
              </a:rPr>
              <a:t>frames</a:t>
            </a:r>
          </a:p>
        </p:txBody>
      </p:sp>
      <p:cxnSp>
        <p:nvCxnSpPr>
          <p:cNvPr id="25" name="Arrow"/>
          <p:cNvCxnSpPr/>
          <p:nvPr/>
        </p:nvCxnSpPr>
        <p:spPr>
          <a:xfrm>
            <a:off x="1810512" y="3282696"/>
            <a:ext cx="365760" cy="0"/>
          </a:xfrm>
          <a:prstGeom prst="line">
            <a:avLst/>
          </a:prstGeom>
          <a:ln w="26670">
            <a:solidFill>
              <a:srgbClr val="1F2937"/>
            </a:solidFill>
            <a:tailEnd type="triangle" w="med" h="med"/>
          </a:ln>
        </p:spPr>
      </p:cxnSp>
      <p:sp>
        <p:nvSpPr>
          <p:cNvPr id="26" name="Block"/>
          <p:cNvSpPr/>
          <p:nvPr/>
        </p:nvSpPr>
        <p:spPr>
          <a:xfrm>
            <a:off x="2249424" y="2999232"/>
            <a:ext cx="1481328" cy="566928"/>
          </a:xfrm>
          <a:prstGeom prst="roundRect">
            <a:avLst/>
          </a:prstGeom>
          <a:solidFill>
            <a:srgbClr val="DBEAFE"/>
          </a:solidFill>
          <a:ln w="17145">
            <a:solidFill>
              <a:srgbClr val="2563E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111827"/>
                </a:solidFill>
                <a:latin typeface="Arial"/>
              </a:rPr>
              <a:t>visual encoder</a:t>
            </a:r>
          </a:p>
          <a:p>
            <a:pPr algn="ctr"/>
            <a:r>
              <a:rPr sz="1060" b="1">
                <a:solidFill>
                  <a:srgbClr val="111827"/>
                </a:solidFill>
                <a:latin typeface="Arial"/>
              </a:rPr>
              <a:t>ViT-B/16</a:t>
            </a:r>
          </a:p>
        </p:txBody>
      </p:sp>
      <p:cxnSp>
        <p:nvCxnSpPr>
          <p:cNvPr id="27" name="Arrow"/>
          <p:cNvCxnSpPr/>
          <p:nvPr/>
        </p:nvCxnSpPr>
        <p:spPr>
          <a:xfrm>
            <a:off x="3749040" y="3282696"/>
            <a:ext cx="411480" cy="0"/>
          </a:xfrm>
          <a:prstGeom prst="line">
            <a:avLst/>
          </a:prstGeom>
          <a:ln w="26670">
            <a:solidFill>
              <a:srgbClr val="1F2937"/>
            </a:solidFill>
            <a:tailEnd type="triangle" w="med" h="med"/>
          </a:ln>
        </p:spPr>
      </p:cxnSp>
      <p:sp>
        <p:nvSpPr>
          <p:cNvPr id="28" name="Block"/>
          <p:cNvSpPr/>
          <p:nvPr/>
        </p:nvSpPr>
        <p:spPr>
          <a:xfrm>
            <a:off x="4242816" y="2999232"/>
            <a:ext cx="1243584" cy="566928"/>
          </a:xfrm>
          <a:prstGeom prst="roundRect">
            <a:avLst/>
          </a:prstGeom>
          <a:solidFill>
            <a:srgbClr val="F9FAFB"/>
          </a:solidFill>
          <a:ln w="17145">
            <a:solidFill>
              <a:srgbClr val="1F2937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11827"/>
                </a:solidFill>
                <a:latin typeface="Arial"/>
              </a:rPr>
              <a:t>frame</a:t>
            </a:r>
          </a:p>
          <a:p>
            <a:pPr algn="ctr"/>
            <a:r>
              <a:rPr sz="1120" b="1">
                <a:solidFill>
                  <a:srgbClr val="111827"/>
                </a:solidFill>
                <a:latin typeface="Arial"/>
              </a:rPr>
              <a:t>features</a:t>
            </a:r>
          </a:p>
        </p:txBody>
      </p:sp>
      <p:cxnSp>
        <p:nvCxnSpPr>
          <p:cNvPr id="29" name="Arrow"/>
          <p:cNvCxnSpPr/>
          <p:nvPr/>
        </p:nvCxnSpPr>
        <p:spPr>
          <a:xfrm>
            <a:off x="5513832" y="3282696"/>
            <a:ext cx="402336" cy="0"/>
          </a:xfrm>
          <a:prstGeom prst="line">
            <a:avLst/>
          </a:prstGeom>
          <a:ln w="26670">
            <a:solidFill>
              <a:srgbClr val="059669"/>
            </a:solidFill>
            <a:tailEnd type="triangle" w="med" h="med"/>
          </a:ln>
        </p:spPr>
      </p:cxnSp>
      <p:sp>
        <p:nvSpPr>
          <p:cNvPr id="30" name="Block"/>
          <p:cNvSpPr/>
          <p:nvPr/>
        </p:nvSpPr>
        <p:spPr>
          <a:xfrm>
            <a:off x="5998464" y="2999232"/>
            <a:ext cx="1188720" cy="566928"/>
          </a:xfrm>
          <a:prstGeom prst="roundRect">
            <a:avLst/>
          </a:prstGeom>
          <a:solidFill>
            <a:srgbClr val="D1FAE5"/>
          </a:solidFill>
          <a:ln w="17145">
            <a:solidFill>
              <a:srgbClr val="059669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11827"/>
                </a:solidFill>
                <a:latin typeface="Arial"/>
              </a:rPr>
              <a:t>phase</a:t>
            </a:r>
          </a:p>
          <a:p>
            <a:pPr algn="ctr"/>
            <a:r>
              <a:rPr sz="1120" b="1">
                <a:solidFill>
                  <a:srgbClr val="111827"/>
                </a:solidFill>
                <a:latin typeface="Arial"/>
              </a:rPr>
              <a:t>head</a:t>
            </a:r>
          </a:p>
        </p:txBody>
      </p:sp>
      <p:cxnSp>
        <p:nvCxnSpPr>
          <p:cNvPr id="31" name="Arrow"/>
          <p:cNvCxnSpPr/>
          <p:nvPr/>
        </p:nvCxnSpPr>
        <p:spPr>
          <a:xfrm>
            <a:off x="7214616" y="3282696"/>
            <a:ext cx="393192" cy="0"/>
          </a:xfrm>
          <a:prstGeom prst="line">
            <a:avLst/>
          </a:prstGeom>
          <a:ln w="26670">
            <a:solidFill>
              <a:srgbClr val="059669"/>
            </a:solidFill>
            <a:tailEnd type="triangle" w="med" h="med"/>
          </a:ln>
        </p:spPr>
      </p:cxnSp>
      <p:sp>
        <p:nvSpPr>
          <p:cNvPr id="32" name="Block"/>
          <p:cNvSpPr/>
          <p:nvPr/>
        </p:nvSpPr>
        <p:spPr>
          <a:xfrm>
            <a:off x="7690104" y="2999232"/>
            <a:ext cx="1417320" cy="566928"/>
          </a:xfrm>
          <a:prstGeom prst="roundRect">
            <a:avLst/>
          </a:prstGeom>
          <a:solidFill>
            <a:srgbClr val="D1FAE5"/>
          </a:solidFill>
          <a:ln w="17145">
            <a:solidFill>
              <a:srgbClr val="059669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20" b="1">
                <a:solidFill>
                  <a:srgbClr val="111827"/>
                </a:solidFill>
                <a:latin typeface="Arial"/>
              </a:rPr>
              <a:t>phase</a:t>
            </a:r>
          </a:p>
          <a:p>
            <a:pPr algn="ctr"/>
            <a:r>
              <a:rPr sz="1020" b="1">
                <a:solidFill>
                  <a:srgbClr val="111827"/>
                </a:solidFill>
                <a:latin typeface="Arial"/>
              </a:rPr>
              <a:t>probabilities</a:t>
            </a:r>
          </a:p>
        </p:txBody>
      </p:sp>
      <p:cxnSp>
        <p:nvCxnSpPr>
          <p:cNvPr id="33" name="Bar baseline"/>
          <p:cNvCxnSpPr/>
          <p:nvPr/>
        </p:nvCxnSpPr>
        <p:spPr>
          <a:xfrm>
            <a:off x="9345168" y="3547872"/>
            <a:ext cx="850392" cy="0"/>
          </a:xfrm>
          <a:prstGeom prst="line">
            <a:avLst/>
          </a:prstGeom>
          <a:ln w="12700">
            <a:solidFill>
              <a:srgbClr val="4B5563"/>
            </a:solidFill>
          </a:ln>
        </p:spPr>
      </p:cxnSp>
      <p:sp>
        <p:nvSpPr>
          <p:cNvPr id="34" name="Probability bar"/>
          <p:cNvSpPr/>
          <p:nvPr/>
        </p:nvSpPr>
        <p:spPr>
          <a:xfrm>
            <a:off x="9400032" y="3419856"/>
            <a:ext cx="128016" cy="128016"/>
          </a:xfrm>
          <a:prstGeom prst="rect">
            <a:avLst/>
          </a:prstGeom>
          <a:solidFill>
            <a:srgbClr val="D1FAE5"/>
          </a:solidFill>
          <a:ln w="8890">
            <a:solidFill>
              <a:srgbClr val="059669"/>
            </a:solidFill>
          </a:ln>
        </p:spPr>
        <p:txBody>
          <a:bodyPr rtlCol="0" anchor="ctr"/>
          <a:lstStyle/>
          <a:p/>
        </p:txBody>
      </p:sp>
      <p:sp>
        <p:nvSpPr>
          <p:cNvPr id="35" name="Probability bar"/>
          <p:cNvSpPr/>
          <p:nvPr/>
        </p:nvSpPr>
        <p:spPr>
          <a:xfrm>
            <a:off x="9619488" y="3291840"/>
            <a:ext cx="128016" cy="256032"/>
          </a:xfrm>
          <a:prstGeom prst="rect">
            <a:avLst/>
          </a:prstGeom>
          <a:solidFill>
            <a:srgbClr val="D1FAE5"/>
          </a:solidFill>
          <a:ln w="8890">
            <a:solidFill>
              <a:srgbClr val="059669"/>
            </a:solidFill>
          </a:ln>
        </p:spPr>
        <p:txBody>
          <a:bodyPr rtlCol="0" anchor="ctr"/>
          <a:lstStyle/>
          <a:p/>
        </p:txBody>
      </p:sp>
      <p:sp>
        <p:nvSpPr>
          <p:cNvPr id="36" name="Probability bar"/>
          <p:cNvSpPr/>
          <p:nvPr/>
        </p:nvSpPr>
        <p:spPr>
          <a:xfrm>
            <a:off x="9838944" y="3127248"/>
            <a:ext cx="128016" cy="420624"/>
          </a:xfrm>
          <a:prstGeom prst="rect">
            <a:avLst/>
          </a:prstGeom>
          <a:solidFill>
            <a:srgbClr val="D1FAE5"/>
          </a:solidFill>
          <a:ln w="8890">
            <a:solidFill>
              <a:srgbClr val="059669"/>
            </a:solidFill>
          </a:ln>
        </p:spPr>
        <p:txBody>
          <a:bodyPr rtlCol="0" anchor="ctr"/>
          <a:lstStyle/>
          <a:p/>
        </p:txBody>
      </p:sp>
      <p:sp>
        <p:nvSpPr>
          <p:cNvPr id="37" name="Probability bar"/>
          <p:cNvSpPr/>
          <p:nvPr/>
        </p:nvSpPr>
        <p:spPr>
          <a:xfrm>
            <a:off x="10058400" y="2907792"/>
            <a:ext cx="128016" cy="640080"/>
          </a:xfrm>
          <a:prstGeom prst="rect">
            <a:avLst/>
          </a:prstGeom>
          <a:solidFill>
            <a:srgbClr val="059669"/>
          </a:solidFill>
          <a:ln w="8890">
            <a:solidFill>
              <a:srgbClr val="059669"/>
            </a:solidFill>
          </a:ln>
        </p:spPr>
        <p:txBody>
          <a:bodyPr rtlCol="0" anchor="ctr"/>
          <a:lstStyle/>
          <a:p/>
        </p:txBody>
      </p:sp>
      <p:sp>
        <p:nvSpPr>
          <p:cNvPr id="38" name="Argmax note"/>
          <p:cNvSpPr txBox="1"/>
          <p:nvPr/>
        </p:nvSpPr>
        <p:spPr>
          <a:xfrm>
            <a:off x="9217152" y="3602736"/>
            <a:ext cx="12344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0">
                <a:solidFill>
                  <a:srgbClr val="4B5563"/>
                </a:solidFill>
                <a:latin typeface="Arial"/>
              </a:rPr>
              <a:t>argmax gives phase label</a:t>
            </a:r>
          </a:p>
        </p:txBody>
      </p:sp>
      <p:sp>
        <p:nvSpPr>
          <p:cNvPr id="39" name="Block"/>
          <p:cNvSpPr/>
          <p:nvPr/>
        </p:nvSpPr>
        <p:spPr>
          <a:xfrm>
            <a:off x="658368" y="4718304"/>
            <a:ext cx="1737360" cy="585216"/>
          </a:xfrm>
          <a:prstGeom prst="roundRect">
            <a:avLst/>
          </a:prstGeom>
          <a:solidFill>
            <a:srgbClr val="FEF3C7"/>
          </a:solidFill>
          <a:ln w="17145">
            <a:solidFill>
              <a:srgbClr val="F59E0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11827"/>
                </a:solidFill>
                <a:latin typeface="Arial"/>
              </a:rPr>
              <a:t>placeholder cluster id</a:t>
            </a:r>
          </a:p>
          <a:p>
            <a:pPr algn="ctr"/>
            <a:r>
              <a:rPr sz="950" b="1">
                <a:solidFill>
                  <a:srgbClr val="111827"/>
                </a:solidFill>
                <a:latin typeface="Arial"/>
              </a:rPr>
              <a:t>z_dummy, e.g. 0</a:t>
            </a:r>
          </a:p>
        </p:txBody>
      </p:sp>
      <p:cxnSp>
        <p:nvCxnSpPr>
          <p:cNvPr id="40" name="Arrow"/>
          <p:cNvCxnSpPr/>
          <p:nvPr/>
        </p:nvCxnSpPr>
        <p:spPr>
          <a:xfrm>
            <a:off x="2423160" y="5010912"/>
            <a:ext cx="402336" cy="0"/>
          </a:xfrm>
          <a:prstGeom prst="line">
            <a:avLst/>
          </a:prstGeom>
          <a:ln w="26670">
            <a:solidFill>
              <a:srgbClr val="F59E0B"/>
            </a:solidFill>
            <a:tailEnd type="triangle" w="med" h="med"/>
          </a:ln>
        </p:spPr>
      </p:cxnSp>
      <p:sp>
        <p:nvSpPr>
          <p:cNvPr id="41" name="Block"/>
          <p:cNvSpPr/>
          <p:nvPr/>
        </p:nvSpPr>
        <p:spPr>
          <a:xfrm>
            <a:off x="2907792" y="4718304"/>
            <a:ext cx="1417320" cy="585216"/>
          </a:xfrm>
          <a:prstGeom prst="roundRect">
            <a:avLst/>
          </a:prstGeom>
          <a:solidFill>
            <a:srgbClr val="FEF3C7"/>
          </a:solidFill>
          <a:ln w="17145">
            <a:solidFill>
              <a:srgbClr val="F59E0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111827"/>
                </a:solidFill>
                <a:latin typeface="Arial"/>
              </a:rPr>
              <a:t>workflow token</a:t>
            </a:r>
          </a:p>
          <a:p>
            <a:pPr algn="ctr"/>
            <a:r>
              <a:rPr sz="980" b="1">
                <a:solidFill>
                  <a:srgbClr val="111827"/>
                </a:solidFill>
                <a:latin typeface="Arial"/>
              </a:rPr>
              <a:t>E[z_dummy]</a:t>
            </a:r>
          </a:p>
        </p:txBody>
      </p:sp>
      <p:cxnSp>
        <p:nvCxnSpPr>
          <p:cNvPr id="42" name="Arrow"/>
          <p:cNvCxnSpPr/>
          <p:nvPr/>
        </p:nvCxnSpPr>
        <p:spPr>
          <a:xfrm>
            <a:off x="4352544" y="5010912"/>
            <a:ext cx="1042416" cy="0"/>
          </a:xfrm>
          <a:prstGeom prst="line">
            <a:avLst/>
          </a:prstGeom>
          <a:ln w="26670">
            <a:solidFill>
              <a:srgbClr val="F59E0B"/>
            </a:solidFill>
            <a:tailEnd type="triangle" w="med" h="med"/>
          </a:ln>
        </p:spPr>
      </p:cxnSp>
      <p:sp>
        <p:nvSpPr>
          <p:cNvPr id="43" name="Block"/>
          <p:cNvSpPr/>
          <p:nvPr/>
        </p:nvSpPr>
        <p:spPr>
          <a:xfrm>
            <a:off x="5477256" y="4718304"/>
            <a:ext cx="1371600" cy="585216"/>
          </a:xfrm>
          <a:prstGeom prst="roundRect">
            <a:avLst/>
          </a:prstGeom>
          <a:solidFill>
            <a:srgbClr val="EDE9FE"/>
          </a:solidFill>
          <a:ln w="17145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11827"/>
                </a:solidFill>
                <a:latin typeface="Arial"/>
              </a:rPr>
              <a:t>HTA blocks</a:t>
            </a:r>
          </a:p>
          <a:p>
            <a:pPr algn="ctr"/>
            <a:r>
              <a:rPr sz="950" b="1">
                <a:solidFill>
                  <a:srgbClr val="111827"/>
                </a:solidFill>
                <a:latin typeface="Arial"/>
              </a:rPr>
              <a:t>[E[z_dummy], f_1:t]</a:t>
            </a:r>
          </a:p>
        </p:txBody>
      </p:sp>
      <p:cxnSp>
        <p:nvCxnSpPr>
          <p:cNvPr id="44" name="Arrow"/>
          <p:cNvCxnSpPr/>
          <p:nvPr/>
        </p:nvCxnSpPr>
        <p:spPr>
          <a:xfrm>
            <a:off x="6876288" y="5010912"/>
            <a:ext cx="402336" cy="0"/>
          </a:xfrm>
          <a:prstGeom prst="line">
            <a:avLst/>
          </a:prstGeom>
          <a:ln w="26670">
            <a:solidFill>
              <a:srgbClr val="1F2937"/>
            </a:solidFill>
            <a:tailEnd type="triangle" w="med" h="med"/>
          </a:ln>
        </p:spPr>
      </p:cxnSp>
      <p:sp>
        <p:nvSpPr>
          <p:cNvPr id="45" name="Block"/>
          <p:cNvSpPr/>
          <p:nvPr/>
        </p:nvSpPr>
        <p:spPr>
          <a:xfrm>
            <a:off x="7360920" y="4718304"/>
            <a:ext cx="1353312" cy="585216"/>
          </a:xfrm>
          <a:prstGeom prst="roundRect">
            <a:avLst/>
          </a:prstGeom>
          <a:solidFill>
            <a:srgbClr val="F9FAFB"/>
          </a:solidFill>
          <a:ln w="17145">
            <a:solidFill>
              <a:srgbClr val="1F2937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80" b="1">
                <a:solidFill>
                  <a:srgbClr val="111827"/>
                </a:solidFill>
                <a:latin typeface="Arial"/>
              </a:rPr>
              <a:t>temporal</a:t>
            </a:r>
          </a:p>
          <a:p>
            <a:pPr algn="ctr"/>
            <a:r>
              <a:rPr sz="1080" b="1">
                <a:solidFill>
                  <a:srgbClr val="111827"/>
                </a:solidFill>
                <a:latin typeface="Arial"/>
              </a:rPr>
              <a:t>features</a:t>
            </a:r>
          </a:p>
        </p:txBody>
      </p:sp>
      <p:sp>
        <p:nvSpPr>
          <p:cNvPr id="46" name="Temporal note"/>
          <p:cNvSpPr txBox="1"/>
          <p:nvPr/>
        </p:nvSpPr>
        <p:spPr>
          <a:xfrm>
            <a:off x="7150608" y="5358384"/>
            <a:ext cx="182880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40" b="0">
                <a:solidFill>
                  <a:srgbClr val="4B5563"/>
                </a:solidFill>
                <a:latin typeface="Arial"/>
              </a:rPr>
              <a:t>used later after soft-token re-run</a:t>
            </a:r>
          </a:p>
        </p:txBody>
      </p:sp>
      <p:cxnSp>
        <p:nvCxnSpPr>
          <p:cNvPr id="47" name="Arrow"/>
          <p:cNvCxnSpPr/>
          <p:nvPr/>
        </p:nvCxnSpPr>
        <p:spPr>
          <a:xfrm>
            <a:off x="4864608" y="3566160"/>
            <a:ext cx="877824" cy="1152144"/>
          </a:xfrm>
          <a:prstGeom prst="line">
            <a:avLst/>
          </a:prstGeom>
          <a:ln w="26670">
            <a:solidFill>
              <a:srgbClr val="1F2937"/>
            </a:solidFill>
            <a:tailEnd type="triangle" w="med" h="med"/>
          </a:ln>
        </p:spPr>
      </p:cxnSp>
      <p:sp>
        <p:nvSpPr>
          <p:cNvPr id="48" name="Same features"/>
          <p:cNvSpPr txBox="1"/>
          <p:nvPr/>
        </p:nvSpPr>
        <p:spPr>
          <a:xfrm>
            <a:off x="4828032" y="4041648"/>
            <a:ext cx="12344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>
                <a:solidFill>
                  <a:srgbClr val="4B5563"/>
                </a:solidFill>
                <a:latin typeface="Arial"/>
              </a:rPr>
              <a:t>same frame features</a:t>
            </a:r>
          </a:p>
        </p:txBody>
      </p:sp>
      <p:cxnSp>
        <p:nvCxnSpPr>
          <p:cNvPr id="49" name="Red dashed influence"/>
          <p:cNvCxnSpPr/>
          <p:nvPr/>
        </p:nvCxnSpPr>
        <p:spPr>
          <a:xfrm flipV="1">
            <a:off x="3703320" y="3584448"/>
            <a:ext cx="2770632" cy="1115568"/>
          </a:xfrm>
          <a:prstGeom prst="line">
            <a:avLst/>
          </a:prstGeom>
          <a:ln w="21590">
            <a:solidFill>
              <a:srgbClr val="DC2626"/>
            </a:solidFill>
            <a:prstDash val="dash"/>
            <a:tailEnd type="triangle" w="med" h="med"/>
          </a:ln>
        </p:spPr>
      </p:cxnSp>
      <p:cxnSp>
        <p:nvCxnSpPr>
          <p:cNvPr id="50" name="Red cross 1"/>
          <p:cNvCxnSpPr/>
          <p:nvPr/>
        </p:nvCxnSpPr>
        <p:spPr>
          <a:xfrm>
            <a:off x="6382512" y="3749040"/>
            <a:ext cx="310896" cy="310896"/>
          </a:xfrm>
          <a:prstGeom prst="line">
            <a:avLst/>
          </a:prstGeom>
          <a:ln w="38100">
            <a:solidFill>
              <a:srgbClr val="DC2626"/>
            </a:solidFill>
          </a:ln>
        </p:spPr>
      </p:cxnSp>
      <p:cxnSp>
        <p:nvCxnSpPr>
          <p:cNvPr id="51" name="Red cross 2"/>
          <p:cNvCxnSpPr/>
          <p:nvPr/>
        </p:nvCxnSpPr>
        <p:spPr>
          <a:xfrm flipH="1">
            <a:off x="6382512" y="3749040"/>
            <a:ext cx="310896" cy="310896"/>
          </a:xfrm>
          <a:prstGeom prst="line">
            <a:avLst/>
          </a:prstGeom>
          <a:ln w="38100">
            <a:solidFill>
              <a:srgbClr val="DC2626"/>
            </a:solidFill>
          </a:ln>
        </p:spPr>
      </p:cxnSp>
      <p:sp>
        <p:nvSpPr>
          <p:cNvPr id="52" name="Block"/>
          <p:cNvSpPr/>
          <p:nvPr/>
        </p:nvSpPr>
        <p:spPr>
          <a:xfrm>
            <a:off x="9162288" y="4718304"/>
            <a:ext cx="1572768" cy="585216"/>
          </a:xfrm>
          <a:prstGeom prst="roundRect">
            <a:avLst/>
          </a:prstGeom>
          <a:solidFill>
            <a:srgbClr val="FEE2E2"/>
          </a:solidFill>
          <a:ln w="17145">
            <a:solidFill>
              <a:srgbClr val="DC262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20" b="1">
                <a:solidFill>
                  <a:srgbClr val="111827"/>
                </a:solidFill>
                <a:latin typeface="Arial"/>
              </a:rPr>
              <a:t>placeholder token</a:t>
            </a:r>
          </a:p>
          <a:p>
            <a:pPr algn="ctr"/>
            <a:r>
              <a:rPr sz="920" b="1">
                <a:solidFill>
                  <a:srgbClr val="111827"/>
                </a:solidFill>
                <a:latin typeface="Arial"/>
              </a:rPr>
              <a:t>does not affect phase</a:t>
            </a:r>
          </a:p>
        </p:txBody>
      </p:sp>
      <p:sp>
        <p:nvSpPr>
          <p:cNvPr id="53" name="Footer"/>
          <p:cNvSpPr txBox="1"/>
          <p:nvPr/>
        </p:nvSpPr>
        <p:spPr>
          <a:xfrm>
            <a:off x="438912" y="6291072"/>
            <a:ext cx="10698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Arial"/>
              </a:rPr>
              <a:t>Result of step 1: keep the phase probabilities from branch A; use them next to build the prefix phase sequence and infer the soft workflow token.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