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0F172A"/>
                </a:solidFill>
                <a:latin typeface="Helvetica Neue"/>
              </a:rPr>
              <a:t>Causal Surgical World-Model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1D4ED8"/>
                </a:solidFill>
                <a:latin typeface="Helvetica Neue"/>
              </a:rPr>
              <a:t>A Two-Paper Research Plan: Causal Benchmark + Privileged-Information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334455"/>
                </a:solidFill>
                <a:latin typeface="Helvetica Neue"/>
              </a:rPr>
              <a:t>Follow-up to the BariatricRSD variability-scaling paper (NeurIPS 2026, E&amp;D track).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34455"/>
                </a:solidFill>
                <a:latin typeface="Helvetica Neue"/>
              </a:rPr>
              <a:t>Author: Bill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Helvetica Neue"/>
              </a:rPr>
              <a:t>Status: 2026-05-21  ·  Plan + brief: NEXT_PAPER_PLAN.md, NEXT_PAPER_BRIEF.md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Where we are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What the current paper (under review at NeurIPS 2026) established.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VARIABILITY-SCALING RESULT ON MB140 vs CHOLEC80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  <a:latin typeface="Helvetica Neue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Workflow conditioning helps on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MultiBypass140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(multi-center RYGB, K=6,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H(z)=2.48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).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Δ decoupled-oracle =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−0.85 min within-center, −0.47 cross-center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Statistically null on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Cholec80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(single-center, K=4,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H(z)=1.27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, 71% of videos in one cluster).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Shuffled-token control rules out parameter-capacity explanation.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Pixel-only causal evaluator preserves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−0.18 / −0.22 min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without GT phases at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  <a:latin typeface="Helvetica Neue"/>
              </a:rPr>
              <a:t>Methodology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Strict prefix-only protocol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clip ends at prediction time t; removes future-frame leakage.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Decoupled-oracle architecture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phase head independent of workflow token; closes circularity.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Workflow-cluster apparatus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phase-bigram TF-IDF + PCA + k-means; offline + per-clip lookup.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Variability-scaling thesis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workflow conditioning's value tracks H(z) of phase-order clusters.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Causal-at-inference evaluator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soft cluster posterior from model's own prefix phase predictions.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2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What's missing after the current paper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Gaps that justify the next-paper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Training-time supervision gap.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The pixel-only causal evaluator removes the inference-time oracle, but training still uses privileged phase + workflow labels.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No motion / action prediction.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RSD is a scalar target. The model never says ‘what comes next’ — instrument changes, phase transitions, deviation events.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No engagement with the surgical-FM wave.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SurgMotion, SurgVISTA, ZEN, EndoMamba, EndoDINO have appeared. Our framework hasn't been benchmarked against them.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Untested across procedures.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MB140 + Cholec80 only. No cross-procedure transfer claims yet.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Untested under physical-AI world models.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NVIDIA Cosmos and V-JEPA 2/2.1 transfer to surgical video is an open empirical question.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Variability-scaling thesis only on scalar RSD.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Whether the H(z) pattern generalizes to anticipation tasks is the natural next probe.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The research question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Survives any empirical outcome and isn't vendor-dependent.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ONE QUESTION THAT FRAMES BOTH PAPERS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23774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Helvetica Neue"/>
              </a:rPr>
              <a:t>Do physical-AI and surgical video foundation models improve
causal surgical anticipation,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0D9488"/>
                </a:solidFill>
                <a:latin typeface="Helvetica Neue"/>
              </a:rPr>
              <a:t>and does workflow variability still determine
when explicit workflow-state conditioning helps?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Helvetica Neue"/>
              </a:rPr>
              <a:t>Why this framing works: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Not vendor-locked — publishable whether Cosmos wins, loses, or ties.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Uses our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strict prefix-only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causal apparatus as the defining contribution.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Forces extension from scalar RSD to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future-state prediction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Tests whether the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variability-scaling thesis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generalizes.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4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Two-paper plan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Split lets each contribution have depth and lets risk be hedged.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PAPERS 2A AND 2B SHARE ~70%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Helvetica Neue"/>
              </a:rPr>
              <a:t>PAPER 2A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577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Causal benchmark +
foundation-model transfer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334455"/>
                </a:solidFill>
                <a:latin typeface="Helvetica Neue"/>
              </a:rPr>
              <a:t>Thesis: strict prefix-only evaluation re-ranks foundation models for surgical forecasting. Pixel-prediction quality is a weak proxy for downstream utility. Variability-scaling generalizes across backbones and tasks.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Target: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MICCAI 2027 (Mar)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Compute: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1.5K–3.2K GPU-h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Risk: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medium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Backup framing: ‘Cosmos-meh’ diagnostic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Helvetica Neue"/>
              </a:rPr>
              <a:t>PAPER 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577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Privileged-information distillation
for workflow-conditioned RSD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334455"/>
                </a:solidFill>
                <a:latin typeface="Helvetica Neue"/>
              </a:rPr>
              <a:t>Thesis: a student model that learns the workflow posterior q(z | x_{≤t}) from a privileged teacher closes most of the oracle-to-deployable gap without using ground-truth phase or workflow labels at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Target: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NeurIPS 2027 (May)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Compute: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0.75K–1.5K GPU-h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Risk: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low (testable with existing assets)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Ships independent of FM transfer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5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Paper 2A — Innovation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Four claims that no competing surgical-FM paper has demonstrated.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WHY THIS PAPER ISN'T SCOOPABLE BY SURGMOTION / SURGVISTA / 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1. First causal evaluation protocol for surgical-video foundation models.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Existing FM papers (SurgMotion, SurgVISTA, ZEN) report centered-window or aggregate metrics — none under strict prefix-only protocols matching deployment.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2. First systematic transfer matrix that includes physical-AI world models alongside surgical-native FMs.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No prior paper has tested Cosmos / V-JEPA 2.1 head-to-head against domain-specialized surgical FMs on the same downstream tasks.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3. First diagnostic showing pixel-prediction quality is a weak proxy for downstream surgical forecasting.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A measurement contribution to the broader world-model field, not just surgical AI.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400" b="1">
                <a:solidFill>
                  <a:srgbClr val="0F172A"/>
                </a:solidFill>
                <a:latin typeface="Helvetica Neue"/>
              </a:rPr>
              <a:t>4. First multi-task variability-scaling extension.</a:t>
            </a:r>
            <a:r>
              <a:rPr sz="1400" b="0">
                <a:solidFill>
                  <a:srgbClr val="0F172A"/>
                </a:solidFill>
                <a:latin typeface="Helvetica Neue"/>
              </a:rPr>
              <a:t> Current paper proved H(z) pattern on scalar RSD; Paper 2A extends to phase-transition anticipation and future-phase-sequence — demonstrating the pattern is task-general.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Paper 2A — Experimental design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Frozen-feature transfer matrix × three causal anticipation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MODEL × TASK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011680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Backbone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691640"/>
            <a:ext cx="1188720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RSD MAE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691640"/>
            <a:ext cx="1828800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Next-transition MAE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691640"/>
            <a:ext cx="1828800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Future-phase F1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691640"/>
            <a:ext cx="1371600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Triplet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691640"/>
            <a:ext cx="1280160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Compute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20116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ViT-B/16 (anchor)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057400"/>
            <a:ext cx="1188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2057400"/>
            <a:ext cx="18288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057400"/>
            <a:ext cx="18288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057400"/>
            <a:ext cx="1371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2057400"/>
            <a:ext cx="12801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23160"/>
            <a:ext cx="201168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VideoMAE-L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423160"/>
            <a:ext cx="118872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423160"/>
            <a:ext cx="18288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423160"/>
            <a:ext cx="18288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423160"/>
            <a:ext cx="13716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423160"/>
            <a:ext cx="12801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88920"/>
            <a:ext cx="20116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V-JEPA 2 / 2.1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788920"/>
            <a:ext cx="1188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2788920"/>
            <a:ext cx="18288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788920"/>
            <a:ext cx="18288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788920"/>
            <a:ext cx="1371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788920"/>
            <a:ext cx="12801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54680"/>
            <a:ext cx="201168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Cosmos-Predict2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154680"/>
            <a:ext cx="118872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3154680"/>
            <a:ext cx="18288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154680"/>
            <a:ext cx="18288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154680"/>
            <a:ext cx="13716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3154680"/>
            <a:ext cx="12801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520440"/>
            <a:ext cx="20116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SurgMotion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520440"/>
            <a:ext cx="1188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40" y="3520440"/>
            <a:ext cx="18288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520440"/>
            <a:ext cx="18288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520440"/>
            <a:ext cx="1371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3520440"/>
            <a:ext cx="12801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886200"/>
            <a:ext cx="201168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SurgVISTA / ZEN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3886200"/>
            <a:ext cx="118872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3886200"/>
            <a:ext cx="18288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3886200"/>
            <a:ext cx="18288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3886200"/>
            <a:ext cx="13716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3886200"/>
            <a:ext cx="12801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med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251960"/>
            <a:ext cx="20116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EndoMamba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4251960"/>
            <a:ext cx="11887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40" y="4251960"/>
            <a:ext cx="18288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4251960"/>
            <a:ext cx="18288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4251960"/>
            <a:ext cx="1371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4251960"/>
            <a:ext cx="12801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Helvetica Neue"/>
              </a:rPr>
              <a:t>Datasets &amp; splits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212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MB140 within-center: 5-fold CV (fold 0 = dev fold)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MB140 cross-center: Bern → Strasbourg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Cholec80: 36/6/30 split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CholecT50: action-triplet anticipation (optional)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846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Helvetica Neue"/>
              </a:rPr>
              <a:t>Conditions per (backbone, dataset)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212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no-token (baseline)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retrospective oracle (upper bound)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decoupled-oracle (closes circularity)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shuffled-token (semantic control)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7 / 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Paper 2A — Contribution to the field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What the surgical-AI / vision community gets after Paper 2A is published.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ARTIFACTS THE PAPER LEAVES BEHIND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  <a:latin typeface="Helvetica Neue"/>
              </a:rPr>
              <a:t>Released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Causal anticipation benchmark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strict prefix-only RSD + phase + sequence evaluators.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Model-transfer leaderboard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anonymized per-backbone scores under matched protocol.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Pixel-quality-vs-downstream diagnostic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FVD/LPIPS/PSNR on a held-out surgical video set.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Reproducibility kit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code, configs, weights manifest, feature caches.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  <a:latin typeface="Helvetica Neue"/>
              </a:rPr>
              <a:t>Field-level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574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Causal evaluation re-ranks FMs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leaderboards change under deployment-relevant protocols.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Surgical-native pretraining wins at matched compute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informs investment direction.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Pixel quality ≠ downstream utility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community must use task-relevant metrics.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300" b="1">
                <a:solidFill>
                  <a:srgbClr val="0F172A"/>
                </a:solidFill>
                <a:latin typeface="Helvetica Neue"/>
              </a:rPr>
              <a:t>Variability scaling is task-general</a:t>
            </a:r>
            <a:r>
              <a:rPr sz="1300" b="0">
                <a:solidFill>
                  <a:srgbClr val="0F172A"/>
                </a:solidFill>
                <a:latin typeface="Helvetica Neue"/>
              </a:rPr>
              <a:t> — Cholec80 mis-calibration extends from RSD to anticipation.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8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Paper 2B — Innovation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Closing the oracle-to-deployable gap with privileged-information distillation.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WHY DISTILLATION IS THE NEXT MOVE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Helvetica Neue"/>
              </a:rPr>
              <a:t>CURRENT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Helvetica Neue"/>
              </a:rPr>
              <a:t>Train with privileged supervision
→ Test with pixels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Oracle (privileged):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−0.85 min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Deployable causal: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−0.18 min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Gap to close: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~0.67 min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D97706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Lost mostly to noisy prefix-cluster posterior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Helvetica Neue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Helvetica Neue"/>
              </a:rPr>
              <a:t>Teacher-student distillation
for q_φ(z | x_{≤t})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0175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Teacher: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frozen decoupled-oracle model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Student: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workflow posterior from pixels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Loss: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RSD + phase + KL(posterior)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Eval: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zero privileged signal at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Helvetica Neue"/>
              </a:rPr>
              <a:t>TARGET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Helvetica Neue"/>
              </a:rPr>
              <a:t>Deployable predictor approaches
privileged-supervision upper bound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175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Distilled student: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≤ 0.3 min from oracle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Variability scaling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preserved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Cholec80 null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preserved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Encoder-agnostic (ViT, V-JEPA, SurgMotion)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9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Paper 2B — Method detail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Teacher-student distillation for the workflow posterior.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036003" cy="146304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Surgical prefix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x_{≤t}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84643" y="2331720"/>
            <a:ext cx="228600" cy="41148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13243" y="1828800"/>
            <a:ext cx="2036003" cy="146304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Visual encoder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(ViT / V-JEPA / SurgMotion)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9246" y="2331720"/>
            <a:ext cx="228600" cy="41148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7846" y="1828800"/>
            <a:ext cx="2036003" cy="146304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Student q_φ(z | x_{≤t})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workflow posterior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13849" y="2331720"/>
            <a:ext cx="228600" cy="41148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42449" y="1828800"/>
            <a:ext cx="2036003" cy="146304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Soft workflow token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Σ_k q_k · E_k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8452" y="2331720"/>
            <a:ext cx="228600" cy="41148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7052" y="1828800"/>
            <a:ext cx="2036003" cy="146304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Temporal head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→ RSD / phase / next-transition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Helvetica Neue"/>
              </a:rPr>
              <a:t>TRAINING ONLY — TEACHER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Helvetica Neue"/>
              </a:rPr>
              <a:t>Full-video oracle cluster z(V)   ·   prefix-derived cluster labels   ·   phase-transition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334455"/>
                </a:solidFill>
                <a:latin typeface="Helvetica Neue"/>
              </a:rPr>
              <a:t>→  KL distillation onto the student posterior q_φ;  removed entirely at inference.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Helvetica Neue"/>
              </a:rPr>
              <a:t>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RSD regression (MSE)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Phase classification (CE, when labels available)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Next-transition regression / classification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Future-phase-sequence loss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KL distillation: q_φ ‖ teacher posterior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Optional calibration regularizer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37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Helvetica Neue"/>
              </a:rPr>
              <a:t>Properties of the resulting 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100" b="1">
                <a:solidFill>
                  <a:srgbClr val="0F172A"/>
                </a:solidFill>
                <a:latin typeface="Helvetica Neue"/>
              </a:rPr>
              <a:t>Pixel-only at inference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: no GT phases, no oracle cluster.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100" b="1">
                <a:solidFill>
                  <a:srgbClr val="0F172A"/>
                </a:solidFill>
                <a:latin typeface="Helvetica Neue"/>
              </a:rPr>
              <a:t>Calibrated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: reliability diagram + ECE reported video-wise.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100" b="1">
                <a:solidFill>
                  <a:srgbClr val="0F172A"/>
                </a:solidFill>
                <a:latin typeface="Helvetica Neue"/>
              </a:rPr>
              <a:t>Variability-scaling preserved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: Cholec80 remains null.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100" b="1">
                <a:solidFill>
                  <a:srgbClr val="0F172A"/>
                </a:solidFill>
                <a:latin typeface="Helvetica Neue"/>
              </a:rPr>
              <a:t>Encoder-agnostic</a:t>
            </a:r>
            <a:r>
              <a:rPr sz="1100" b="0">
                <a:solidFill>
                  <a:srgbClr val="0F172A"/>
                </a:solidFill>
                <a:latin typeface="Helvetica Neue"/>
              </a:rPr>
              <a:t>: swap ViT for V-JEPA 2.1 or SurgMotion.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10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Paper 2B — Contribution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What surgical AI gets from a working privileged-information distillation recipe.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DEPLOYABLE WORKFLOW CONDITIONING WITHOUT PRIVILEGED LABELS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400800" cy="4023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762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34455"/>
                </a:solidFill>
                <a:latin typeface="Helvetica Neue"/>
              </a:rPr>
              <a:t>Within-center MB140 strict val MAE (lower = better)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468880"/>
            <a:ext cx="1371600" cy="28346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Helvetica Neue"/>
              </a:rPr>
              <a:t>13.03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34924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Helvetica Neue"/>
              </a:rPr>
              <a:t>no-token
(baseline)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667305"/>
            <a:ext cx="1371600" cy="2636215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255825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Helvetica Neue"/>
              </a:rPr>
              <a:t>12.85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534924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Helvetica Neue"/>
              </a:rPr>
              <a:t>deployable causal
(current paper)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3092501"/>
            <a:ext cx="1371600" cy="22110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681021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Helvetica Neue"/>
              </a:rPr>
              <a:t>12.45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4924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Helvetica Neue"/>
              </a:rPr>
              <a:t>distilled student
(target)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3546044"/>
            <a:ext cx="1371600" cy="17574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13456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Helvetica Neue"/>
              </a:rPr>
              <a:t>12.18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34924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Helvetica Neue"/>
              </a:rPr>
              <a:t>decoupled-oracle
(privileged upper bound)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1">
                <a:solidFill>
                  <a:srgbClr val="334455"/>
                </a:solidFill>
                <a:latin typeface="Helvetica Neue"/>
              </a:rPr>
              <a:t>← target: close ≥ 50% of the oracle gap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  <a:latin typeface="Helvetica Neue"/>
              </a:rPr>
              <a:t>What 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A reusable distillation recipe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for closing oracle gaps in workflow-conditioned tasks.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Calibrated workflow posterior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useful for many downstream surgical tasks beyond RSD.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Ablation map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showing which teacher signals and loss formulations matter.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4ED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Deployable predictor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that approaches the privileged-supervision upper bound under strict prefix-only protocol.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11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Combined value to the field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What the two papers together let the surgical-AI / vision community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THE TWO PAPERS AS A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6692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0F172A"/>
                </a:solidFill>
                <a:latin typeface="Helvetica Neue"/>
              </a:rPr>
              <a:t>Do video / world FMs help surgical forecasting?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91640"/>
            <a:ext cx="5943600" cy="777240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>
                <a:solidFill>
                  <a:srgbClr val="0D9488"/>
                </a:solidFill>
                <a:latin typeface="Helvetica Neue"/>
              </a:rPr>
              <a:t>Quantitative answer with verified causal protocol (Paper 2A)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5669280" cy="77724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0F172A"/>
                </a:solidFill>
                <a:latin typeface="Helvetica Neue"/>
              </a:rPr>
              <a:t>Is generative pixel quality a good proxy for surgical understanding?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468880"/>
            <a:ext cx="5943600" cy="777240"/>
          </a:xfrm>
          <a:prstGeom prst="rect">
            <a:avLst/>
          </a:prstGeom>
          <a:solidFill>
            <a:srgbClr val="D1FAE5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>
                <a:solidFill>
                  <a:srgbClr val="0D9488"/>
                </a:solidFill>
                <a:latin typeface="Helvetica Neue"/>
              </a:rPr>
              <a:t>No — community must use task-relevant metrics (Paper 2A diagnostic)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56692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0F172A"/>
                </a:solidFill>
                <a:latin typeface="Helvetica Neue"/>
              </a:rPr>
              <a:t>How do we measure surgical-FM transfer fairly?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246120"/>
            <a:ext cx="5943600" cy="777240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>
                <a:solidFill>
                  <a:srgbClr val="0D9488"/>
                </a:solidFill>
                <a:latin typeface="Helvetica Neue"/>
              </a:rPr>
              <a:t>Strict prefix-only + workflow-variability stratification (Paper 2A)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5669280" cy="77724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0F172A"/>
                </a:solidFill>
                <a:latin typeface="Helvetica Neue"/>
              </a:rPr>
              <a:t>Can a deployable model recover the privileged workflow gain?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23360"/>
            <a:ext cx="5943600" cy="777240"/>
          </a:xfrm>
          <a:prstGeom prst="rect">
            <a:avLst/>
          </a:prstGeom>
          <a:solidFill>
            <a:srgbClr val="D1FAE5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>
                <a:solidFill>
                  <a:srgbClr val="0D9488"/>
                </a:solidFill>
                <a:latin typeface="Helvetica Neue"/>
              </a:rPr>
              <a:t>Yes, via privileged-information distillation (Paper 2B)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00600"/>
            <a:ext cx="56692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0F172A"/>
                </a:solidFill>
                <a:latin typeface="Helvetica Neue"/>
              </a:rPr>
              <a:t>Does workflow conditioning still matter with stronger backbones?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800600"/>
            <a:ext cx="5943600" cy="777240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>
                <a:solidFill>
                  <a:srgbClr val="0D9488"/>
                </a:solidFill>
                <a:latin typeface="Helvetica Neue"/>
              </a:rPr>
              <a:t>Yes when H(z) is high; no when H(z) is low (both papers)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12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Timeline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Phase 0 → Phase 4 with explicit submission milestones.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2026 Q3 — 2027 Q2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Jun-26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Jul-26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Aug-26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Sep-26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Oct-26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Nov-26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Dec-26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Jan-27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Feb-27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Mar-27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Apr-27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64240" y="1691640"/>
            <a:ext cx="822960" cy="502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May-27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67712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Helvetica Neue"/>
              </a:rPr>
              <a:t>Phase 0: feasibility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2267712"/>
            <a:ext cx="2377440" cy="36576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70632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Helvetica Neue"/>
              </a:rPr>
              <a:t>Phase 1: scout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2770632"/>
            <a:ext cx="237744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73552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Helvetica Neue"/>
              </a:rPr>
              <a:t>Phase 2: confirmatory (Paper 2A)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73552"/>
            <a:ext cx="3200400" cy="3657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76472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Helvetica Neue"/>
              </a:rPr>
              <a:t>Paper 2A write + submit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3776472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79392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Helvetica Neue"/>
              </a:rPr>
              <a:t>Phase 3: Paper 2B start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4279392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782312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4455"/>
                </a:solidFill>
                <a:latin typeface="Helvetica Neue"/>
              </a:rPr>
              <a:t>Phase 4: Paper 2B finish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87000" y="4782312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480560" y="2194560"/>
            <a:ext cx="0" cy="3108960"/>
          </a:xfrm>
          <a:prstGeom prst="line">
            <a:avLst/>
          </a:prstGeom>
          <a:ln w="19050">
            <a:solidFill>
              <a:srgbClr val="DC2626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40480" y="5349240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Helvetica Neue"/>
              </a:rPr>
              <a:t>Phase 0
complete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49440" y="2194560"/>
            <a:ext cx="0" cy="3108960"/>
          </a:xfrm>
          <a:prstGeom prst="line">
            <a:avLst/>
          </a:prstGeom>
          <a:ln w="19050">
            <a:solidFill>
              <a:srgbClr val="DC2626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0" y="5349240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Helvetica Neue"/>
              </a:rPr>
              <a:t>Phase 1
go/no-go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18320" y="2194560"/>
            <a:ext cx="0" cy="3108960"/>
          </a:xfrm>
          <a:prstGeom prst="line">
            <a:avLst/>
          </a:prstGeom>
          <a:ln w="19050">
            <a:solidFill>
              <a:srgbClr val="DC2626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778240" y="5349240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Helvetica Neue"/>
              </a:rPr>
              <a:t>Paper 2A
→ MICCAI 2027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064240" y="2194560"/>
            <a:ext cx="0" cy="3108960"/>
          </a:xfrm>
          <a:prstGeom prst="line">
            <a:avLst/>
          </a:prstGeom>
          <a:ln w="19050">
            <a:solidFill>
              <a:srgbClr val="DC2626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424160" y="5349240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Helvetica Neue"/>
              </a:rPr>
              <a:t>Paper 2B
→ NeurIPS 2027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13 / 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Compute budget &amp; risk gates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Staged plan: &lt;500 GPU-h to first go/no-go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STAGE-BY-STAGE COSTS WITH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828800" cy="4572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91640"/>
            <a:ext cx="1828800" cy="4572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GPU-hours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91640"/>
            <a:ext cx="2194560" cy="4572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Cost ($)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91640"/>
            <a:ext cx="2194560" cy="4572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Cumulative ($)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691640"/>
            <a:ext cx="3108960" cy="4572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Decision 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18288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Stage 0 — feasibility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148840"/>
            <a:ext cx="18288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40–80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148840"/>
            <a:ext cx="2194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$250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48840"/>
            <a:ext cx="2194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$250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2148840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Audit backbones; drop brittle 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182880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Stage 1 — scout matrix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606040"/>
            <a:ext cx="182880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250–500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606040"/>
            <a:ext cx="21945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$0.75K–$1.5K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606040"/>
            <a:ext cx="21945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$1.0K–$1.75K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606040"/>
            <a:ext cx="31089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Any FM improves causal RSD by ≥0.3 min?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63240"/>
            <a:ext cx="18288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Stage 2 — confirmatory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063240"/>
            <a:ext cx="18288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700–1,400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063240"/>
            <a:ext cx="2194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$2.1K–$4.2K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063240"/>
            <a:ext cx="2194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$3.1K–$6.0K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3063240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Lock Paper 2A matrix; ≥3 claims defensible?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20440"/>
            <a:ext cx="182880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Stage 3 — adapters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520440"/>
            <a:ext cx="182880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500–1,200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520440"/>
            <a:ext cx="21945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$1.5K–$3.6K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520440"/>
            <a:ext cx="21945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$4.6K–$9.6K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520440"/>
            <a:ext cx="31089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Worth retraining selected backbones?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77640"/>
            <a:ext cx="18288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Stage 4 — optional SSL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977640"/>
            <a:ext cx="18288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700–1,500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3977640"/>
            <a:ext cx="2194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$2.1K–$4.5K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977640"/>
            <a:ext cx="2194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$6.7K–$14.1K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3977640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Surgical-SSL adapt only if Stages 2/3 win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434840"/>
            <a:ext cx="182880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Paper 2B (reuses 2A)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4434840"/>
            <a:ext cx="182880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750–1,500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434840"/>
            <a:ext cx="21945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$2.25K–$4.5K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434840"/>
            <a:ext cx="21945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$9K–$18.6K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4434840"/>
            <a:ext cx="31089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l"/>
            <a:r>
              <a:rPr sz="1100">
                <a:solidFill>
                  <a:srgbClr val="0F172A"/>
                </a:solidFill>
                <a:latin typeface="Helvetica Neue"/>
              </a:rPr>
              <a:t>Distillation closes ≥50% of oracle gap?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Helvetica Neue"/>
              </a:rPr>
              <a:t>Full-program upper bound: ~5,000–7,000 GPU-h (~$15K–$21K with 25% overhead)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334455"/>
                </a:solidFill>
                <a:latin typeface="Helvetica Neue"/>
              </a:rPr>
              <a:t>Tier 1 alone (Phase 0 + Phase 1) costs &lt;$2K — enough to decide whether either paper is viable.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14 / 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Risk hedge — what ships if Cosmos doesn't transfer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Pre-register the diagnostic framing before running Cosmos experiments.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‘COSMOS-IS-MEH’ RECOVERY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Helvetica Neue"/>
              </a:rPr>
              <a:t>Most likely empirical outcome: Cosmos doesn't beat ViT-B/16 on surgical forecasting (natural-world pretraining ≠ endoscopic close-ups).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Helvetica Neue"/>
              </a:rPr>
              <a:t>NARRATIVE 1 (primary)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91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Helvetica Neue"/>
              </a:rPr>
              <a:t>Pixel-prediction quality is a weak proxy for surgical forecasting.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4455"/>
                </a:solidFill>
                <a:latin typeface="Helvetica Neue"/>
              </a:rPr>
              <a:t>Cosmos generates clean pixels but mid-pack features. The diagnostic itself is the contribution.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Helvetica Neue"/>
              </a:rPr>
              <a:t>NARRATIVE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291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Helvetica Neue"/>
              </a:rPr>
              <a:t>Domain gap dominates; surgical-native FMs win.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4455"/>
                </a:solidFill>
                <a:latin typeface="Helvetica Neue"/>
              </a:rPr>
              <a:t>Cosmos &lt; ViT-B/16 &lt; SurgMotion / SurgVISTA. Quantifies the surgical-domain gap; motivates Paper 2B.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33172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4688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Helvetica Neue"/>
              </a:rPr>
              <a:t>NARRATIVE 3 (fallback)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34640"/>
            <a:ext cx="3291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Helvetica Neue"/>
              </a:rPr>
              <a:t>Cosmos as calibration anchor.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11480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4455"/>
                </a:solidFill>
                <a:latin typeface="Helvetica Neue"/>
              </a:rPr>
              <a:t>Even if no FM wins, Cosmos in the matrix tells the field when surgical pretraining specifically helps.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Helvetica Neue"/>
              </a:rPr>
              <a:t>Tactic: decide and document the framing **before** running Cosmos experiments. If Cosmos wins → pivot to positive story; if it loses → the pre-committed paper still ships.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15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What we deliberately avoid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Framing traps that would make the papers harder to defend.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Helvetica Neue"/>
              </a:rPr>
              <a:t>Won't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DC2626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Vendor-first framing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"NVIDIA Cosmos + OpenUSD for surgery" reads as product adoption.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DC2626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First-surgical-FM claim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the field already has SurgMotion, SurgVISTA, ZEN, EndoMamba.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DC2626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OpenUSD as decoration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if a flat JSON gives the same signal, USD isn't load-bearing.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DC2626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Full Cosmos fine-tuning as the first move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too expensive without prior evidence of transfer.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DC2626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Single-fold headline numbers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the field expects 5-fold + cross-center + paired stats.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DC2626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Claiming clinical readiness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these are benchmark / method papers, not deployment papers.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  <a:latin typeface="Helvetica Neue"/>
              </a:rPr>
              <a:t>Will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574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Causal evaluation as the apparatus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strict prefix-only, leakage-safe, deployment-relevant.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Systematic transfer matrix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physical-AI + general-video + surgical-native FMs all measured.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Pre-registered narratives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Cosmos-meh diagnostic framing decided before running experiments.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Staged compute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&lt;$2K to first go/no-go, full program only if signal exists.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5-fold MB140 + cross-center + paired bootstrap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reviewer-proof stats.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Releasable artifacts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code, leaderboard, feature caches, manifests.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16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Open questions for external review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Top items I want reviewer / collaborator pushback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Helvetica Neue"/>
              </a:rPr>
              <a:t>ASK ME ABOUT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Is the two-paper split the right call?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Or would the field reward one comprehensive paper?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Is Cosmos the right physical-AI baseline?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Should V-JEPA 2.1 + SurgMotion be the primary FM pair?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Venue fit for Paper 2A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MICCAI 2027 or CVPR 2027?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Venue fit for Paper 2B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does the privileged-information distillation framing clear NeurIPS / ICLR?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Is the diagnostic claim a real contribution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or face-saving framing? How would a vision reviewer read it?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Is the compute budget realistic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($21K full upper bound) or should we scope to Stage 1 first?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Is there a recent surgical-FM paper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from mid-2026 that we've missed?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OpenUSD side experiment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cut entirely or keep as appendix?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Variability-scaling thesis for anticipation tasks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does H(z) still measure the right thing?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7C3AED"/>
                </a:solidFill>
                <a:latin typeface="Helvetica Neue"/>
              </a:rPr>
              <a:t>■  </a:t>
            </a:r>
            <a:r>
              <a:rPr sz="1200" b="1">
                <a:solidFill>
                  <a:srgbClr val="0F172A"/>
                </a:solidFill>
                <a:latin typeface="Helvetica Neue"/>
              </a:rPr>
              <a:t>Cross-procedure generalization</a:t>
            </a:r>
            <a:r>
              <a:rPr sz="1200" b="0">
                <a:solidFill>
                  <a:srgbClr val="0F172A"/>
                </a:solidFill>
                <a:latin typeface="Helvetica Neue"/>
              </a:rPr>
              <a:t> — push to 4 procedures (MB140 + Cholec80 + AutoLaparo + CholecT50) or stay focused?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0F172A"/>
                </a:solidFill>
                <a:latin typeface="Helvetica Neue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D4ED8"/>
                </a:solidFill>
                <a:latin typeface="Helvetica Neue"/>
              </a:rPr>
              <a:t>Two papers, sequenced. Paper 2A first (decision-gated), then Paper 2B on shared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500" b="1">
                <a:solidFill>
                  <a:srgbClr val="0F172A"/>
                </a:solidFill>
                <a:latin typeface="Helvetica Neue"/>
              </a:rPr>
              <a:t>Flagship contribution:</a:t>
            </a:r>
            <a:r>
              <a:rPr sz="1500" b="0">
                <a:solidFill>
                  <a:srgbClr val="0F172A"/>
                </a:solidFill>
                <a:latin typeface="Helvetica Neue"/>
              </a:rPr>
              <a:t> causal-evaluation apparatus + variability-scaling generalization.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500" b="1">
                <a:solidFill>
                  <a:srgbClr val="0F172A"/>
                </a:solidFill>
                <a:latin typeface="Helvetica Neue"/>
              </a:rPr>
              <a:t>Cosmos and OpenUSD:</a:t>
            </a:r>
            <a:r>
              <a:rPr sz="1500" b="0">
                <a:solidFill>
                  <a:srgbClr val="0F172A"/>
                </a:solidFill>
                <a:latin typeface="Helvetica Neue"/>
              </a:rPr>
              <a:t> in the matrix, not in the title.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500" b="1">
                <a:solidFill>
                  <a:srgbClr val="0F172A"/>
                </a:solidFill>
                <a:latin typeface="Helvetica Neue"/>
              </a:rPr>
              <a:t>Budget:</a:t>
            </a:r>
            <a:r>
              <a:rPr sz="1500" b="0">
                <a:solidFill>
                  <a:srgbClr val="0F172A"/>
                </a:solidFill>
                <a:latin typeface="Helvetica Neue"/>
              </a:rPr>
              <a:t> &lt;$2K to first go/no-go; ~$15K–$21K for the full two-paper program.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500" b="1">
                <a:solidFill>
                  <a:srgbClr val="0F172A"/>
                </a:solidFill>
                <a:latin typeface="Helvetica Neue"/>
              </a:rPr>
              <a:t>Schedule:</a:t>
            </a:r>
            <a:r>
              <a:rPr sz="1500" b="0">
                <a:solidFill>
                  <a:srgbClr val="0F172A"/>
                </a:solidFill>
                <a:latin typeface="Helvetica Neue"/>
              </a:rPr>
              <a:t> Paper 2A → MICCAI 2027 (Mar); Paper 2B → NeurIPS 2027 (May).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0D9488"/>
                </a:solidFill>
                <a:latin typeface="Helvetica Neue"/>
              </a:rPr>
              <a:t>■  </a:t>
            </a:r>
            <a:r>
              <a:rPr sz="1500" b="1">
                <a:solidFill>
                  <a:srgbClr val="0F172A"/>
                </a:solidFill>
                <a:latin typeface="Helvetica Neue"/>
              </a:rPr>
              <a:t>Both papers ship</a:t>
            </a:r>
            <a:r>
              <a:rPr sz="1500" b="0">
                <a:solidFill>
                  <a:srgbClr val="0F172A"/>
                </a:solidFill>
                <a:latin typeface="Helvetica Neue"/>
              </a:rPr>
              <a:t> even if Cosmos doesn't transfer — the apparatus and the method are the contributions.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Helvetica Neue"/>
              </a:rPr>
              <a:t>Companion docs: NEXT_PAPER_BRIEF.md   ·   NEXT_PAPER_PLAN.md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</a:rPr>
              <a:t>BariatricRSD next-paper proposal  ·  Slide 18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Helvetica Neue"/>
              </a:rPr>
              <a:t>2026-05-21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