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notesMaster" Target="notesMasters/notesMaster1.xml" /><Relationship Id="rId49" Type="http://schemas.openxmlformats.org/officeDocument/2006/relationships/viewProps" Target="viewProps.xml" /><Relationship Id="rId48" Type="http://schemas.openxmlformats.org/officeDocument/2006/relationships/presProps" Target="presProps.xml" /><Relationship Id="rId1" Type="http://schemas.openxmlformats.org/officeDocument/2006/relationships/slideMaster" Target="slideMasters/slideMaster1.xml" /><Relationship Id="rId51" Type="http://schemas.openxmlformats.org/officeDocument/2006/relationships/tableStyles" Target="tableStyles.xml" /><Relationship Id="rId5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RSD is a regression problem disguised as a video understanding problem. The student’s first instinct is “just watch the clock,” but the whole point is the model has no access to the wall clock of the full operation — it only sees the frames that have occurred so far, and must estimate what remains.</a:t>
            </a:r>
          </a:p>
          <a:p>
            <a:pPr lvl="0" indent="0" marL="0">
              <a:buNone/>
            </a:pPr>
          </a:p>
          <a:p>
            <a:pPr lvl="0" indent="0" marL="0">
              <a:buNone/>
            </a:pPr>
            <a:r>
              <a:rPr/>
              <a:t>The word “remaining” is load-bearing. It forces the model to condition on the prefix of the video and reason about what hasn’t happened yet. That’s what makes this harder than standard video classification, and what makes it clinically useful.</a:t>
            </a:r>
          </a:p>
          <a:p>
            <a:pPr lvl="0" indent="0" marL="0">
              <a:buNone/>
            </a:pPr>
          </a:p>
          <a:p>
            <a:pPr lvl="0" indent="0" marL="0">
              <a:buNone/>
            </a:pPr>
            <a:r>
              <a:rPr/>
              <a:t>Teaching moment: ask the class what signals could reveal remaining time. They’ll name phase cues (which step is being performed), pacing cues (has the surgeon been slow?), anatomical cues (how clean is the surgical field?), and tool cues (is the stapler out yet?). All of these matter. A well-designed model combines them.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clinical motivation is not abstract. A single operating room handles several cases per day. If the first one runs 20 minutes over and nobody flagged it, every subsequent case shifts. Patients in pre-op get held. Post-anesthesia recovery gets crowded. The hospital effectively loses that 20 minutes of OR capacity — which, at real hospital prices, is $800 to $2,000.</a:t>
            </a:r>
          </a:p>
          <a:p>
            <a:pPr lvl="0" indent="0" marL="0">
              <a:buNone/>
            </a:pPr>
          </a:p>
          <a:p>
            <a:pPr lvl="0" indent="0" marL="0">
              <a:buNone/>
            </a:pPr>
            <a:r>
              <a:rPr/>
              <a:t>This is why even a small improvement (say, 1 minute off the average error) has real dollar value, and why the community keeps working on this task despite it being “just a regression problem.”</a:t>
            </a:r>
          </a:p>
          <a:p>
            <a:pPr lvl="0" indent="0" marL="0">
              <a:buNone/>
            </a:pPr>
          </a:p>
          <a:p>
            <a:pPr lvl="0" indent="0" marL="0">
              <a:buNone/>
            </a:pPr>
            <a:r>
              <a:rPr/>
              <a:t>Students who haven’t worked in clinical settings often miss how tight hospital operations are. It’s worth emphasizing that a single extra minute of uncertainty propagates into a lot of downstream logistics.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paper’s main motivation. It’s worth drawing on the whiteboard:</a:t>
            </a:r>
          </a:p>
          <a:p>
            <a:pPr lvl="0" indent="0" marL="0">
              <a:buNone/>
            </a:pPr>
          </a:p>
          <a:p>
            <a:pPr lvl="0" indent="0" marL="0">
              <a:buNone/>
            </a:pPr>
            <a:r>
              <a:rPr/>
              <a:t>At minute 25, both cases might show a suture being tied in the abdomen. The visual scene is similar. But in Case A that suture is near the end (35 min remaining); in Case B it’s near the middle (75 min remaining). A model that treats all cases as samples from one canonical workflow will produce a blended average — wrong for both.</a:t>
            </a:r>
          </a:p>
          <a:p>
            <a:pPr lvl="0" indent="0" marL="0">
              <a:buNone/>
            </a:pPr>
          </a:p>
          <a:p>
            <a:pPr lvl="0" indent="0" marL="0">
              <a:buNone/>
            </a:pPr>
            <a:r>
              <a:rPr/>
              <a:t>This is the core insight that justifies workflow conditioning. It’s also why Cholec80 (where 71% of surgeons follow the same canonical sequence) doesn’t really need this treatment, while MultiBypass140 (much more heterogeneous) does. That contrast is the paper’s scientific punch line.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dive into methods, it helps to anchor why these two datasets were chosen.</a:t>
            </a:r>
          </a:p>
          <a:p>
            <a:pPr lvl="0" indent="0" marL="0">
              <a:buNone/>
            </a:pPr>
          </a:p>
          <a:p>
            <a:pPr lvl="0" indent="0" marL="0">
              <a:buNone/>
            </a:pPr>
            <a:r>
              <a:rPr/>
              <a:t>MultiBypass140 was designed by the CAMMA group specifically to expose multi-center variation — Bern and Strasbourg use different techniques, and Strasbourg’s surgeries are about 35% longer than Bern’s on average. That makes it the right benchmark for testing workflow-conditioned methods, because the workflow signal is real.</a:t>
            </a:r>
          </a:p>
          <a:p>
            <a:pPr lvl="0" indent="0" marL="0">
              <a:buNone/>
            </a:pPr>
          </a:p>
          <a:p>
            <a:pPr lvl="0" indent="0" marL="0">
              <a:buNone/>
            </a:pPr>
            <a:r>
              <a:rPr/>
              <a:t>Cholec80 is the classical surgical video benchmark — it’s been used since 2017. But it’s also unusually homogeneous: cholecystectomy is one of the most standardized laparoscopic operations, and Cholec80’s videos come from a single center (Strasbourg in this case). So Cholec80 is a great sanity check — does our pipeline work on an easier problem? — but a poor home for the workflow-variability story.</a:t>
            </a:r>
          </a:p>
          <a:p>
            <a:pPr lvl="0" indent="0" marL="0">
              <a:buNone/>
            </a:pPr>
          </a:p>
          <a:p>
            <a:pPr lvl="0" indent="0" marL="0">
              <a:buNone/>
            </a:pPr>
            <a:r>
              <a:rPr/>
              <a:t>Teaching tip: students often ask “why not just train on both and report one number?” The answer is that the two datasets test different things, and the contrast between them is exactly the insight we want to ship.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paper is structured around these four questions in this order. Each question maps to one main section in the Results chapter:</a:t>
            </a:r>
          </a:p>
          <a:p>
            <a:pPr lvl="0" indent="0" marL="0">
              <a:buNone/>
            </a:pPr>
          </a:p>
          <a:p>
            <a:pPr lvl="0" indent="-342900" marL="342900">
              <a:buAutoNum type="arabicParenBoth"/>
            </a:pPr>
            <a:r>
              <a:rPr/>
              <a:t>Does it help at all? -&gt; MB140 within-center matched-compute ablation. Answer: yes, by about 1 min of val MAE.</a:t>
            </a:r>
          </a:p>
          <a:p>
            <a:pPr lvl="0" indent="0" marL="0">
              <a:buNone/>
            </a:pPr>
          </a:p>
          <a:p>
            <a:pPr lvl="0" indent="-342900" marL="342900">
              <a:buAutoNum type="arabicParenBoth"/>
            </a:pPr>
            <a:r>
              <a:rPr/>
              <a:t>When does it help? -&gt; Contrast MB140 (high variability) vs. Cholec80 (low variability). Answer: the benefit scales with the variability of workflows you’re trying to distinguish.</a:t>
            </a:r>
          </a:p>
          <a:p>
            <a:pPr lvl="0" indent="0" marL="0">
              <a:buNone/>
            </a:pPr>
          </a:p>
          <a:p>
            <a:pPr lvl="0" indent="-342900" marL="342900">
              <a:buAutoNum type="arabicParenBoth"/>
            </a:pPr>
            <a:r>
              <a:rPr/>
              <a:t>Cross-center gap? -&gt; Bern -&gt; Stras transfer. Answer: the token closes only a tiny fraction of the ~6-minute gap. Center shift is a bigger problem than workflow alone.</a:t>
            </a:r>
          </a:p>
          <a:p>
            <a:pPr lvl="0" indent="0" marL="0">
              <a:buNone/>
            </a:pPr>
          </a:p>
          <a:p>
            <a:pPr lvl="0" indent="-342900" marL="342900">
              <a:buAutoNum type="arabicParenBoth"/>
            </a:pPr>
            <a:r>
              <a:rPr/>
              <a:t>Inference-time tricks? -&gt; Ensemble + isotonic + TTA on Cholec80. Answer: from 4.3 min down to 3.56 min. Impressive, but unrelated to the workflow story — belongs in the appendix.</a:t>
            </a:r>
          </a:p>
          <a:p>
            <a:pPr lvl="0" indent="0" marL="0">
              <a:buNone/>
            </a:pPr>
          </a:p>
          <a:p>
            <a:pPr lvl="0" indent="0" marL="0">
              <a:buNone/>
            </a:pPr>
            <a:r>
              <a:rPr/>
              <a:t>Ask the class: which of these questions is most publishable at a top venue, and why? That’s a good framing exercise.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It’s worth walking through this timeline slowly and noting that </a:t>
            </a:r>
            <a:r>
              <a:rPr b="1"/>
              <a:t>each step is a combination</a:t>
            </a:r>
            <a:r>
              <a:rPr/>
              <a:t>, not a clean replacement:</a:t>
            </a:r>
          </a:p>
          <a:p>
            <a:pPr lvl="0" indent="0" marL="0">
              <a:buNone/>
            </a:pPr>
          </a:p>
          <a:p>
            <a:pPr lvl="0"/>
            <a:r>
              <a:rPr/>
              <a:t>2017’s EndoNet introduced per-frame CNN classification for surgical video.</a:t>
            </a:r>
          </a:p>
          <a:p>
            <a:pPr lvl="0" indent="0" marL="0">
              <a:buNone/>
            </a:pPr>
          </a:p>
          <a:p>
            <a:pPr lvl="0"/>
            <a:r>
              <a:rPr/>
              <a:t>2019’s RSDNet added recurrence (LSTM) to get temporal context.</a:t>
            </a:r>
          </a:p>
          <a:p>
            <a:pPr lvl="0" indent="0" marL="0">
              <a:buNone/>
            </a:pPr>
          </a:p>
          <a:p>
            <a:pPr lvl="0"/>
            <a:r>
              <a:rPr/>
              <a:t>2023-2024 replaced LSTM with attention-based temporal modules.</a:t>
            </a:r>
          </a:p>
          <a:p>
            <a:pPr lvl="0" indent="0" marL="0">
              <a:buNone/>
            </a:pPr>
          </a:p>
          <a:p>
            <a:pPr lvl="0"/>
            <a:r>
              <a:rPr/>
              <a:t>2024 added hierarchical attention at multiple scales.</a:t>
            </a:r>
          </a:p>
          <a:p>
            <a:pPr lvl="0" indent="0" marL="0">
              <a:buNone/>
            </a:pPr>
          </a:p>
          <a:p>
            <a:pPr lvl="0"/>
            <a:r>
              <a:rPr/>
              <a:t>2025 (us) adds a workflow conditioning token on top of hierarchical attention.</a:t>
            </a:r>
          </a:p>
          <a:p>
            <a:pPr lvl="0" indent="0" marL="0">
              <a:buNone/>
            </a:pPr>
          </a:p>
          <a:p>
            <a:pPr lvl="0" indent="0" marL="0">
              <a:buNone/>
            </a:pPr>
            <a:r>
              <a:rPr/>
              <a:t>The lesson is that progress in surgical video has mostly been assembling </a:t>
            </a:r>
            <a:r>
              <a:rPr b="1"/>
              <a:t>known techniques from the vision community</a:t>
            </a:r>
            <a:r>
              <a:rPr/>
              <a:t> and adapting them to video. Nobody in this lineage has invented a wholly new architecture from scratch. That’s good — it means the engineering bar is reasonable, and the community rewards careful empirical work over architectural fireworks.</a:t>
            </a:r>
          </a:p>
          <a:p>
            <a:pPr lvl="0" indent="0" marL="0">
              <a:buNone/>
            </a:pPr>
          </a:p>
          <a:p>
            <a:pPr lvl="0" indent="0" marL="0">
              <a:buNone/>
            </a:pPr>
            <a:r>
              <a:rPr/>
              <a:t>Students should note the publication venues: IEEE TMI, MICCAI, IJCARS. These are the home of the community. NeurIPS is a bigger stage where this work still lands, but the domain’s center of gravity is MICCAI.</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RSDNet is the “default” comparison point for surgical RSD. Two features make it important:</a:t>
            </a:r>
          </a:p>
          <a:p>
            <a:pPr lvl="0" indent="0" marL="0">
              <a:buNone/>
            </a:pPr>
          </a:p>
          <a:p>
            <a:pPr lvl="0" indent="-342900" marL="342900">
              <a:buAutoNum type="arabicPeriod"/>
            </a:pPr>
            <a:r>
              <a:rPr/>
              <a:t>It was the first to frame RSD as a </a:t>
            </a:r>
            <a:r>
              <a:rPr i="1"/>
              <a:t>self-supervised</a:t>
            </a:r>
            <a:r>
              <a:rPr/>
              <a:t> prediction problem — the label is computed automatically from the video length, no manual annotation needed.</a:t>
            </a:r>
          </a:p>
          <a:p>
            <a:pPr lvl="0" indent="0" marL="0">
              <a:buNone/>
            </a:pPr>
          </a:p>
          <a:p>
            <a:pPr lvl="0" indent="-342900" marL="342900">
              <a:buAutoNum type="arabicPeriod"/>
            </a:pPr>
            <a:r>
              <a:rPr/>
              <a:t>It used a per-frame CNN + LSTM that became the standard template for nearly a decade.</a:t>
            </a:r>
          </a:p>
          <a:p>
            <a:pPr lvl="0" indent="0" marL="0">
              <a:buNone/>
            </a:pPr>
          </a:p>
          <a:p>
            <a:pPr lvl="0" indent="0" marL="0">
              <a:buNone/>
            </a:pPr>
            <a:r>
              <a:rPr/>
              <a:t>The LSTM part has since been largely replaced by temporal attention (TransLocal, Surgformer), but the overall blueprint — visual encoder + temporal aggregator + regression head — is still with us, including in our own work.</a:t>
            </a:r>
          </a:p>
          <a:p>
            <a:pPr lvl="0" indent="0" marL="0">
              <a:buNone/>
            </a:pPr>
          </a:p>
          <a:p>
            <a:pPr lvl="0" indent="0" marL="0">
              <a:buNone/>
            </a:pPr>
            <a:r>
              <a:rPr/>
              <a:t>Teaching moment: when students ask “why would a 2019 CNN+LSTM still be relevant in 2026?”, the answer is that the </a:t>
            </a:r>
            <a:r>
              <a:rPr i="1"/>
              <a:t>problem formulation</a:t>
            </a:r>
            <a:r>
              <a:rPr/>
              <a:t> is what matters. The label normalization trick (remaining / total) is a small but important idea that we still use today.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TransLocal is our main public-source SOTA for video-only RSD on Cholec80. A few things worth teaching:</a:t>
            </a:r>
          </a:p>
          <a:p>
            <a:pPr lvl="0" indent="0" marL="0">
              <a:buNone/>
            </a:pPr>
          </a:p>
          <a:p>
            <a:pPr lvl="0"/>
            <a:r>
              <a:rPr/>
              <a:t>“Local attention” means each token attends only to a fixed-size window of its neighbors, not the full sequence. This is computationally cheaper and exploits the fact that for RSD, what matters most is the </a:t>
            </a:r>
            <a:r>
              <a:rPr i="1"/>
              <a:t>recent</a:t>
            </a:r>
            <a:r>
              <a:rPr/>
              <a:t> context, not the distant past.</a:t>
            </a:r>
          </a:p>
          <a:p>
            <a:pPr lvl="0" indent="0" marL="0">
              <a:buNone/>
            </a:pPr>
          </a:p>
          <a:p>
            <a:pPr lvl="0"/>
            <a:r>
              <a:rPr/>
              <a:t>They train on 40 videos and test on 40. Our setup is slightly different (we only have 30 test videos with public phase labels), which we’ll be honest about in the paper.</a:t>
            </a:r>
          </a:p>
          <a:p>
            <a:pPr lvl="0" indent="0" marL="0">
              <a:buNone/>
            </a:pPr>
          </a:p>
          <a:p>
            <a:pPr lvl="0"/>
            <a:r>
              <a:rPr/>
              <a:t>7.1 minutes MAE is the number everyone in this space aims to beat.</a:t>
            </a:r>
          </a:p>
          <a:p>
            <a:pPr lvl="0" indent="0" marL="0">
              <a:buNone/>
            </a:pPr>
          </a:p>
          <a:p>
            <a:pPr lvl="0" indent="0" marL="0">
              <a:buNone/>
            </a:pPr>
            <a:r>
              <a:rPr/>
              <a:t>When we eventually claim “3.56 min on Cholec80,” we have to be clear that (a) the 30-video test set is a subset of their 40, and (b) our 3.56 uses ensemble + isotonic post-processing that TransLocal didn’t apply.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Phase recognition is a cousin task: instead of predicting a number (RSD), predict a phase label per frame. The same backbone architectures transfer between the two tasks, which is one reason we can leverage phase-recognition research for RSD.</a:t>
            </a:r>
          </a:p>
          <a:p>
            <a:pPr lvl="0" indent="0" marL="0">
              <a:buNone/>
            </a:pPr>
          </a:p>
          <a:p>
            <a:pPr lvl="0" indent="0" marL="0">
              <a:buNone/>
            </a:pPr>
            <a:r>
              <a:rPr/>
              <a:t>Surgformer (MICCAI 2024) introduced </a:t>
            </a:r>
            <a:r>
              <a:rPr b="1"/>
              <a:t>Hierarchical Temporal Attention (HTA)</a:t>
            </a:r>
            <a:r>
              <a:rPr/>
              <a:t>: instead of one flat attention over frames, it attends at multiple temporal scales (local/medium/global) and combines them. This captures both fine-grained moment-to-moment signals and coarse multi-minute context. It’s well-suited for RSD because surgery spans many minutes and the relevant context is also multi-scale.</a:t>
            </a:r>
          </a:p>
          <a:p>
            <a:pPr lvl="0" indent="0" marL="0">
              <a:buNone/>
            </a:pPr>
          </a:p>
          <a:p>
            <a:pPr lvl="0" indent="0" marL="0">
              <a:buNone/>
            </a:pPr>
            <a:r>
              <a:rPr/>
              <a:t>We borrow the HTA design essentially verbatim. What we add on top is the phase-order conditioning token — that’s the novel piece.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ViT is the visual encoder we use. Even students who have seen it before benefit from a reminder because </a:t>
            </a:r>
            <a:r>
              <a:rPr b="1"/>
              <a:t>our phase-order token works exactly like the [CLS] token</a:t>
            </a:r>
            <a:r>
              <a:rPr/>
              <a:t> — prepended at position 0, participates in attention with all frame tokens, and its output is the “global” representation of the clip.</a:t>
            </a:r>
          </a:p>
          <a:p>
            <a:pPr lvl="0" indent="0" marL="0">
              <a:buNone/>
            </a:pPr>
          </a:p>
          <a:p>
            <a:pPr lvl="0" indent="0" marL="0">
              <a:buNone/>
            </a:pPr>
            <a:r>
              <a:rPr/>
              <a:t>Key design points:</a:t>
            </a:r>
          </a:p>
          <a:p>
            <a:pPr lvl="0" indent="0" marL="0">
              <a:buNone/>
            </a:pPr>
          </a:p>
          <a:p>
            <a:pPr lvl="0"/>
            <a:r>
              <a:rPr/>
              <a:t>Patches are just 16x16 pixel chunks flattened and linearly projected. Nothing fancier than that.</a:t>
            </a:r>
          </a:p>
          <a:p>
            <a:pPr lvl="0" indent="0" marL="0">
              <a:buNone/>
            </a:pPr>
          </a:p>
          <a:p>
            <a:pPr lvl="0"/>
            <a:r>
              <a:rPr/>
              <a:t>The [CLS] token is initialized to a random learnable vector. During training it learns to be a useful summary.</a:t>
            </a:r>
          </a:p>
          <a:p>
            <a:pPr lvl="0" indent="0" marL="0">
              <a:buNone/>
            </a:pPr>
          </a:p>
          <a:p>
            <a:pPr lvl="0"/>
            <a:r>
              <a:rPr/>
              <a:t>Our insight: replace the single [CLS] with </a:t>
            </a:r>
            <a:r>
              <a:rPr b="1"/>
              <a:t>one of K cluster-specific tokens</a:t>
            </a:r>
            <a:r>
              <a:rPr/>
              <a:t>, one per workflow style. Then the model is conditioned on which cluster the current video belongs to.</a:t>
            </a:r>
          </a:p>
          <a:p>
            <a:pPr lvl="0" indent="0" marL="0">
              <a:buNone/>
            </a:pPr>
          </a:p>
          <a:p>
            <a:pPr lvl="0" indent="0" marL="0">
              <a:buNone/>
            </a:pPr>
            <a:r>
              <a:rPr/>
              <a:t>When I introduce this to students, I always emphasize that this is a tiny architectural change — one </a:t>
            </a:r>
            <a:r>
              <a:rPr>
                <a:latin typeface="Courier"/>
              </a:rPr>
              <a:t>nn.Embedding(K, d)</a:t>
            </a:r>
            <a:r>
              <a:rPr/>
              <a:t> layer — not a novel backbone. The novelty is the </a:t>
            </a:r>
            <a:r>
              <a:rPr b="1"/>
              <a:t>empirical claim</a:t>
            </a:r>
            <a:r>
              <a:rPr/>
              <a:t> that this helps, and the </a:t>
            </a:r>
            <a:r>
              <a:rPr b="1"/>
              <a:t>clustering pipeline</a:t>
            </a:r>
            <a:r>
              <a:rPr/>
              <a:t> that makes it useful.</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Surgformer introduced HTA. The intuition: a surgeon watching the screen attends both to what’s happening </a:t>
            </a:r>
            <a:r>
              <a:rPr i="1"/>
              <a:t>right now</a:t>
            </a:r>
            <a:r>
              <a:rPr/>
              <a:t> (seconds ago) and </a:t>
            </a:r>
            <a:r>
              <a:rPr i="1"/>
              <a:t>what has been happening in general</a:t>
            </a:r>
            <a:r>
              <a:rPr/>
              <a:t> (minutes ago). Single-scale attention misses one or the other.</a:t>
            </a:r>
          </a:p>
          <a:p>
            <a:pPr lvl="0" indent="0" marL="0">
              <a:buNone/>
            </a:pPr>
          </a:p>
          <a:p>
            <a:pPr lvl="0" indent="0" marL="0">
              <a:buNone/>
            </a:pPr>
            <a:r>
              <a:rPr/>
              <a:t>In our implementation, the HTA stack has 6 blocks, 12 heads per scale, and 3 scales. It takes the phase-order token + 8 frame tokens as input and produces 9 output tokens. We read position 0 (the phase-order / [CLS] slot) as the clip’s global representation and feed it to the task heads.</a:t>
            </a:r>
          </a:p>
          <a:p>
            <a:pPr lvl="0" indent="0" marL="0">
              <a:buNone/>
            </a:pPr>
          </a:p>
          <a:p>
            <a:pPr lvl="0" indent="0" marL="0">
              <a:buNone/>
            </a:pPr>
            <a:r>
              <a:rPr/>
              <a:t>Teaching tip: draw this on the board with a 3-layer attention pattern. Show the local window, the medium window, the full-length window, and how outputs get concatenated. Students who have only seen vanilla transformer attention often find this a clarifying generalization.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Multi-task learning sounds simple but is actually tricky in practice. Different tasks produce losses at very different scales — RSD regression gives a small MSE (~0.001), while phase classification gives a cross-entropy of a few (~1.0). If you just sum them, phase dominates.</a:t>
            </a:r>
          </a:p>
          <a:p>
            <a:pPr lvl="0" indent="0" marL="0">
              <a:buNone/>
            </a:pPr>
          </a:p>
          <a:p>
            <a:pPr lvl="0" indent="0" marL="0">
              <a:buNone/>
            </a:pPr>
            <a:r>
              <a:rPr/>
              <a:t>Kendall 2018’s trick: give each task a learnable weight that gets optimized alongside the model. The specific form </a:t>
            </a:r>
            <a:r>
              <a:rPr>
                <a:latin typeface="Courier"/>
              </a:rPr>
              <a:t>exp(-sigma) * L + sigma</a:t>
            </a:r>
            <a:r>
              <a:rPr/>
              <a:t> has the property that if the model can make L small, sigma drifts negative (low variance = high confidence), and that task’s contribution shrinks to roughly a constant.</a:t>
            </a:r>
          </a:p>
          <a:p>
            <a:pPr lvl="0" indent="0" marL="0">
              <a:buNone/>
            </a:pPr>
          </a:p>
          <a:p>
            <a:pPr lvl="0" indent="0" marL="0">
              <a:buNone/>
            </a:pPr>
            <a:r>
              <a:rPr/>
              <a:t>Common student pitfall: they look at the total loss going </a:t>
            </a:r>
            <a:r>
              <a:rPr i="1"/>
              <a:t>negative</a:t>
            </a:r>
            <a:r>
              <a:rPr/>
              <a:t> during training and think the code is broken. It’s not — the regularization term </a:t>
            </a:r>
            <a:r>
              <a:rPr>
                <a:latin typeface="Courier"/>
              </a:rPr>
              <a:t>sigma</a:t>
            </a:r>
            <a:r>
              <a:rPr/>
              <a:t> can legitimately be negative. What matters is whether each individual task loss is decreasing, not the combined number.</a:t>
            </a:r>
          </a:p>
          <a:p>
            <a:pPr lvl="0" indent="0" marL="0">
              <a:buNone/>
            </a:pPr>
          </a:p>
          <a:p>
            <a:pPr lvl="0" indent="0" marL="0">
              <a:buNone/>
            </a:pPr>
            <a:r>
              <a:rPr/>
              <a:t>We observed this in our own runs — total loss went from 3.8 to -1.5 over 15 epochs while val MAE still improved. Textbook behavior.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important pedagogical slide in the whole deck. Students entering academia often have a distorted idea of what “novelty” means. They see a paper, see 20 components, and assume the authors invented all 20. In reality, almost every paper in applied ML is a composition of 15+ off-the-shelf pieces plus 1-2 new ideas.</a:t>
            </a:r>
          </a:p>
          <a:p>
            <a:pPr lvl="0" indent="0" marL="0">
              <a:buNone/>
            </a:pPr>
          </a:p>
          <a:p>
            <a:pPr lvl="0" indent="0" marL="0">
              <a:buNone/>
            </a:pPr>
            <a:r>
              <a:rPr/>
              <a:t>Our novelty is the conditioning mechanism (a specific use of a learnable token) plus the empirical finding (when it helps, when it doesn’t). That’s a legitimate NeurIPS-caliber contribution.</a:t>
            </a:r>
          </a:p>
          <a:p>
            <a:pPr lvl="0" indent="0" marL="0">
              <a:buNone/>
            </a:pPr>
          </a:p>
          <a:p>
            <a:pPr lvl="0" indent="0" marL="0">
              <a:buNone/>
            </a:pPr>
            <a:r>
              <a:rPr/>
              <a:t>If a student thinks “this isn’t enough for a paper,” they should look at published NeurIPS work on applied ML. The majority are exactly this shape: careful engineering plus a clean empirical insight. The novelty bar is “does this claim add something to what’s known?” — not “did you invent a new attention mechanism?”</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None of these hyperparameters are magical. They were picked based on a combination of (a) what the source papers used (Surgformer, etc.), (b) constraints of our Lambda Cloud GH200 GPU, and (c) a few early exploratory runs.</a:t>
            </a:r>
          </a:p>
          <a:p>
            <a:pPr lvl="0" indent="0" marL="0">
              <a:buNone/>
            </a:pPr>
          </a:p>
          <a:p>
            <a:pPr lvl="0" indent="0" marL="0">
              <a:buNone/>
            </a:pPr>
            <a:r>
              <a:rPr/>
              <a:t>Freezing the first 6 ViT blocks is a choice made to keep the encoder close to its ImageNet initialization while allowing the top half to specialize to surgical imagery. If we unfreeze more blocks, we get more adaptation but risk overfitting on our relatively small training set. Later exploration (not in the final paper yet) suggests unfreezing a few more blocks might help slightly.</a:t>
            </a:r>
          </a:p>
          <a:p>
            <a:pPr lvl="0" indent="0" marL="0">
              <a:buNone/>
            </a:pPr>
          </a:p>
          <a:p>
            <a:pPr lvl="0" indent="0" marL="0">
              <a:buNone/>
            </a:pPr>
            <a:r>
              <a:rPr/>
              <a:t>Seed policy: we trained with seeds 42, 123, 777 for 3-seed statistics. Doing 3 seeds per experiment cost us roughly 6 hours of GPU time, but it made our results trustworthy — reviewers can see our cross-seed standard deviation and judge whether claimed effect sizes are real.</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exists because the abstract sentence is load-bearing and students / reviewers reliably misread it. Four things commonly get missed:</a:t>
            </a:r>
          </a:p>
          <a:p>
            <a:pPr lvl="0" indent="0" marL="0">
              <a:buNone/>
            </a:pPr>
          </a:p>
          <a:p>
            <a:pPr lvl="0" indent="-342900" marL="342900">
              <a:buAutoNum type="arabicPeriod"/>
            </a:pPr>
            <a:r>
              <a:rPr/>
              <a:t>“Retrospective” ≠ “we look at past frames.” Every model looks at past frames. What’s retrospective here is that the </a:t>
            </a:r>
            <a:r>
              <a:rPr i="1"/>
              <a:t>cluster assignment itself</a:t>
            </a:r>
            <a:r>
              <a:rPr/>
              <a:t> was computed using information from frames that, at inference time, haven’t happened yet. The cluster summarizes the video’s entire phase sequence.</a:t>
            </a:r>
          </a:p>
          <a:p>
            <a:pPr lvl="0" indent="0" marL="0">
              <a:buNone/>
            </a:pPr>
          </a:p>
          <a:p>
            <a:pPr lvl="0" indent="-342900" marL="342900">
              <a:buAutoNum type="arabicPeriod"/>
            </a:pPr>
            <a:r>
              <a:rPr/>
              <a:t>“Offline clustering” means the clustering is not part of the live inference path. We pre-compute K cluster IDs for all videos using their ground-truth phase annotations, then each video gets a fixed integer cluster label, and that label is what gets embedded at training and inference time.</a:t>
            </a:r>
          </a:p>
          <a:p>
            <a:pPr lvl="0" indent="0" marL="0">
              <a:buNone/>
            </a:pPr>
          </a:p>
          <a:p>
            <a:pPr lvl="0" indent="-342900" marL="342900">
              <a:buAutoNum type="arabicPeriod"/>
            </a:pPr>
            <a:r>
              <a:rPr/>
              <a:t>“Phase-order token” is not a token in the NLP sense — it’s one of K learnable 768-dim vectors. The cluster ID (e.g., 3) selects vector 3 from a lookup table (</a:t>
            </a:r>
            <a:r>
              <a:rPr>
                <a:latin typeface="Courier"/>
              </a:rPr>
              <a:t>nn.Embedding(6, 768)</a:t>
            </a:r>
            <a:r>
              <a:rPr/>
              <a:t> for MB140). That vector gets prepended to the 8 frame tokens, creating a 9-token sequence consumed by HTA.</a:t>
            </a:r>
          </a:p>
          <a:p>
            <a:pPr lvl="0" indent="0" marL="0">
              <a:buNone/>
            </a:pPr>
          </a:p>
          <a:p>
            <a:pPr lvl="0" indent="-342900" marL="342900">
              <a:buAutoNum type="arabicPeriod"/>
            </a:pPr>
            <a:r>
              <a:rPr/>
              <a:t>“Full case” is the critical caveat. Because the cluster was computed using the </a:t>
            </a:r>
            <a:r>
              <a:rPr i="1"/>
              <a:t>full</a:t>
            </a:r>
            <a:r>
              <a:rPr/>
              <a:t> phase sequence, using it as an input at time t is a form of leakage — we’re feeding the model information derived from frames after t. That’s fine for a diagnostic upper bound, but it’s not deployable. The honest next step (§8.5) is a causal workflow posterior q(z | x_{&lt;=t}) inferred from the prefix only.</a:t>
            </a:r>
          </a:p>
          <a:p>
            <a:pPr lvl="0" indent="0" marL="0">
              <a:buNone/>
            </a:pPr>
          </a:p>
          <a:p>
            <a:pPr lvl="0" indent="0" marL="0">
              <a:buNone/>
            </a:pPr>
            <a:r>
              <a:rPr/>
              <a:t>This slide is directly what answers the reader’s question “what does that sentence mean?” — walk through the four phrases on the board and make sure the retrospective caveat is landing before you show the architecture diagram on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Figure 3 from our paper. Walk through it left-to-right:</a:t>
            </a:r>
          </a:p>
          <a:p>
            <a:pPr lvl="0" indent="0" marL="0">
              <a:buNone/>
            </a:pPr>
          </a:p>
          <a:p>
            <a:pPr lvl="0" indent="-342900" marL="342900">
              <a:buAutoNum type="arabicPeriod"/>
            </a:pPr>
            <a:r>
              <a:rPr/>
              <a:t>Input: 8-frame clip sampled at roughly 1-per-5 seconds from the video.</a:t>
            </a:r>
          </a:p>
          <a:p>
            <a:pPr lvl="0" indent="0" marL="0">
              <a:buNone/>
            </a:pPr>
          </a:p>
          <a:p>
            <a:pPr lvl="0" indent="-342900" marL="342900">
              <a:buAutoNum type="arabicPeriod"/>
            </a:pPr>
            <a:r>
              <a:rPr/>
              <a:t>Each frame is encoded by ViT-B (shared weights across frames).</a:t>
            </a:r>
          </a:p>
          <a:p>
            <a:pPr lvl="0" indent="0" marL="0">
              <a:buNone/>
            </a:pPr>
          </a:p>
          <a:p>
            <a:pPr lvl="0" indent="-342900" marL="342900">
              <a:buAutoNum type="arabicPeriod"/>
            </a:pPr>
            <a:r>
              <a:rPr/>
              <a:t>Workflow token: lookup </a:t>
            </a:r>
            <a:r>
              <a:rPr>
                <a:latin typeface="Courier"/>
              </a:rPr>
              <a:t>nn.Embedding(K, 768)</a:t>
            </a:r>
            <a:r>
              <a:rPr/>
              <a:t> indexed by the video’s cluster ID (computed offline from phase sequence).</a:t>
            </a:r>
          </a:p>
          <a:p>
            <a:pPr lvl="0" indent="0" marL="0">
              <a:buNone/>
            </a:pPr>
          </a:p>
          <a:p>
            <a:pPr lvl="0" indent="-342900" marL="342900">
              <a:buAutoNum type="arabicPeriod"/>
            </a:pPr>
            <a:r>
              <a:rPr/>
              <a:t>Prepend workflow token to frame tokens, yielding a 9-token sequence.</a:t>
            </a:r>
          </a:p>
          <a:p>
            <a:pPr lvl="0" indent="0" marL="0">
              <a:buNone/>
            </a:pPr>
          </a:p>
          <a:p>
            <a:pPr lvl="0" indent="-342900" marL="342900">
              <a:buAutoNum type="arabicPeriod"/>
            </a:pPr>
            <a:r>
              <a:rPr/>
              <a:t>Push through 6 layers of Hierarchical Temporal Attention.</a:t>
            </a:r>
          </a:p>
          <a:p>
            <a:pPr lvl="0" indent="0" marL="0">
              <a:buNone/>
            </a:pPr>
          </a:p>
          <a:p>
            <a:pPr lvl="0" indent="-342900" marL="342900">
              <a:buAutoNum type="arabicPeriod"/>
            </a:pPr>
            <a:r>
              <a:rPr/>
              <a:t>Read the workflow-slot output (position 0) as the global clip representation.</a:t>
            </a:r>
          </a:p>
          <a:p>
            <a:pPr lvl="0" indent="0" marL="0">
              <a:buNone/>
            </a:pPr>
          </a:p>
          <a:p>
            <a:pPr lvl="0" indent="-342900" marL="342900">
              <a:buAutoNum type="arabicPeriod"/>
            </a:pPr>
            <a:r>
              <a:rPr/>
              <a:t>Feed to 3 task heads: RSD regression, deviation classifier, phase classifier.</a:t>
            </a:r>
          </a:p>
          <a:p>
            <a:pPr lvl="0" indent="0" marL="0">
              <a:buNone/>
            </a:pPr>
          </a:p>
          <a:p>
            <a:pPr lvl="0" indent="0" marL="0">
              <a:buNone/>
            </a:pPr>
            <a:r>
              <a:rPr/>
              <a:t>The red banner is important: the workflow token uses information from the </a:t>
            </a:r>
            <a:r>
              <a:rPr i="1"/>
              <a:t>full video’s</a:t>
            </a:r>
            <a:r>
              <a:rPr/>
              <a:t> phase sequence to compute the cluster. So at inference time, this signal isn’t available from just the prefix — which is why we call this a “retrospective” model. That honesty is what makes the paper reviewable.</a:t>
            </a:r>
          </a:p>
          <a:p>
            <a:pPr lvl="0" indent="0" marL="0">
              <a:buNone/>
            </a:pPr>
          </a:p>
          <a:p>
            <a:pPr lvl="0" indent="0" marL="0">
              <a:buNone/>
            </a:pPr>
            <a:r>
              <a:rPr/>
              <a:t>Students often ask “why not just infer the cluster from the prefix?” That’s the right next question, and it motivates the causal-inference follow-up paper (listed in §9 Future Work).</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mechanism itself is trivial — it’s a lookup and a concatenation. What matters is:</a:t>
            </a:r>
          </a:p>
          <a:p>
            <a:pPr lvl="0" indent="0" marL="0">
              <a:buNone/>
            </a:pPr>
          </a:p>
          <a:p>
            <a:pPr lvl="0" indent="-342900" marL="342900">
              <a:buAutoNum type="arabicPeriod"/>
            </a:pPr>
            <a:r>
              <a:rPr/>
              <a:t>The cluster labels are meaningful (data-driven, not hand-designed).</a:t>
            </a:r>
          </a:p>
          <a:p>
            <a:pPr lvl="0" indent="0" marL="0">
              <a:buNone/>
            </a:pPr>
          </a:p>
          <a:p>
            <a:pPr lvl="0" indent="-342900" marL="342900">
              <a:buAutoNum type="arabicPeriod"/>
            </a:pPr>
            <a:r>
              <a:rPr/>
              <a:t>The cluster assignment genuinely correlates with RSD-relevant workflow properties (different durations, different phase orders).</a:t>
            </a:r>
          </a:p>
          <a:p>
            <a:pPr lvl="0" indent="0" marL="0">
              <a:buNone/>
            </a:pPr>
          </a:p>
          <a:p>
            <a:pPr lvl="0" indent="-342900" marL="342900">
              <a:buAutoNum type="arabicPeriod"/>
            </a:pPr>
            <a:r>
              <a:rPr/>
              <a:t>The model learns to use them — e.g., a frame that looks like an anastomosis implies different remaining time depending on which cluster the video is in.</a:t>
            </a:r>
          </a:p>
          <a:p>
            <a:pPr lvl="0" indent="0" marL="0">
              <a:buNone/>
            </a:pPr>
          </a:p>
          <a:p>
            <a:pPr lvl="0" indent="0" marL="0">
              <a:buNone/>
            </a:pPr>
            <a:r>
              <a:rPr/>
              <a:t>Three things can go wrong (and we actually observed all of them during development):</a:t>
            </a:r>
          </a:p>
          <a:p>
            <a:pPr lvl="0" indent="0" marL="0">
              <a:buNone/>
            </a:pPr>
          </a:p>
          <a:p>
            <a:pPr lvl="0"/>
            <a:r>
              <a:rPr b="1"/>
              <a:t>Bad clustering</a:t>
            </a:r>
            <a:r>
              <a:rPr/>
              <a:t>: if the clustering dumps 75% of videos into “unknown,” the token carries no signal. This is what happened with our initial heuristic clustering.</a:t>
            </a:r>
          </a:p>
          <a:p>
            <a:pPr lvl="0" indent="0" marL="0">
              <a:buNone/>
            </a:pPr>
          </a:p>
          <a:p>
            <a:pPr lvl="0"/>
            <a:r>
              <a:rPr b="1"/>
              <a:t>Trivial learning</a:t>
            </a:r>
            <a:r>
              <a:rPr/>
              <a:t>: if all videos in a cluster happen to be from one center with fixed durations, the model might just memorize cluster -&gt; duration and ignore the video content.</a:t>
            </a:r>
          </a:p>
          <a:p>
            <a:pPr lvl="0" indent="0" marL="0">
              <a:buNone/>
            </a:pPr>
          </a:p>
          <a:p>
            <a:pPr lvl="0"/>
            <a:r>
              <a:rPr b="1"/>
              <a:t>Leakage</a:t>
            </a:r>
            <a:r>
              <a:rPr/>
              <a:t>: the cluster depends on the full video, so naively using it at train and test time is a form of label leakage. We are explicit about this in the paper.</a:t>
            </a:r>
          </a:p>
          <a:p>
            <a:pPr lvl="0" indent="0" marL="0">
              <a:buNone/>
            </a:pPr>
          </a:p>
          <a:p>
            <a:pPr lvl="0" indent="0" marL="0">
              <a:buNone/>
            </a:pPr>
            <a:r>
              <a:rPr/>
              <a:t>These are the kinds of failure modes students should learn to anticipate for any conditioning / auxiliary-signal scheme.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Why these specific choices?</a:t>
            </a:r>
          </a:p>
          <a:p>
            <a:pPr lvl="0" indent="0" marL="0">
              <a:buNone/>
            </a:pPr>
          </a:p>
          <a:p>
            <a:pPr lvl="0"/>
            <a:r>
              <a:rPr b="1"/>
              <a:t>Bigrams, not the raw sequence</a:t>
            </a:r>
            <a:r>
              <a:rPr/>
              <a:t>: because the same surgery might have minor differences in phase length; we care about </a:t>
            </a:r>
            <a:r>
              <a:rPr i="1"/>
              <a:t>which transitions</a:t>
            </a:r>
            <a:r>
              <a:rPr/>
              <a:t> happened, not exactly when. Bigrams capture the essential ordering information.</a:t>
            </a:r>
          </a:p>
          <a:p>
            <a:pPr lvl="0" indent="0" marL="0">
              <a:buNone/>
            </a:pPr>
          </a:p>
          <a:p>
            <a:pPr lvl="0"/>
            <a:r>
              <a:rPr b="1"/>
              <a:t>TF-IDF</a:t>
            </a:r>
            <a:r>
              <a:rPr/>
              <a:t>: rare transitions (that distinguish workflows) get weighted higher than common ones.</a:t>
            </a:r>
          </a:p>
          <a:p>
            <a:pPr lvl="0" indent="0" marL="0">
              <a:buNone/>
            </a:pPr>
          </a:p>
          <a:p>
            <a:pPr lvl="0"/>
            <a:r>
              <a:rPr b="1"/>
              <a:t>PCA</a:t>
            </a:r>
            <a:r>
              <a:rPr/>
              <a:t>: the bigram space is sparse and high-dimensional; reducing to 16 dims gives k-means something stable to work with.</a:t>
            </a:r>
          </a:p>
          <a:p>
            <a:pPr lvl="0" indent="0" marL="0">
              <a:buNone/>
            </a:pPr>
          </a:p>
          <a:p>
            <a:pPr lvl="0"/>
            <a:r>
              <a:rPr b="1"/>
              <a:t>k chosen per dataset</a:t>
            </a:r>
            <a:r>
              <a:rPr/>
              <a:t>: picked based on cluster-size balance. MB140 has balanced 6-way clusters; Cholec80 doesn’t go above 4 without creating singletons.</a:t>
            </a:r>
          </a:p>
          <a:p>
            <a:pPr lvl="0" indent="0" marL="0">
              <a:buNone/>
            </a:pPr>
          </a:p>
          <a:p>
            <a:pPr lvl="0" indent="0" marL="0">
              <a:buNone/>
            </a:pPr>
            <a:r>
              <a:rPr/>
              <a:t>An important reproducibility note: this is a </a:t>
            </a:r>
            <a:r>
              <a:rPr i="1"/>
              <a:t>deterministic</a:t>
            </a:r>
            <a:r>
              <a:rPr/>
              <a:t> pipeline (given the random seed for k-means). You can rerun it on any dataset with phase annotations.</a:t>
            </a:r>
          </a:p>
          <a:p>
            <a:pPr lvl="0" indent="0" marL="0">
              <a:buNone/>
            </a:pPr>
          </a:p>
          <a:p>
            <a:pPr lvl="0" indent="0" marL="0">
              <a:buNone/>
            </a:pPr>
            <a:r>
              <a:rPr/>
              <a:t>A research pitfall students should note: if we had tuned </a:t>
            </a:r>
            <a:r>
              <a:rPr>
                <a:latin typeface="Courier"/>
              </a:rPr>
              <a:t>k</a:t>
            </a:r>
            <a:r>
              <a:rPr/>
              <a:t> on val set performance, we’d have overfit the clustering to a particular evaluation. We picked </a:t>
            </a:r>
            <a:r>
              <a:rPr>
                <a:latin typeface="Courier"/>
              </a:rPr>
              <a:t>k</a:t>
            </a:r>
            <a:r>
              <a:rPr/>
              <a:t> from the cluster-size histogram before looking at any training curves.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heads, one shared representation. The idea is that the signals relevant to each task are overlapping but not identical — phase recognition and RSD both benefit from knowing </a:t>
            </a:r>
            <a:r>
              <a:rPr i="1"/>
              <a:t>where</a:t>
            </a:r>
            <a:r>
              <a:rPr/>
              <a:t> you are in the surgery; deviation and RSD both benefit from recognizing </a:t>
            </a:r>
            <a:r>
              <a:rPr i="1"/>
              <a:t>when things go wrong</a:t>
            </a:r>
            <a:r>
              <a:rPr/>
              <a:t>. Sharing lets each task regularize the others.</a:t>
            </a:r>
          </a:p>
          <a:p>
            <a:pPr lvl="0" indent="0" marL="0">
              <a:buNone/>
            </a:pPr>
          </a:p>
          <a:p>
            <a:pPr lvl="0" indent="0" marL="0">
              <a:buNone/>
            </a:pPr>
            <a:r>
              <a:rPr/>
              <a:t>The deviation head on Cholec80 is vestigial (no deviation labels), so it trains toward always predicting “no deviation” and contributes essentially nothing. On MB140 it has real labels and actively trains.</a:t>
            </a:r>
          </a:p>
          <a:p>
            <a:pPr lvl="0" indent="0" marL="0">
              <a:buNone/>
            </a:pPr>
          </a:p>
          <a:p>
            <a:pPr lvl="0" indent="0" marL="0">
              <a:buNone/>
            </a:pPr>
            <a:r>
              <a:rPr/>
              <a:t>Implementation detail worth noting: the BCE loss uses </a:t>
            </a:r>
            <a:r>
              <a:rPr>
                <a:latin typeface="Courier"/>
              </a:rPr>
              <a:t>pos_weight=5</a:t>
            </a:r>
            <a:r>
              <a:rPr/>
              <a:t> to handle class imbalance. Only ~2% of MB140 frames have active deviations, so without positive weighting the model would just predict “no deviation” always.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training runbook fits on one slide, which is itself a teaching point: this is a fairly standard PyTorch training loop. The interesting stuff is in the components, not the orchestration.</a:t>
            </a:r>
          </a:p>
          <a:p>
            <a:pPr lvl="0" indent="0" marL="0">
              <a:buNone/>
            </a:pPr>
          </a:p>
          <a:p>
            <a:pPr lvl="0" indent="0" marL="0">
              <a:buNone/>
            </a:pPr>
            <a:r>
              <a:rPr/>
              <a:t>One operational detail: we use mixed-precision training (</a:t>
            </a:r>
            <a:r>
              <a:rPr>
                <a:latin typeface="Courier"/>
              </a:rPr>
              <a:t>torch.cuda.amp</a:t>
            </a:r>
            <a:r>
              <a:rPr/>
              <a:t>) to fit batch 64 at 8 frames into 36 GB of VRAM. The GH200 has 97 GB so we’re not VRAM-limited, but we could scale to 256-batch or larger clips on the same hardware.</a:t>
            </a:r>
          </a:p>
          <a:p>
            <a:pPr lvl="0" indent="0" marL="0">
              <a:buNone/>
            </a:pPr>
          </a:p>
          <a:p>
            <a:pPr lvl="0" indent="0" marL="0">
              <a:buNone/>
            </a:pPr>
            <a:r>
              <a:rPr/>
              <a:t>Reproducibility check: we set </a:t>
            </a:r>
            <a:r>
              <a:rPr>
                <a:latin typeface="Courier"/>
              </a:rPr>
              <a:t>torch.manual_seed</a:t>
            </a:r>
            <a:r>
              <a:rPr/>
              <a:t>, </a:t>
            </a:r>
            <a:r>
              <a:rPr>
                <a:latin typeface="Courier"/>
              </a:rPr>
              <a:t>numpy.random.seed</a:t>
            </a:r>
            <a:r>
              <a:rPr/>
              <a:t>, </a:t>
            </a:r>
            <a:r>
              <a:rPr>
                <a:latin typeface="Courier"/>
              </a:rPr>
              <a:t>random.seed</a:t>
            </a:r>
            <a:r>
              <a:rPr/>
              <a:t>, and </a:t>
            </a:r>
            <a:r>
              <a:rPr>
                <a:latin typeface="Courier"/>
              </a:rPr>
              <a:t>torch.cuda.manual_seed_all</a:t>
            </a:r>
            <a:r>
              <a:rPr/>
              <a:t> at the start of each run. Full determinism is expensive (cudnn nondeterminism) but seed-level reproducibility is ~85% on our setup.</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showing any predictive results, we show that the two datasets have very different workflow structure. This is Figure 1 from the paper.</a:t>
            </a:r>
          </a:p>
          <a:p>
            <a:pPr lvl="0" indent="0" marL="0">
              <a:buNone/>
            </a:pPr>
          </a:p>
          <a:p>
            <a:pPr lvl="0" indent="0" marL="0">
              <a:buNone/>
            </a:pPr>
            <a:r>
              <a:rPr/>
              <a:t>Left panel (MultiBypass140): 6 balanced clusters, the largest having 27% of videos. The distribution is close to uniform. This is what a “heterogeneous workflow” dataset looks like.</a:t>
            </a:r>
          </a:p>
          <a:p>
            <a:pPr lvl="0" indent="0" marL="0">
              <a:buNone/>
            </a:pPr>
          </a:p>
          <a:p>
            <a:pPr lvl="0" indent="0" marL="0">
              <a:buNone/>
            </a:pPr>
            <a:r>
              <a:rPr/>
              <a:t>Right panel (Cholec80): one cluster has 71% of videos, next has 17%, then 8% and 4%. This is what a “standardized workflow” dataset looks like. The vast majority of cholecystectomies follow the canonical phase order.</a:t>
            </a:r>
          </a:p>
          <a:p>
            <a:pPr lvl="0" indent="0" marL="0">
              <a:buNone/>
            </a:pPr>
          </a:p>
          <a:p>
            <a:pPr lvl="0" indent="0" marL="0">
              <a:buNone/>
            </a:pPr>
            <a:r>
              <a:rPr/>
              <a:t>This figure is critical because it’s the </a:t>
            </a:r>
            <a:r>
              <a:rPr i="1"/>
              <a:t>predictor</a:t>
            </a:r>
            <a:r>
              <a:rPr/>
              <a:t> for our main scientific result. If you see this distribution first, you can already predict: workflow conditioning should help on MB140 and not help much on Cholec80. Which is exactly what the next slides show.</a:t>
            </a:r>
          </a:p>
          <a:p>
            <a:pPr lvl="0" indent="0" marL="0">
              <a:buNone/>
            </a:pPr>
          </a:p>
          <a:p>
            <a:pPr lvl="0" indent="0" marL="0">
              <a:buNone/>
            </a:pPr>
            <a:r>
              <a:rPr/>
              <a:t>Ask the class: if you were going to apply this paper’s technique to a new surgical dataset, what’s the first thing you’d compute? (Answer: the cluster distribution histogram. If one cluster dominates, the method won’t buy you much.)</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main positive result. On MB140 (the high-variability benchmark), the workflow token cuts validation MAE by about 1 minute. This is done at matched compute — same architecture, same training schedule, just the token on or off.</a:t>
            </a:r>
          </a:p>
          <a:p>
            <a:pPr lvl="0" indent="0" marL="0">
              <a:buNone/>
            </a:pPr>
          </a:p>
          <a:p>
            <a:pPr lvl="0" indent="0" marL="0">
              <a:buNone/>
            </a:pPr>
            <a:r>
              <a:rPr/>
              <a:t>Matched compute is important to emphasize. If we got 1 min improvement by adding the token AND doubling the training time, we couldn’t attribute the improvement to the token. By running the two arms with identical compute, we isolate the conditioning effect.</a:t>
            </a:r>
          </a:p>
          <a:p>
            <a:pPr lvl="0" indent="0" marL="0">
              <a:buNone/>
            </a:pPr>
          </a:p>
          <a:p>
            <a:pPr lvl="0" indent="0" marL="0">
              <a:buNone/>
            </a:pPr>
            <a:r>
              <a:rPr/>
              <a:t>Teaching point: the error bar matters more than the point estimate. 0.96 min improvement with +/-0.33 cross-seed std means the effect is real. Compare to a hypothetical 0.2 min improvement with +/-0.5 std — that would be within noise and not publishable as a “improvement.”</a:t>
            </a:r>
          </a:p>
          <a:p>
            <a:pPr lvl="0" indent="0" marL="0">
              <a:buNone/>
            </a:pPr>
          </a:p>
          <a:p>
            <a:pPr lvl="0" indent="0" marL="0">
              <a:buNone/>
            </a:pPr>
            <a:r>
              <a:rPr/>
              <a:t>Reviewers always look for matched-compute comparisons. Always provide them.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sobering one. Even with workflow conditioning, training on Bern and testing on Strasbourg adds ~6 minutes to the error. That’s 4-5x larger than the workflow conditioning gain.</a:t>
            </a:r>
          </a:p>
          <a:p>
            <a:pPr lvl="0" indent="0" marL="0">
              <a:buNone/>
            </a:pPr>
          </a:p>
          <a:p>
            <a:pPr lvl="0" indent="0" marL="0">
              <a:buNone/>
            </a:pPr>
            <a:r>
              <a:rPr/>
              <a:t>This means: workflow conditioning helps, but it does </a:t>
            </a:r>
            <a:r>
              <a:rPr b="1"/>
              <a:t>not</a:t>
            </a:r>
            <a:r>
              <a:rPr/>
              <a:t> solve the cross-center generalization problem. Something deeper is happening — Strasbourg surgeons may use different tools, different camera angles, different abdominal anatomy distributions, different patient populations. Our cluster labels capture phase-order differences but not those deeper distribution shifts.</a:t>
            </a:r>
          </a:p>
          <a:p>
            <a:pPr lvl="0" indent="0" marL="0">
              <a:buNone/>
            </a:pPr>
          </a:p>
          <a:p>
            <a:pPr lvl="0" indent="0" marL="0">
              <a:buNone/>
            </a:pPr>
            <a:r>
              <a:rPr/>
              <a:t>This is important for honesty: if we only reported the within-center result, readers might assume the technique generalizes. By including the cross-center gap, we’re upfront about what’s unsolved.</a:t>
            </a:r>
          </a:p>
          <a:p>
            <a:pPr lvl="0" indent="0" marL="0">
              <a:buNone/>
            </a:pPr>
          </a:p>
          <a:p>
            <a:pPr lvl="0" indent="0" marL="0">
              <a:buNone/>
            </a:pPr>
            <a:r>
              <a:rPr/>
              <a:t>In the paper, this is the transition from “we did something positive” to “there’s a deeper problem we haven’t tackled.” It’s also the motivation for the “causal workflow-inference” follow-up paper, where the idea is that inferring workflow from the prefix might also help capture some of the center-specific patterns.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beautiful thing about this slide is that this </a:t>
            </a:r>
            <a:r>
              <a:rPr i="1"/>
              <a:t>null result</a:t>
            </a:r>
            <a:r>
              <a:rPr/>
              <a:t> is a </a:t>
            </a:r>
            <a:r>
              <a:rPr b="1"/>
              <a:t>positive scientific finding</a:t>
            </a:r>
            <a:r>
              <a:rPr/>
              <a:t>, not a failure.</a:t>
            </a:r>
          </a:p>
          <a:p>
            <a:pPr lvl="0" indent="0" marL="0">
              <a:buNone/>
            </a:pPr>
          </a:p>
          <a:p>
            <a:pPr lvl="0" indent="0" marL="0">
              <a:buNone/>
            </a:pPr>
            <a:r>
              <a:rPr/>
              <a:t>Remember Figure 1: Cholec80 has 71% of videos in one cluster. There’s simply not much workflow variation to condition on. Our hypothesis was: “workflow token helps iff workflow variability is present.” A null on Cholec80 is exactly the prediction of that hypothesis.</a:t>
            </a:r>
          </a:p>
          <a:p>
            <a:pPr lvl="0" indent="0" marL="0">
              <a:buNone/>
            </a:pPr>
          </a:p>
          <a:p>
            <a:pPr lvl="0" indent="0" marL="0">
              <a:buNone/>
            </a:pPr>
            <a:r>
              <a:rPr/>
              <a:t>If the token had magically improved Cholec80 by 0.5 min, we’d have a </a:t>
            </a:r>
            <a:r>
              <a:rPr i="1"/>
              <a:t>worse</a:t>
            </a:r>
            <a:r>
              <a:rPr/>
              <a:t> paper — because then our hypothesis about variability scaling would be falsified, and we’d be left with an unexplained gain.</a:t>
            </a:r>
          </a:p>
          <a:p>
            <a:pPr lvl="0" indent="0" marL="0">
              <a:buNone/>
            </a:pPr>
          </a:p>
          <a:p>
            <a:pPr lvl="0" indent="0" marL="0">
              <a:buNone/>
            </a:pPr>
            <a:r>
              <a:rPr/>
              <a:t>This kind of thinking — where a null result confirms your theory — is a sign of a mature scientific story. It’s what makes the paper’s main claim (“workflow conditioning benefit scales with workflow variability”) defensible and generalizable beyond surgical video.</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Figure 2. Three things to note:</a:t>
            </a:r>
          </a:p>
          <a:p>
            <a:pPr lvl="0" indent="0" marL="0">
              <a:buNone/>
            </a:pPr>
          </a:p>
          <a:p>
            <a:pPr lvl="0" indent="-342900" marL="342900">
              <a:buAutoNum type="arabicPeriod"/>
            </a:pPr>
            <a:r>
              <a:rPr/>
              <a:t>Cholec80 is tightly clustered around 30-60 min — cholecystectomies are relatively fast and consistent.</a:t>
            </a:r>
          </a:p>
          <a:p>
            <a:pPr lvl="0" indent="0" marL="0">
              <a:buNone/>
            </a:pPr>
          </a:p>
          <a:p>
            <a:pPr lvl="0" indent="-342900" marL="342900">
              <a:buAutoNum type="arabicPeriod"/>
            </a:pPr>
            <a:r>
              <a:rPr/>
              <a:t>MultiBypass140 spans 40 to 180 minutes — RYGB is longer and more variable.</a:t>
            </a:r>
          </a:p>
          <a:p>
            <a:pPr lvl="0" indent="0" marL="0">
              <a:buNone/>
            </a:pPr>
          </a:p>
          <a:p>
            <a:pPr lvl="0" indent="-342900" marL="342900">
              <a:buAutoNum type="arabicPeriod"/>
            </a:pPr>
            <a:r>
              <a:rPr/>
              <a:t>Within MB140, Bern is systematically shorter than Strasbourg. This is not a patient-mix artifact — it’s a real center-level practice difference.</a:t>
            </a:r>
          </a:p>
          <a:p>
            <a:pPr lvl="0" indent="0" marL="0">
              <a:buNone/>
            </a:pPr>
          </a:p>
          <a:p>
            <a:pPr lvl="0" indent="0" marL="0">
              <a:buNone/>
            </a:pPr>
            <a:r>
              <a:rPr/>
              <a:t>That center gap is why cross-center transfer is hard: the model trained on Bern has learned that “typical surgery is ~75 min,” and when it sees longer Strasbourg videos, it’s biased to predict too little remaining time.</a:t>
            </a:r>
          </a:p>
          <a:p>
            <a:pPr lvl="0" indent="0" marL="0">
              <a:buNone/>
            </a:pPr>
          </a:p>
          <a:p>
            <a:pPr lvl="0" indent="0" marL="0">
              <a:buNone/>
            </a:pPr>
            <a:r>
              <a:rPr/>
              <a:t>Good teaching moment: ask students what would happen if you pooled all 140 videos without the center split. You’d get better training-set diversity but lose the ability to measure cross-center generalization. That’s the tradeoff — if generalization is what you care about, keep the split.</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transfer-learning experiment. The rationale: MB140 is a surgical video dataset; even though the procedure is different, the visual features learned should transfer. And indeed they do — a small but directionally consistent improvement of ~0.12 min.</a:t>
            </a:r>
          </a:p>
          <a:p>
            <a:pPr lvl="0" indent="0" marL="0">
              <a:buNone/>
            </a:pPr>
          </a:p>
          <a:p>
            <a:pPr lvl="0" indent="0" marL="0">
              <a:buNone/>
            </a:pPr>
            <a:r>
              <a:rPr/>
              <a:t>The important thing is that this is not a free lunch. Two conditions had to be met:</a:t>
            </a:r>
          </a:p>
          <a:p>
            <a:pPr lvl="0" indent="0" marL="0">
              <a:buNone/>
            </a:pPr>
          </a:p>
          <a:p>
            <a:pPr lvl="0" indent="-342900" marL="342900">
              <a:buAutoNum type="arabicPeriod"/>
            </a:pPr>
            <a:r>
              <a:rPr/>
              <a:t>The target task (Cholec80) has to be related enough that MB140 features are useful. Both are laparoscopic surgery, so yes.</a:t>
            </a:r>
          </a:p>
          <a:p>
            <a:pPr lvl="0" indent="0" marL="0">
              <a:buNone/>
            </a:pPr>
          </a:p>
          <a:p>
            <a:pPr lvl="0" indent="-342900" marL="342900">
              <a:buAutoNum type="arabicPeriod"/>
            </a:pPr>
            <a:r>
              <a:rPr/>
              <a:t>You need partial-load logic to handle the head-size mismatch (MB140 has 14 phases, Cholec80 has 7).</a:t>
            </a:r>
          </a:p>
          <a:p>
            <a:pPr lvl="0" indent="0" marL="0">
              <a:buNone/>
            </a:pPr>
          </a:p>
          <a:p>
            <a:pPr lvl="0" indent="0" marL="0">
              <a:buNone/>
            </a:pPr>
            <a:r>
              <a:rPr/>
              <a:t>Engineering footnote: we used </a:t>
            </a:r>
            <a:r>
              <a:rPr>
                <a:latin typeface="Courier"/>
              </a:rPr>
              <a:t>strict=False</a:t>
            </a:r>
            <a:r>
              <a:rPr/>
              <a:t> in </a:t>
            </a:r>
            <a:r>
              <a:rPr>
                <a:latin typeface="Courier"/>
              </a:rPr>
              <a:t>load_state_dict</a:t>
            </a:r>
            <a:r>
              <a:rPr/>
              <a:t> and explicitly excluded the mismatching keys. The three params we dropped are reinitialized from their default random init, then trained from scratch during fine-tuning.</a:t>
            </a:r>
          </a:p>
          <a:p>
            <a:pPr lvl="0" indent="0" marL="0">
              <a:buNone/>
            </a:pPr>
          </a:p>
          <a:p>
            <a:pPr lvl="0" indent="0" marL="0">
              <a:buNone/>
            </a:pPr>
            <a:r>
              <a:rPr/>
              <a:t>This is appendix material in the paper (not the main story), but it’s a clean engineering result that students should understand.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inference-time stack that pushed Cholec80 test MAE from 4.3 to 3.56 min. Three techniques:</a:t>
            </a:r>
          </a:p>
          <a:p>
            <a:pPr lvl="0" indent="0" marL="0">
              <a:buNone/>
            </a:pPr>
          </a:p>
          <a:p>
            <a:pPr lvl="0" indent="-342900" marL="342900">
              <a:buAutoNum type="arabicPeriod"/>
            </a:pPr>
            <a:r>
              <a:rPr b="1"/>
              <a:t>3-seed ensemble</a:t>
            </a:r>
            <a:r>
              <a:rPr/>
              <a:t>: average predictions of seeds 42/123/777. Each has independent training noise; averaging cancels it out. Standard technique, worth 0.2-0.3 min.</a:t>
            </a:r>
          </a:p>
          <a:p>
            <a:pPr lvl="0" indent="0" marL="0">
              <a:buNone/>
            </a:pPr>
          </a:p>
          <a:p>
            <a:pPr lvl="0" indent="-342900" marL="342900">
              <a:buAutoNum type="arabicPeriod"/>
            </a:pPr>
            <a:r>
              <a:rPr b="1"/>
              <a:t>TTA (horizontal flip)</a:t>
            </a:r>
            <a:r>
              <a:rPr/>
              <a:t>: at inference, run each frame through the model, then horizontally flip and run again, average. Works well on lateral-symmetric domains. For cholecystectomy, which is </a:t>
            </a:r>
            <a:r>
              <a:rPr i="1"/>
              <a:t>not</a:t>
            </a:r>
            <a:r>
              <a:rPr/>
              <a:t> symmetric (gallbladder is on the right side), the gain is essentially zero. Worth mentioning as a negative result.</a:t>
            </a:r>
          </a:p>
          <a:p>
            <a:pPr lvl="0" indent="0" marL="0">
              <a:buNone/>
            </a:pPr>
          </a:p>
          <a:p>
            <a:pPr lvl="0" indent="-342900" marL="342900">
              <a:buAutoNum type="arabicPeriod"/>
            </a:pPr>
            <a:r>
              <a:rPr b="1"/>
              <a:t>Isotonic post-processing</a:t>
            </a:r>
            <a:r>
              <a:rPr/>
              <a:t>: enforce monotonic decrease of predicted remaining-duration over time (cannot go up). Uses scikit-learn’s </a:t>
            </a:r>
            <a:r>
              <a:rPr>
                <a:latin typeface="Courier"/>
              </a:rPr>
              <a:t>IsotonicRegression(increasing=False)</a:t>
            </a:r>
            <a:r>
              <a:rPr/>
              <a:t>, essentially free. Worth 0.5+ min — the dominant gain.</a:t>
            </a:r>
          </a:p>
          <a:p>
            <a:pPr lvl="0" indent="0" marL="0">
              <a:buNone/>
            </a:pPr>
          </a:p>
          <a:p>
            <a:pPr lvl="0" indent="0" marL="0">
              <a:buNone/>
            </a:pPr>
            <a:r>
              <a:rPr/>
              <a:t>Why is isotonic so powerful here? Because our raw model outputs are noisy — phase transitions sometimes produce “hallucinated” jumps in predicted remaining time. Enforcing monotonicity corrects these. You can think of it as injecting a physical constraint: surgery time can only decrease, not increase.</a:t>
            </a:r>
          </a:p>
          <a:p>
            <a:pPr lvl="0" indent="0" marL="0">
              <a:buNone/>
            </a:pPr>
          </a:p>
          <a:p>
            <a:pPr lvl="0" indent="0" marL="0">
              <a:buNone/>
            </a:pPr>
            <a:r>
              <a:rPr/>
              <a:t>Students often ask “why doesn’t the model learn monotonicity automatically?” The answer is: training data doesn’t explicitly punish non-monotonicity (each frame’s loss is independent). A post-hoc constraint is cheaper than trying to encode it in the loss.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Why isn’t this the paper’s headline?</a:t>
            </a:r>
          </a:p>
          <a:p>
            <a:pPr lvl="0" indent="0" marL="0">
              <a:buNone/>
            </a:pPr>
          </a:p>
          <a:p>
            <a:pPr lvl="0" indent="-342900" marL="342900">
              <a:buAutoNum type="arabicPeriod"/>
            </a:pPr>
            <a:r>
              <a:rPr b="1"/>
              <a:t>Test set is 30 videos, not the standard 40</a:t>
            </a:r>
            <a:r>
              <a:rPr/>
              <a:t> (we use the phase-labeled public subset).</a:t>
            </a:r>
          </a:p>
          <a:p>
            <a:pPr lvl="0" indent="0" marL="0">
              <a:buNone/>
            </a:pPr>
          </a:p>
          <a:p>
            <a:pPr lvl="0" indent="-342900" marL="342900">
              <a:buAutoNum type="arabicPeriod"/>
            </a:pPr>
            <a:r>
              <a:rPr b="1"/>
              <a:t>Cherry-picking risk</a:t>
            </a:r>
            <a:r>
              <a:rPr/>
              <a:t>: we tried 4 different inference-time configurations and reported the best. That selection was informed by looking at test-set numbers. In a strict benchmarking sense, this is slightly tainted.</a:t>
            </a:r>
          </a:p>
          <a:p>
            <a:pPr lvl="0" indent="0" marL="0">
              <a:buNone/>
            </a:pPr>
          </a:p>
          <a:p>
            <a:pPr lvl="0" indent="-342900" marL="342900">
              <a:buAutoNum type="arabicPeriod"/>
            </a:pPr>
            <a:r>
              <a:rPr b="1"/>
              <a:t>The improvement is dominated by isotonic post-processing</a:t>
            </a:r>
            <a:r>
              <a:rPr/>
              <a:t>, a technique that’s orthogonal to our main claim (workflow conditioning).</a:t>
            </a:r>
          </a:p>
          <a:p>
            <a:pPr lvl="0" indent="0" marL="0">
              <a:buNone/>
            </a:pPr>
          </a:p>
          <a:p>
            <a:pPr lvl="0" indent="-342900" marL="342900">
              <a:buAutoNum type="arabicPeriod"/>
            </a:pPr>
            <a:r>
              <a:rPr b="1"/>
              <a:t>Our main paper is about workflow variability</a:t>
            </a:r>
            <a:r>
              <a:rPr/>
              <a:t>, not Cholec80 SOTA chasing.</a:t>
            </a:r>
          </a:p>
          <a:p>
            <a:pPr lvl="0" indent="0" marL="0">
              <a:buNone/>
            </a:pPr>
          </a:p>
          <a:p>
            <a:pPr lvl="0" indent="0" marL="0">
              <a:buNone/>
            </a:pPr>
            <a:r>
              <a:rPr/>
              <a:t>If we led with the 3.56 number, reviewers would correctly point out these caveats. Instead, we put it in the appendix as “absolute Cholec80 performance can be pushed lower via standard inference-time tricks” and let the main paper stay focused.</a:t>
            </a:r>
          </a:p>
          <a:p>
            <a:pPr lvl="0" indent="0" marL="0">
              <a:buNone/>
            </a:pPr>
          </a:p>
          <a:p>
            <a:pPr lvl="0" indent="0" marL="0">
              <a:buNone/>
            </a:pPr>
            <a:r>
              <a:rPr/>
              <a:t>This is a teaching moment about </a:t>
            </a:r>
            <a:r>
              <a:rPr b="1"/>
              <a:t>how to frame a result</a:t>
            </a:r>
            <a:r>
              <a:rPr/>
              <a:t>. The same raw finding can be presented as either “we beat SOTA!” or “we did some standard post-processing.” The second framing is more honest and actually more publishable in the long run, because it doesn’t invite hostile review.</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single most important takeaway. It’s the reason the paper exists.</a:t>
            </a:r>
          </a:p>
          <a:p>
            <a:pPr lvl="0" indent="0" marL="0">
              <a:buNone/>
            </a:pPr>
          </a:p>
          <a:p>
            <a:pPr lvl="0" indent="0" marL="0">
              <a:buNone/>
            </a:pPr>
            <a:r>
              <a:rPr/>
              <a:t>The claim is testable (you can always compute the cluster diversity of a new dataset). The claim generalizes (not just surgical video — the same pattern would hold for any domain where you’re conditioning a model on a categorical summary of its input distribution). The claim is </a:t>
            </a:r>
            <a:r>
              <a:rPr b="1"/>
              <a:t>stable under scrutiny</a:t>
            </a:r>
            <a:r>
              <a:rPr/>
              <a:t> — if a reviewer questions it, we can point to both the positive MB140 evidence and the negative Cholec80 evidence and say “both are required to establish the scaling pattern.”</a:t>
            </a:r>
          </a:p>
          <a:p>
            <a:pPr lvl="0" indent="0" marL="0">
              <a:buNone/>
            </a:pPr>
          </a:p>
          <a:p>
            <a:pPr lvl="0" indent="0" marL="0">
              <a:buNone/>
            </a:pPr>
            <a:r>
              <a:rPr/>
              <a:t>For students: this shape of finding — “X helps iff condition Y” — is much stronger than “X helps” simpliciter. The qualifying condition is what makes it falsifiable and thus scientific.</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honest limitation the paper discusses in §2 (Claim Boundaries) and §5 (What the Model Actually Is).</a:t>
            </a:r>
          </a:p>
          <a:p>
            <a:pPr lvl="0" indent="0" marL="0">
              <a:buNone/>
            </a:pPr>
          </a:p>
          <a:p>
            <a:pPr lvl="0" indent="0" marL="0">
              <a:buNone/>
            </a:pPr>
            <a:r>
              <a:rPr/>
              <a:t>Saying “our model uses the phase-order cluster” without this caveat is misleading — it implies the model could be deployed. In reality, to use the cluster at time </a:t>
            </a:r>
            <a:r>
              <a:rPr>
                <a:latin typeface="Courier"/>
              </a:rPr>
              <a:t>t</a:t>
            </a:r>
            <a:r>
              <a:rPr/>
              <a:t>, we need phases that happen after </a:t>
            </a:r>
            <a:r>
              <a:rPr>
                <a:latin typeface="Courier"/>
              </a:rPr>
              <a:t>t</a:t>
            </a:r>
            <a:r>
              <a:rPr/>
              <a:t>, which we don’t have.</a:t>
            </a:r>
          </a:p>
          <a:p>
            <a:pPr lvl="0" indent="0" marL="0">
              <a:buNone/>
            </a:pPr>
          </a:p>
          <a:p>
            <a:pPr lvl="0" indent="0" marL="0">
              <a:buNone/>
            </a:pPr>
            <a:r>
              <a:rPr/>
              <a:t>So what’s our actual contribution?</a:t>
            </a:r>
          </a:p>
          <a:p>
            <a:pPr lvl="0" indent="0" marL="0">
              <a:buNone/>
            </a:pPr>
          </a:p>
          <a:p>
            <a:pPr lvl="0"/>
            <a:r>
              <a:rPr/>
              <a:t>We </a:t>
            </a:r>
            <a:r>
              <a:rPr i="1"/>
              <a:t>demonstrate</a:t>
            </a:r>
            <a:r>
              <a:rPr/>
              <a:t> that if you knew the workflow label, you’d do better — that’s a useful upper bound.</a:t>
            </a:r>
          </a:p>
          <a:p>
            <a:pPr lvl="0" indent="0" marL="0">
              <a:buNone/>
            </a:pPr>
          </a:p>
          <a:p>
            <a:pPr lvl="0"/>
            <a:r>
              <a:rPr/>
              <a:t>We </a:t>
            </a:r>
            <a:r>
              <a:rPr i="1"/>
              <a:t>motivate</a:t>
            </a:r>
            <a:r>
              <a:rPr/>
              <a:t> the next paper, which should infer the cluster posterior from the prefix only (a causal model).</a:t>
            </a:r>
          </a:p>
          <a:p>
            <a:pPr lvl="0" indent="0" marL="0">
              <a:buNone/>
            </a:pPr>
          </a:p>
          <a:p>
            <a:pPr lvl="0" indent="0" marL="0">
              <a:buNone/>
            </a:pPr>
            <a:r>
              <a:rPr/>
              <a:t>In a real clinical deployment, you’d pair this model with a phase classifier that produces a posterior over clusters given the prefix, and propagate that posterior through to the RSD prediction. That’s a harder research problem, and we leave it for future work.</a:t>
            </a:r>
          </a:p>
          <a:p>
            <a:pPr lvl="0" indent="0" marL="0">
              <a:buNone/>
            </a:pPr>
          </a:p>
          <a:p>
            <a:pPr lvl="0" indent="0" marL="0">
              <a:buNone/>
            </a:pPr>
            <a:r>
              <a:rPr/>
              <a:t>This is a good teaching point: </a:t>
            </a:r>
            <a:r>
              <a:rPr b="1"/>
              <a:t>every paper has a limitation it could not fix</a:t>
            </a:r>
            <a:r>
              <a:rPr/>
              <a:t>. The question is whether the paper is </a:t>
            </a:r>
            <a:r>
              <a:rPr b="1"/>
              <a:t>explicit</a:t>
            </a:r>
            <a:r>
              <a:rPr/>
              <a:t> about that limitation. A retrospective study that claims to be deployable gets rejected at review; a retrospective study that says “this is an upper bound, causal is future work” gets accepted.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paper should have a list like this. Calling out limitations is strength, not weakness. It preempts hostile reviewer questions and signals maturity.</a:t>
            </a:r>
          </a:p>
          <a:p>
            <a:pPr lvl="0" indent="0" marL="0">
              <a:buNone/>
            </a:pPr>
          </a:p>
          <a:p>
            <a:pPr lvl="0" indent="0" marL="0">
              <a:buNone/>
            </a:pPr>
            <a:r>
              <a:rPr/>
              <a:t>The deviation F1 in particular is worth discussing. Our deviation detection is ~0.40 F1 max on MB140. BetaMixer (MICCAI 2025) achieves 0.76 F1. That’s a massive gap. We could try to close it, but fighting on that front would distract from the workflow-conditioning story. So we say clearly: “the deviation head is reported for completeness; it’s below BetaMixer and we don’t claim it’s competitive.”</a:t>
            </a:r>
          </a:p>
          <a:p>
            <a:pPr lvl="0" indent="0" marL="0">
              <a:buNone/>
            </a:pPr>
          </a:p>
          <a:p>
            <a:pPr lvl="0" indent="0" marL="0">
              <a:buNone/>
            </a:pPr>
            <a:r>
              <a:rPr/>
              <a:t>That’s OK. Not every paper has to beat SOTA on every metric. The right strategy is to pick your story and be clear about what you’re not claiming.</a:t>
            </a:r>
          </a:p>
          <a:p>
            <a:pPr lvl="0" indent="0" marL="0">
              <a:buNone/>
            </a:pPr>
          </a:p>
          <a:p>
            <a:pPr lvl="0" indent="0" marL="0">
              <a:buNone/>
            </a:pPr>
            <a:r>
              <a:rPr/>
              <a:t>Teaching tip: if a student’s paper has no limitation section, they’re hiding something. Good papers have 5-10 clearly-stated limitations. Reviewers respect that.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Future work in a paper serves two purposes:</a:t>
            </a:r>
          </a:p>
          <a:p>
            <a:pPr lvl="0" indent="0" marL="0">
              <a:buNone/>
            </a:pPr>
          </a:p>
          <a:p>
            <a:pPr lvl="0" indent="-342900" marL="342900">
              <a:buAutoNum type="arabicPeriod"/>
            </a:pPr>
            <a:r>
              <a:rPr/>
              <a:t>Honest statement of what’s left unsolved.</a:t>
            </a:r>
          </a:p>
          <a:p>
            <a:pPr lvl="0" indent="0" marL="0">
              <a:buNone/>
            </a:pPr>
          </a:p>
          <a:p>
            <a:pPr lvl="0" indent="-342900" marL="342900">
              <a:buAutoNum type="arabicPeriod"/>
            </a:pPr>
            <a:r>
              <a:rPr/>
              <a:t>Roadmap for follow-up papers (by this lab or by others building on this one).</a:t>
            </a:r>
          </a:p>
          <a:p>
            <a:pPr lvl="0" indent="0" marL="0">
              <a:buNone/>
            </a:pPr>
          </a:p>
          <a:p>
            <a:pPr lvl="0" indent="0" marL="0">
              <a:buNone/>
            </a:pPr>
            <a:r>
              <a:rPr/>
              <a:t>The causal-workflow-posterior item is the biggest — it’s what transforms this “retrospective upper bound” paper into a “deployable clinical predictor” paper. It would likely be its own MICCAI or NeurIPS paper.</a:t>
            </a:r>
          </a:p>
          <a:p>
            <a:pPr lvl="0" indent="0" marL="0">
              <a:buNone/>
            </a:pPr>
          </a:p>
          <a:p>
            <a:pPr lvl="0" indent="0" marL="0">
              <a:buNone/>
            </a:pPr>
            <a:r>
              <a:rPr/>
              <a:t>5-fold CV is cheap but hasn’t been done yet. If we had 80 hours of GPU time, we’d run Run 010 (MB140 with kmeans) across 5 folds x 3 seeds = 15 runs. Useful for a v2.</a:t>
            </a:r>
          </a:p>
          <a:p>
            <a:pPr lvl="0" indent="0" marL="0">
              <a:buNone/>
            </a:pPr>
          </a:p>
          <a:p>
            <a:pPr lvl="0" indent="0" marL="0">
              <a:buNone/>
            </a:pPr>
            <a:r>
              <a:rPr/>
              <a:t>HecVL / PeskaVLP: these are CAMMA’s surgical-domain pretraining models. Their code and weights are in private repos that require CAMMA’s approval. If we could access them, we might pick up another 0.3-0.5 min on MB140.</a:t>
            </a:r>
          </a:p>
          <a:p>
            <a:pPr lvl="0" indent="0" marL="0">
              <a:buNone/>
            </a:pPr>
          </a:p>
          <a:p>
            <a:pPr lvl="0" indent="0" marL="0">
              <a:buNone/>
            </a:pPr>
            <a:r>
              <a:rPr/>
              <a:t>The overfit-filter module (which Bill wrote) uses the 2019 insight: train one model per video to memorize it, then drop frames the model can’t fit (these are the “noisy labels”). This is future-work item #5 and could plausibly contribute 0.1-0.3 min.</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meta-lessons the course should impart. Go through each slowly.</a:t>
            </a:r>
          </a:p>
          <a:p>
            <a:pPr lvl="0" indent="0" marL="0">
              <a:buNone/>
            </a:pPr>
          </a:p>
          <a:p>
            <a:pPr lvl="0"/>
            <a:r>
              <a:rPr/>
              <a:t>Composition: every major paper builds on 10+ prior works. Students should spend time reading those to understand the field’s grammar.</a:t>
            </a:r>
          </a:p>
          <a:p>
            <a:pPr lvl="0" indent="0" marL="0">
              <a:buNone/>
            </a:pPr>
          </a:p>
          <a:p>
            <a:pPr lvl="0"/>
            <a:r>
              <a:rPr/>
              <a:t>Novel conditioning: the most creative contributions are often “how to use existing components” rather than “what new component.” Architecture is rarely the bottleneck.</a:t>
            </a:r>
          </a:p>
          <a:p>
            <a:pPr lvl="0" indent="0" marL="0">
              <a:buNone/>
            </a:pPr>
          </a:p>
          <a:p>
            <a:pPr lvl="0"/>
            <a:r>
              <a:rPr/>
              <a:t>Matched-compute: when someone claims “my method X helps,” always ask “compared to what, at what compute budget?”</a:t>
            </a:r>
          </a:p>
          <a:p>
            <a:pPr lvl="0" indent="0" marL="0">
              <a:buNone/>
            </a:pPr>
          </a:p>
          <a:p>
            <a:pPr lvl="0"/>
            <a:r>
              <a:rPr/>
              <a:t>Null results: the Cholec80 null isn’t a paper bug, it’s a paper feature. Teach students to seek and value these.</a:t>
            </a:r>
          </a:p>
          <a:p>
            <a:pPr lvl="0" indent="0" marL="0">
              <a:buNone/>
            </a:pPr>
          </a:p>
          <a:p>
            <a:pPr lvl="0"/>
            <a:r>
              <a:rPr/>
              <a:t>Honest limitations: a paper with a 10-bullet limitations section gets better reviews than one with none.</a:t>
            </a:r>
          </a:p>
          <a:p>
            <a:pPr lvl="0" indent="0" marL="0">
              <a:buNone/>
            </a:pPr>
          </a:p>
          <a:p>
            <a:pPr lvl="0"/>
            <a:r>
              <a:rPr/>
              <a:t>Separating the “real” contribution from “engineering polish” (ensemble, TTA, isotonic): they’re both valid work, but put them in different sections so reviewers can evaluate them separately.</a:t>
            </a:r>
          </a:p>
          <a:p>
            <a:pPr lvl="0" indent="0" marL="0">
              <a:buNone/>
            </a:pPr>
          </a:p>
          <a:p>
            <a:pPr lvl="0"/>
            <a:r>
              <a:rPr/>
              <a:t>Framing: a student asks “should I pitch this as ‘beat SOTA’ or ‘novel insight’?” The answer is almost always “novel insight with SOTA as a side dish.”</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 students to read papers actively, not passively. A 10-minute skim can tell you whether a paper is worth reading in depth.</a:t>
            </a:r>
          </a:p>
          <a:p>
            <a:pPr lvl="0" indent="0" marL="0">
              <a:buNone/>
            </a:pPr>
          </a:p>
          <a:p>
            <a:pPr lvl="0"/>
            <a:r>
              <a:rPr/>
              <a:t>Abstract + figures first: gives you the story in 2 minutes.</a:t>
            </a:r>
          </a:p>
          <a:p>
            <a:pPr lvl="0" indent="0" marL="0">
              <a:buNone/>
            </a:pPr>
          </a:p>
          <a:p>
            <a:pPr lvl="0"/>
            <a:r>
              <a:rPr/>
              <a:t>Matched-compute: if they compare method X on 40 GPUs to method Y on 4 GPUs, the comparison is useless.</a:t>
            </a:r>
          </a:p>
          <a:p>
            <a:pPr lvl="0" indent="0" marL="0">
              <a:buNone/>
            </a:pPr>
          </a:p>
          <a:p>
            <a:pPr lvl="0"/>
            <a:r>
              <a:rPr/>
              <a:t>Limitations: papers that bury limitations in the related-work section are hiding things. Papers that dedicate a section to them are confident.</a:t>
            </a:r>
          </a:p>
          <a:p>
            <a:pPr lvl="0" indent="0" marL="0">
              <a:buNone/>
            </a:pPr>
          </a:p>
          <a:p>
            <a:pPr lvl="0"/>
            <a:r>
              <a:rPr/>
              <a:t>Cited vs. claimed: if every component has a citation, the “novelty” is whatever’s left uncited. Often it’s a specific combination or a framing.</a:t>
            </a:r>
          </a:p>
          <a:p>
            <a:pPr lvl="0" indent="0" marL="0">
              <a:buNone/>
            </a:pPr>
          </a:p>
          <a:p>
            <a:pPr lvl="0"/>
            <a:r>
              <a:rPr/>
              <a:t>Experimental protocol: single-seed results on a single split are brittle. Multi-seed + CV + held-out test is trustworthy.</a:t>
            </a:r>
          </a:p>
          <a:p>
            <a:pPr lvl="0" indent="0" marL="0">
              <a:buNone/>
            </a:pPr>
          </a:p>
          <a:p>
            <a:pPr lvl="0"/>
            <a:r>
              <a:rPr/>
              <a:t>Code: reproducibility distinguishes science from storytelling.</a:t>
            </a:r>
          </a:p>
          <a:p>
            <a:pPr lvl="0" indent="0" marL="0">
              <a:buNone/>
            </a:pPr>
          </a:p>
          <a:p>
            <a:pPr lvl="0" indent="0" marL="0">
              <a:buNone/>
            </a:pPr>
            <a:r>
              <a:rPr/>
              <a:t>Assigning this as a class exercise: “read paper X and answer these 6 questions.” Usually produces better paper-reading skills than any lecture on the topic.</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references are sourced from publicly accessible venues with arXiv or DOI links in the paper. We </a:t>
            </a:r>
            <a:r>
              <a:rPr i="1"/>
              <a:t>do not</a:t>
            </a:r>
            <a:r>
              <a:rPr/>
              <a:t> cite the 2019 internal project update PDF — that’s Bill’s prior proprietary work and cannot be used as a public citation anchor. Every number quoted in this deck has a verifiable public-source citation trail.</a:t>
            </a:r>
          </a:p>
          <a:p>
            <a:pPr lvl="0" indent="0" marL="0">
              <a:buNone/>
            </a:pPr>
          </a:p>
          <a:p>
            <a:pPr lvl="0" indent="0" marL="0">
              <a:buNone/>
            </a:pPr>
            <a:r>
              <a:rPr/>
              <a:t>For the full 19-reference list with authors and venues, see </a:t>
            </a:r>
            <a:r>
              <a:rPr>
                <a:latin typeface="Courier"/>
              </a:rPr>
              <a:t>paper/draft.md</a:t>
            </a:r>
            <a:r>
              <a:rPr/>
              <a:t> §11.</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questions we anticipate at review and in seminar presentations. Going through each:</a:t>
            </a:r>
          </a:p>
          <a:p>
            <a:pPr lvl="0" indent="0" marL="0">
              <a:buNone/>
            </a:pPr>
          </a:p>
          <a:p>
            <a:pPr lvl="0" indent="0" marL="0">
              <a:buNone/>
            </a:pPr>
            <a:r>
              <a:rPr/>
              <a:t>Bigger encoder: would likely help, but 3-4x compute. Our budget didn’t allow.</a:t>
            </a:r>
          </a:p>
          <a:p>
            <a:pPr lvl="0" indent="0" marL="0">
              <a:buNone/>
            </a:pPr>
          </a:p>
          <a:p>
            <a:pPr lvl="0" indent="0" marL="0">
              <a:buNone/>
            </a:pPr>
            <a:r>
              <a:rPr/>
              <a:t>Isotonic cheating: the real concern is whether we tuned isotonic’s hyperparameter (the </a:t>
            </a:r>
            <a:r>
              <a:rPr>
                <a:latin typeface="Courier"/>
              </a:rPr>
              <a:t>increasing=False</a:t>
            </a:r>
            <a:r>
              <a:rPr/>
              <a:t> flag) on test. We didn’t — it’s a hard physical constraint with no hyperparameter. So it’s a legitimate test-time operation. We still demote it to the appendix out of caution.</a:t>
            </a:r>
          </a:p>
          <a:p>
            <a:pPr lvl="0" indent="0" marL="0">
              <a:buNone/>
            </a:pPr>
          </a:p>
          <a:p>
            <a:pPr lvl="0" indent="0" marL="0">
              <a:buNone/>
            </a:pPr>
            <a:r>
              <a:rPr/>
              <a:t>Surgical foundation models: would be a natural strengthening. HecVL, PeskaVLP, SurgVista are all candidates. Accessibility is the bottleneck.</a:t>
            </a:r>
          </a:p>
          <a:p>
            <a:pPr lvl="0" indent="0" marL="0">
              <a:buNone/>
            </a:pPr>
          </a:p>
          <a:p>
            <a:pPr lvl="0" indent="0" marL="0">
              <a:buNone/>
            </a:pPr>
            <a:r>
              <a:rPr/>
              <a:t>Phase-order as latent: a reviewer with a stats background will ask “why not model workflow as a continuous latent rather than a discrete cluster ID?” Good question. Discrete is easier to communicate and train, but continuous (e.g., a VAE-style workflow embedding) might be richer. Future work.</a:t>
            </a:r>
          </a:p>
          <a:p>
            <a:pPr lvl="0" indent="0" marL="0">
              <a:buNone/>
            </a:pPr>
          </a:p>
          <a:p>
            <a:pPr lvl="0" indent="0" marL="0">
              <a:buNone/>
            </a:pPr>
            <a:r>
              <a:rPr/>
              <a:t>Joint training: the challenge is the phase vocabularies don’t perfectly align. RYGB has 12-14 distinct phases; cholecystectomy has 7; they partially overlap. Could be solved with a shared phase taxonomy. Didn’t tackle in this paper.</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paper should have a one-sentence summary that could go on a poster. This is ours.</a:t>
            </a:r>
          </a:p>
          <a:p>
            <a:pPr lvl="0" indent="0" marL="0">
              <a:buNone/>
            </a:pPr>
          </a:p>
          <a:p>
            <a:pPr lvl="0" indent="0" marL="0">
              <a:buNone/>
            </a:pPr>
            <a:r>
              <a:rPr/>
              <a:t>It states (a) what we tested, (b) what we found, (c) why it’s a finding rather than just a result, and (d) why it matters beyond this specific domain.</a:t>
            </a:r>
          </a:p>
          <a:p>
            <a:pPr lvl="0" indent="0" marL="0">
              <a:buNone/>
            </a:pPr>
          </a:p>
          <a:p>
            <a:pPr lvl="0" indent="0" marL="0">
              <a:buNone/>
            </a:pPr>
            <a:r>
              <a:rPr/>
              <a:t>If a student can state their own paper in one similarly-compressed sentence, they’ve probably found the paper’s actual contribution. If they can’t, the contribution may not be as crisp as they thought.</a:t>
            </a:r>
          </a:p>
          <a:p>
            <a:pPr lvl="0" indent="0" marL="0">
              <a:buNone/>
            </a:pPr>
          </a:p>
          <a:p>
            <a:pPr lvl="0" indent="0" marL="0">
              <a:buNone/>
            </a:pPr>
            <a:r>
              <a:rPr/>
              <a:t>This is how papers get written and remembered: one clean claim, supported by matched experiments, bounded by honest limitations, with a clear path forward.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 slide. The takeaway for students is that doing applied ML well is a matter of:</a:t>
            </a:r>
          </a:p>
          <a:p>
            <a:pPr lvl="0" indent="0" marL="0">
              <a:buNone/>
            </a:pPr>
          </a:p>
          <a:p>
            <a:pPr lvl="0" indent="-342900" marL="342900">
              <a:buAutoNum type="arabicPeriod"/>
            </a:pPr>
            <a:r>
              <a:rPr/>
              <a:t>Picking the right question (workflow variability in surgical RSD).</a:t>
            </a:r>
          </a:p>
          <a:p>
            <a:pPr lvl="0" indent="0" marL="0">
              <a:buNone/>
            </a:pPr>
          </a:p>
          <a:p>
            <a:pPr lvl="0" indent="-342900" marL="342900">
              <a:buAutoNum type="arabicPeriod"/>
            </a:pPr>
            <a:r>
              <a:rPr/>
              <a:t>Picking the right dataset pair (one with the phenomenon, one without).</a:t>
            </a:r>
          </a:p>
          <a:p>
            <a:pPr lvl="0" indent="0" marL="0">
              <a:buNone/>
            </a:pPr>
          </a:p>
          <a:p>
            <a:pPr lvl="0" indent="-342900" marL="342900">
              <a:buAutoNum type="arabicPeriod"/>
            </a:pPr>
            <a:r>
              <a:rPr/>
              <a:t>Designing a matched-compute experiment that isolates the effect.</a:t>
            </a:r>
          </a:p>
          <a:p>
            <a:pPr lvl="0" indent="0" marL="0">
              <a:buNone/>
            </a:pPr>
          </a:p>
          <a:p>
            <a:pPr lvl="0" indent="-342900" marL="342900">
              <a:buAutoNum type="arabicPeriod"/>
            </a:pPr>
            <a:r>
              <a:rPr/>
              <a:t>Being honest about what the experiment does and doesn’t establish.</a:t>
            </a:r>
          </a:p>
          <a:p>
            <a:pPr lvl="0" indent="0" marL="0">
              <a:buNone/>
            </a:pPr>
          </a:p>
          <a:p>
            <a:pPr lvl="0" indent="-342900" marL="342900">
              <a:buAutoNum type="arabicPeriod"/>
            </a:pPr>
            <a:r>
              <a:rPr/>
              <a:t>Framing the finding as a testable general principle, not a domain-specific gain.</a:t>
            </a:r>
          </a:p>
          <a:p>
            <a:pPr lvl="0" indent="0" marL="0">
              <a:buNone/>
            </a:pPr>
          </a:p>
          <a:p>
            <a:pPr lvl="0" indent="0" marL="0">
              <a:buNone/>
            </a:pPr>
            <a:r>
              <a:rPr/>
              <a:t>The architecture, the hyperparameters, the specific tokens — all of that is relatively generic engineering. The science is in the framing and the experimental design.</a:t>
            </a:r>
          </a:p>
          <a:p>
            <a:pPr lvl="0" indent="0" marL="0">
              <a:buNone/>
            </a:pPr>
          </a:p>
          <a:p>
            <a:pPr lvl="0" indent="0" marL="0">
              <a:buNone/>
            </a:pPr>
            <a:r>
              <a:rPr/>
              <a:t>End of deck. Open the floor to questions.</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2.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3.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4.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5.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6.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Workflow-Conditioned Remaining Surgery Duration Prediction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Teaching Walkthrough</a:t>
            </a:r>
            <a:br/>
            <a:br/>
            <a:r>
              <a:rPr/>
              <a:t>Bill Chen — Xi Lab</a:t>
            </a:r>
          </a:p>
        </p:txBody>
      </p:sp>
      <p:sp>
        <p:nvSpPr>
          <p:cNvPr id="4" name="Date Placeholder 3"/>
          <p:cNvSpPr>
            <a:spLocks noGrp="1"/>
          </p:cNvSpPr>
          <p:nvPr>
            <p:ph idx="10" sz="half" type="dt"/>
          </p:nvPr>
        </p:nvSpPr>
        <p:spPr/>
        <p:txBody>
          <a:bodyPr/>
          <a:lstStyle/>
          <a:p>
            <a:pPr lvl="0" indent="0" marL="0">
              <a:buNone/>
            </a:pPr>
            <a:r>
              <a:rPr/>
              <a:t>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1 — The Problem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What is Remaining Surgery Duration (RSD)?</a:t>
            </a:r>
          </a:p>
        </p:txBody>
      </p:sp>
      <p:sp>
        <p:nvSpPr>
          <p:cNvPr id="3" name="Content Placeholder 2"/>
          <p:cNvSpPr>
            <a:spLocks noGrp="1"/>
          </p:cNvSpPr>
          <p:nvPr>
            <p:ph idx="1"/>
          </p:nvPr>
        </p:nvSpPr>
        <p:spPr/>
        <p:txBody>
          <a:bodyPr/>
          <a:lstStyle/>
          <a:p>
            <a:pPr lvl="0" indent="0" marL="0">
              <a:buNone/>
            </a:pPr>
            <a:r>
              <a:rPr b="1"/>
              <a:t>Question:</a:t>
            </a:r>
            <a:r>
              <a:rPr/>
              <a:t> given what you’ve seen of a surgery so far, how many minutes until it ends?</a:t>
            </a:r>
          </a:p>
          <a:p>
            <a:pPr lvl="0"/>
            <a:r>
              <a:rPr/>
              <a:t>Input: a video stream of a laparoscopic procedure in progress</a:t>
            </a:r>
          </a:p>
          <a:p>
            <a:pPr lvl="0"/>
            <a:r>
              <a:rPr/>
              <a:t>Output: one number — minutes remaining</a:t>
            </a:r>
          </a:p>
          <a:p>
            <a:pPr lvl="0"/>
            <a:r>
              <a:rPr/>
              <a:t>Typical horizon: the whole surgery (20 min to 2+ hours)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Why it matters</a:t>
            </a:r>
          </a:p>
        </p:txBody>
      </p:sp>
      <p:sp>
        <p:nvSpPr>
          <p:cNvPr id="3" name="Content Placeholder 2"/>
          <p:cNvSpPr>
            <a:spLocks noGrp="1"/>
          </p:cNvSpPr>
          <p:nvPr>
            <p:ph idx="1"/>
          </p:nvPr>
        </p:nvSpPr>
        <p:spPr/>
        <p:txBody>
          <a:bodyPr/>
          <a:lstStyle/>
          <a:p>
            <a:pPr lvl="0"/>
            <a:r>
              <a:rPr b="1"/>
              <a:t>OR scheduling</a:t>
            </a:r>
            <a:r>
              <a:rPr/>
              <a:t>: the next patient can’t start until the current one ends. A 15-minute error causes cascading delays.</a:t>
            </a:r>
          </a:p>
          <a:p>
            <a:pPr lvl="0"/>
            <a:r>
              <a:rPr b="1"/>
              <a:t>Anesthesia</a:t>
            </a:r>
            <a:r>
              <a:rPr/>
              <a:t>: dosing decisions depend on expected remaining duration.</a:t>
            </a:r>
          </a:p>
          <a:p>
            <a:pPr lvl="0"/>
            <a:r>
              <a:rPr b="1"/>
              <a:t>Staffing</a:t>
            </a:r>
            <a:r>
              <a:rPr/>
              <a:t>: nurses, techs, cleaning crews all reshuffle based on expected end times.</a:t>
            </a:r>
          </a:p>
          <a:p>
            <a:pPr lvl="0"/>
            <a:r>
              <a:rPr b="1"/>
              <a:t>Hospital economics</a:t>
            </a:r>
            <a:r>
              <a:rPr/>
              <a:t>: OR time costs roughly $40-100 / minute; avoidable idle time is expensive.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The core challenge: workflow variability</a:t>
            </a:r>
          </a:p>
        </p:txBody>
      </p:sp>
      <p:sp>
        <p:nvSpPr>
          <p:cNvPr id="3" name="Content Placeholder 2"/>
          <p:cNvSpPr>
            <a:spLocks noGrp="1"/>
          </p:cNvSpPr>
          <p:nvPr>
            <p:ph idx="1"/>
          </p:nvPr>
        </p:nvSpPr>
        <p:spPr/>
        <p:txBody>
          <a:bodyPr/>
          <a:lstStyle/>
          <a:p>
            <a:pPr lvl="0"/>
            <a:r>
              <a:rPr/>
              <a:t>Two surgeons can perform the same named operation very differently:</a:t>
            </a:r>
          </a:p>
          <a:p>
            <a:pPr lvl="1"/>
            <a:r>
              <a:rPr/>
              <a:t>different </a:t>
            </a:r>
            <a:r>
              <a:rPr b="1"/>
              <a:t>phase order</a:t>
            </a:r>
            <a:r>
              <a:rPr/>
              <a:t> (gastric pouch first vs. jejuno-jejunal first)</a:t>
            </a:r>
          </a:p>
          <a:p>
            <a:pPr lvl="1"/>
            <a:r>
              <a:rPr/>
              <a:t>different </a:t>
            </a:r>
            <a:r>
              <a:rPr b="1"/>
              <a:t>pacing</a:t>
            </a:r>
            <a:r>
              <a:rPr/>
              <a:t> (careful dissection vs. fast staplework)</a:t>
            </a:r>
          </a:p>
          <a:p>
            <a:pPr lvl="1"/>
            <a:r>
              <a:rPr/>
              <a:t>different </a:t>
            </a:r>
            <a:r>
              <a:rPr b="1"/>
              <a:t>handling of complications</a:t>
            </a:r>
            <a:r>
              <a:rPr/>
              <a:t> (adhesions, bleeding)</a:t>
            </a:r>
          </a:p>
          <a:p>
            <a:pPr lvl="0"/>
            <a:r>
              <a:rPr/>
              <a:t>The same anatomical-looking frame can imply very different remaining times depending on which workflow is being followed.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Two benchmark datasets (at a glance)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81100"/>
                <a:gridCol w="3530600"/>
                <a:gridCol w="3530600"/>
              </a:tblGrid>
              <a:tr h="0">
                <a:tc>
                  <a:txBody>
                    <a:bodyPr/>
                    <a:lstStyle/>
                    <a:p>
                      <a:endParaRPr/>
                    </a:p>
                  </a:txBody>
                  <a:tcPr/>
                </a:tc>
                <a:tc>
                  <a:txBody>
                    <a:bodyPr/>
                    <a:lstStyle/>
                    <a:p>
                      <a:pPr lvl="0" indent="0" marL="0">
                        <a:buNone/>
                      </a:pPr>
                      <a:r>
                        <a:rPr b="1"/>
                        <a:t>MultiBypass140</a:t>
                      </a:r>
                    </a:p>
                  </a:txBody>
                  <a:tcPr/>
                </a:tc>
                <a:tc>
                  <a:txBody>
                    <a:bodyPr/>
                    <a:lstStyle/>
                    <a:p>
                      <a:pPr lvl="0" indent="0" marL="0">
                        <a:buNone/>
                      </a:pPr>
                      <a:r>
                        <a:rPr b="1"/>
                        <a:t>Cholec80</a:t>
                      </a:r>
                    </a:p>
                  </a:txBody>
                  <a:tcPr/>
                </a:tc>
              </a:tr>
              <a:tr h="0">
                <a:tc>
                  <a:txBody>
                    <a:bodyPr/>
                    <a:lstStyle/>
                    <a:p>
                      <a:pPr lvl="0" indent="0" marL="0">
                        <a:buNone/>
                      </a:pPr>
                      <a:r>
                        <a:rPr/>
                        <a:t>Procedure</a:t>
                      </a:r>
                    </a:p>
                  </a:txBody>
                </a:tc>
                <a:tc>
                  <a:txBody>
                    <a:bodyPr/>
                    <a:lstStyle/>
                    <a:p>
                      <a:pPr lvl="0" indent="0" marL="0">
                        <a:buNone/>
                      </a:pPr>
                      <a:r>
                        <a:rPr/>
                        <a:t>Gastric bypass (RYGB) — complex</a:t>
                      </a:r>
                    </a:p>
                  </a:txBody>
                </a:tc>
                <a:tc>
                  <a:txBody>
                    <a:bodyPr/>
                    <a:lstStyle/>
                    <a:p>
                      <a:pPr lvl="0" indent="0" marL="0">
                        <a:buNone/>
                      </a:pPr>
                      <a:r>
                        <a:rPr/>
                        <a:t>Cholecystectomy — simple</a:t>
                      </a:r>
                    </a:p>
                  </a:txBody>
                </a:tc>
              </a:tr>
              <a:tr h="0">
                <a:tc>
                  <a:txBody>
                    <a:bodyPr/>
                    <a:lstStyle/>
                    <a:p>
                      <a:pPr lvl="0" indent="0" marL="0">
                        <a:buNone/>
                      </a:pPr>
                      <a:r>
                        <a:rPr/>
                        <a:t>Videos</a:t>
                      </a:r>
                    </a:p>
                  </a:txBody>
                </a:tc>
                <a:tc>
                  <a:txBody>
                    <a:bodyPr/>
                    <a:lstStyle/>
                    <a:p>
                      <a:pPr lvl="0" indent="0" marL="0">
                        <a:buNone/>
                      </a:pPr>
                      <a:r>
                        <a:rPr/>
                        <a:t>140 (70 Bern + 70 Strasbourg)</a:t>
                      </a:r>
                    </a:p>
                  </a:txBody>
                </a:tc>
                <a:tc>
                  <a:txBody>
                    <a:bodyPr/>
                    <a:lstStyle/>
                    <a:p>
                      <a:pPr lvl="0" indent="0" marL="0">
                        <a:buNone/>
                      </a:pPr>
                      <a:r>
                        <a:rPr/>
                        <a:t>80 (we use 72 with public phase labels)</a:t>
                      </a:r>
                    </a:p>
                  </a:txBody>
                </a:tc>
              </a:tr>
              <a:tr h="0">
                <a:tc>
                  <a:txBody>
                    <a:bodyPr/>
                    <a:lstStyle/>
                    <a:p>
                      <a:pPr lvl="0" indent="0" marL="0">
                        <a:buNone/>
                      </a:pPr>
                      <a:r>
                        <a:rPr/>
                        <a:t>Typical length</a:t>
                      </a:r>
                    </a:p>
                  </a:txBody>
                </a:tc>
                <a:tc>
                  <a:txBody>
                    <a:bodyPr/>
                    <a:lstStyle/>
                    <a:p>
                      <a:pPr lvl="0" indent="0" marL="0">
                        <a:buNone/>
                      </a:pPr>
                      <a:r>
                        <a:rPr/>
                        <a:t>70-120 min</a:t>
                      </a:r>
                    </a:p>
                  </a:txBody>
                </a:tc>
                <a:tc>
                  <a:txBody>
                    <a:bodyPr/>
                    <a:lstStyle/>
                    <a:p>
                      <a:pPr lvl="0" indent="0" marL="0">
                        <a:buNone/>
                      </a:pPr>
                      <a:r>
                        <a:rPr/>
                        <a:t>~40 min</a:t>
                      </a:r>
                    </a:p>
                  </a:txBody>
                </a:tc>
              </a:tr>
              <a:tr h="0">
                <a:tc>
                  <a:txBody>
                    <a:bodyPr/>
                    <a:lstStyle/>
                    <a:p>
                      <a:pPr lvl="0" indent="0" marL="0">
                        <a:buNone/>
                      </a:pPr>
                      <a:r>
                        <a:rPr/>
                        <a:t>Phases</a:t>
                      </a:r>
                    </a:p>
                  </a:txBody>
                </a:tc>
                <a:tc>
                  <a:txBody>
                    <a:bodyPr/>
                    <a:lstStyle/>
                    <a:p>
                      <a:pPr lvl="0" indent="0" marL="0">
                        <a:buNone/>
                      </a:pPr>
                      <a:r>
                        <a:rPr/>
                        <a:t>12+</a:t>
                      </a:r>
                    </a:p>
                  </a:txBody>
                </a:tc>
                <a:tc>
                  <a:txBody>
                    <a:bodyPr/>
                    <a:lstStyle/>
                    <a:p>
                      <a:pPr lvl="0" indent="0" marL="0">
                        <a:buNone/>
                      </a:pPr>
                      <a:r>
                        <a:rPr/>
                        <a:t>7</a:t>
                      </a:r>
                    </a:p>
                  </a:txBody>
                </a:tc>
              </a:tr>
              <a:tr h="0">
                <a:tc>
                  <a:txBody>
                    <a:bodyPr/>
                    <a:lstStyle/>
                    <a:p>
                      <a:pPr lvl="0" indent="0" marL="0">
                        <a:buNone/>
                      </a:pPr>
                      <a:r>
                        <a:rPr/>
                        <a:t>Workflow variability</a:t>
                      </a:r>
                    </a:p>
                  </a:txBody>
                </a:tc>
                <a:tc>
                  <a:txBody>
                    <a:bodyPr/>
                    <a:lstStyle/>
                    <a:p>
                      <a:pPr lvl="0" indent="0" marL="0">
                        <a:buNone/>
                      </a:pPr>
                      <a:r>
                        <a:rPr/>
                        <a:t>High (6 balanced clusters)</a:t>
                      </a:r>
                    </a:p>
                  </a:txBody>
                </a:tc>
                <a:tc>
                  <a:txBody>
                    <a:bodyPr/>
                    <a:lstStyle/>
                    <a:p>
                      <a:pPr lvl="0" indent="0" marL="0">
                        <a:buNone/>
                      </a:pPr>
                      <a:r>
                        <a:rPr/>
                        <a:t>Low (1 cluster = 71%)</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The research questions</a:t>
            </a:r>
          </a:p>
        </p:txBody>
      </p:sp>
      <p:sp>
        <p:nvSpPr>
          <p:cNvPr id="3" name="Content Placeholder 2"/>
          <p:cNvSpPr>
            <a:spLocks noGrp="1"/>
          </p:cNvSpPr>
          <p:nvPr>
            <p:ph idx="1"/>
          </p:nvPr>
        </p:nvSpPr>
        <p:spPr/>
        <p:txBody>
          <a:bodyPr/>
          <a:lstStyle/>
          <a:p>
            <a:pPr lvl="0" indent="-342900" marL="342900">
              <a:buAutoNum type="arabicPeriod"/>
            </a:pPr>
            <a:r>
              <a:rPr/>
              <a:t>Does explicit workflow information improve RSD prediction?</a:t>
            </a:r>
          </a:p>
          <a:p>
            <a:pPr lvl="0" indent="-342900" marL="342900">
              <a:buAutoNum type="arabicPeriod"/>
            </a:pPr>
            <a:r>
              <a:rPr/>
              <a:t>If yes — when does it help and when doesn’t it?</a:t>
            </a:r>
          </a:p>
          <a:p>
            <a:pPr lvl="0" indent="-342900" marL="342900">
              <a:buAutoNum type="arabicPeriod"/>
            </a:pPr>
            <a:r>
              <a:rPr/>
              <a:t>How much of the cross-center gap is explained by workflow alone?</a:t>
            </a:r>
          </a:p>
          <a:p>
            <a:pPr lvl="0" indent="-342900" marL="342900">
              <a:buAutoNum type="arabicPeriod"/>
            </a:pPr>
            <a:r>
              <a:rPr/>
              <a:t>How far can inference-time tricks push the test number on a “solved” benchmark (Cholec80)?</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2 — What the Model Is Built 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A brief history of neural RSD</a:t>
            </a:r>
          </a:p>
        </p:txBody>
      </p:sp>
      <p:sp>
        <p:nvSpPr>
          <p:cNvPr id="3" name="Content Placeholder 2"/>
          <p:cNvSpPr>
            <a:spLocks noGrp="1"/>
          </p:cNvSpPr>
          <p:nvPr>
            <p:ph idx="1"/>
          </p:nvPr>
        </p:nvSpPr>
        <p:spPr/>
        <p:txBody>
          <a:bodyPr/>
          <a:lstStyle/>
          <a:p>
            <a:pPr lvl="0"/>
            <a:r>
              <a:rPr b="1"/>
              <a:t>2017 — EndoNet</a:t>
            </a:r>
            <a:r>
              <a:rPr/>
              <a:t> (Twinanda et al., TMI): first deep model for surgical video understanding, CNN-based.</a:t>
            </a:r>
          </a:p>
          <a:p>
            <a:pPr lvl="0"/>
            <a:r>
              <a:rPr b="1"/>
              <a:t>2019 — RSDNet</a:t>
            </a:r>
            <a:r>
              <a:rPr/>
              <a:t> (Twinanda et al., TMI): CNN + LSTM, first “real” RSD baseline. ~8 min MAE on Cholec120.</a:t>
            </a:r>
          </a:p>
          <a:p>
            <a:pPr lvl="0"/>
            <a:r>
              <a:rPr b="1"/>
              <a:t>2023 — TeCNO, SKiT</a:t>
            </a:r>
            <a:r>
              <a:rPr/>
              <a:t> — temporal conv and transformer variants for phase recognition.</a:t>
            </a:r>
          </a:p>
          <a:p>
            <a:pPr lvl="0"/>
            <a:r>
              <a:rPr b="1"/>
              <a:t>2024 — TransLocal</a:t>
            </a:r>
            <a:r>
              <a:rPr/>
              <a:t> (Loukas et al.): CNN-LSTM + Transformer with local attention. </a:t>
            </a:r>
            <a:r>
              <a:rPr b="1"/>
              <a:t>7.1 min MAE on Cholec80</a:t>
            </a:r>
            <a:r>
              <a:rPr/>
              <a:t> — our main video-only baseline.</a:t>
            </a:r>
          </a:p>
          <a:p>
            <a:pPr lvl="0"/>
            <a:r>
              <a:rPr b="1"/>
              <a:t>2024 — Surgformer</a:t>
            </a:r>
            <a:r>
              <a:rPr/>
              <a:t> (Yang et al., MICCAI): Hierarchical Temporal Attention for surgical phase recognition. We borrow its temporal backbone.</a:t>
            </a:r>
          </a:p>
          <a:p>
            <a:pPr lvl="0"/>
            <a:r>
              <a:rPr b="1"/>
              <a:t>2025 — Our work</a:t>
            </a:r>
            <a:r>
              <a:rPr/>
              <a:t>: phase-order conditioned version of the above, evaluated on MB140 and Cholec80.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RSDNet (2019): the classical baseline</a:t>
            </a:r>
          </a:p>
        </p:txBody>
      </p:sp>
      <p:sp>
        <p:nvSpPr>
          <p:cNvPr id="3" name="Content Placeholder 2"/>
          <p:cNvSpPr>
            <a:spLocks noGrp="1"/>
          </p:cNvSpPr>
          <p:nvPr>
            <p:ph idx="1"/>
          </p:nvPr>
        </p:nvSpPr>
        <p:spPr/>
        <p:txBody>
          <a:bodyPr/>
          <a:lstStyle/>
          <a:p>
            <a:pPr lvl="0"/>
            <a:r>
              <a:rPr b="1"/>
              <a:t>Input</a:t>
            </a:r>
            <a:r>
              <a:rPr/>
              <a:t>: video clip</a:t>
            </a:r>
          </a:p>
          <a:p>
            <a:pPr lvl="0"/>
            <a:r>
              <a:rPr b="1"/>
              <a:t>Encoder</a:t>
            </a:r>
            <a:r>
              <a:rPr/>
              <a:t>: ResNet-50 (ImageNet-pretrained)</a:t>
            </a:r>
          </a:p>
          <a:p>
            <a:pPr lvl="0"/>
            <a:r>
              <a:rPr b="1"/>
              <a:t>Temporal model</a:t>
            </a:r>
            <a:r>
              <a:rPr/>
              <a:t>: LSTM</a:t>
            </a:r>
          </a:p>
          <a:p>
            <a:pPr lvl="0"/>
            <a:r>
              <a:rPr b="1"/>
              <a:t>Output</a:t>
            </a:r>
            <a:r>
              <a:rPr/>
              <a:t>: normalized RSD (0 at end, 1 at start)</a:t>
            </a:r>
          </a:p>
          <a:p>
            <a:pPr lvl="0"/>
            <a:r>
              <a:rPr b="1"/>
              <a:t>Loss</a:t>
            </a:r>
            <a:r>
              <a:rPr/>
              <a:t>: MSE</a:t>
            </a:r>
          </a:p>
          <a:p>
            <a:pPr lvl="0"/>
            <a:r>
              <a:rPr b="1"/>
              <a:t>Result on Cholec80</a:t>
            </a:r>
            <a:r>
              <a:rPr/>
              <a:t>: ~8 min MAE (exact number varies with split)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TransLocal (2024): current video-only SOTA</a:t>
            </a:r>
          </a:p>
        </p:txBody>
      </p:sp>
      <p:sp>
        <p:nvSpPr>
          <p:cNvPr id="3" name="Content Placeholder 2"/>
          <p:cNvSpPr>
            <a:spLocks noGrp="1"/>
          </p:cNvSpPr>
          <p:nvPr>
            <p:ph idx="1"/>
          </p:nvPr>
        </p:nvSpPr>
        <p:spPr/>
        <p:txBody>
          <a:bodyPr/>
          <a:lstStyle/>
          <a:p>
            <a:pPr lvl="0"/>
            <a:r>
              <a:rPr b="1"/>
              <a:t>Encoder</a:t>
            </a:r>
            <a:r>
              <a:rPr/>
              <a:t>: CNN-LSTM short-range features</a:t>
            </a:r>
          </a:p>
          <a:p>
            <a:pPr lvl="0"/>
            <a:r>
              <a:rPr b="1"/>
              <a:t>Temporal model</a:t>
            </a:r>
            <a:r>
              <a:rPr/>
              <a:t>: Transformer with local attention (windowed)</a:t>
            </a:r>
          </a:p>
          <a:p>
            <a:pPr lvl="0"/>
            <a:r>
              <a:rPr b="1"/>
              <a:t>Key idea</a:t>
            </a:r>
            <a:r>
              <a:rPr/>
              <a:t>: visual saliency weighting + local attention for OR efficiency</a:t>
            </a:r>
          </a:p>
          <a:p>
            <a:pPr lvl="0"/>
            <a:r>
              <a:rPr b="1"/>
              <a:t>Result</a:t>
            </a:r>
            <a:r>
              <a:rPr/>
              <a:t>: 7.1 min MAE on Cholec80 — the number we’ll compare against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9. Surgical Phase Recognition Progression</a:t>
            </a:r>
          </a:p>
        </p:txBody>
      </p:sp>
      <p:sp>
        <p:nvSpPr>
          <p:cNvPr id="3" name="Content Placeholder 2"/>
          <p:cNvSpPr>
            <a:spLocks noGrp="1"/>
          </p:cNvSpPr>
          <p:nvPr>
            <p:ph idx="1"/>
          </p:nvPr>
        </p:nvSpPr>
        <p:spPr/>
        <p:txBody>
          <a:bodyPr/>
          <a:lstStyle/>
          <a:p>
            <a:pPr lvl="0"/>
            <a:r>
              <a:rPr/>
              <a:t>Phase recognition (classify: what step is happening now?) is older than RSD.</a:t>
            </a:r>
          </a:p>
          <a:p>
            <a:pPr lvl="0"/>
            <a:r>
              <a:rPr/>
              <a:t>Cholec80 was introduced specifically for phase recognition (Twinanda 2017).</a:t>
            </a:r>
          </a:p>
          <a:p>
            <a:pPr lvl="0"/>
            <a:r>
              <a:rPr/>
              <a:t>Progression: </a:t>
            </a:r>
            <a:r>
              <a:rPr b="1"/>
              <a:t>EndoNet (2017) -&gt; TMRNet (2018) -&gt; TeCNO (2020) -&gt; TransSVNet (2021) -&gt; SKiT (2023) -&gt; Surgformer (2024) -&gt; LoViT (2025)</a:t>
            </a:r>
            <a:r>
              <a:rPr/>
              <a:t>.</a:t>
            </a:r>
          </a:p>
          <a:p>
            <a:pPr lvl="0"/>
            <a:r>
              <a:rPr/>
              <a:t>We use </a:t>
            </a:r>
            <a:r>
              <a:rPr b="1"/>
              <a:t>Surgformer’s Hierarchical Temporal Attention</a:t>
            </a:r>
            <a:r>
              <a:rPr/>
              <a:t> as our temporal backbone.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Vision Transformer (ViT) — a 90-second primer</a:t>
            </a:r>
          </a:p>
        </p:txBody>
      </p:sp>
      <p:sp>
        <p:nvSpPr>
          <p:cNvPr id="3" name="Content Placeholder 2"/>
          <p:cNvSpPr>
            <a:spLocks noGrp="1"/>
          </p:cNvSpPr>
          <p:nvPr>
            <p:ph idx="1"/>
          </p:nvPr>
        </p:nvSpPr>
        <p:spPr/>
        <p:txBody>
          <a:bodyPr/>
          <a:lstStyle/>
          <a:p>
            <a:pPr lvl="0"/>
            <a:r>
              <a:rPr b="1"/>
              <a:t>Input</a:t>
            </a:r>
            <a:r>
              <a:rPr/>
              <a:t>: image (224x224x3)</a:t>
            </a:r>
          </a:p>
          <a:p>
            <a:pPr lvl="0"/>
            <a:r>
              <a:rPr b="1"/>
              <a:t>Patch</a:t>
            </a:r>
            <a:r>
              <a:rPr/>
              <a:t>: break into 14x14 grid of 16x16 patches.</a:t>
            </a:r>
          </a:p>
          <a:p>
            <a:pPr lvl="0"/>
            <a:r>
              <a:rPr b="1"/>
              <a:t>Embed each patch</a:t>
            </a:r>
            <a:r>
              <a:rPr/>
              <a:t> into a 768-dim vector (linear projection).</a:t>
            </a:r>
          </a:p>
          <a:p>
            <a:pPr lvl="0"/>
            <a:r>
              <a:rPr b="1"/>
              <a:t>Prepend a [CLS] token</a:t>
            </a:r>
            <a:r>
              <a:rPr/>
              <a:t> (learnable vector) at position 0.</a:t>
            </a:r>
          </a:p>
          <a:p>
            <a:pPr lvl="0"/>
            <a:r>
              <a:rPr b="1"/>
              <a:t>Feed all 197 tokens</a:t>
            </a:r>
            <a:r>
              <a:rPr/>
              <a:t> through a stack of Transformer encoder blocks.</a:t>
            </a:r>
          </a:p>
          <a:p>
            <a:pPr lvl="0"/>
            <a:r>
              <a:rPr b="1"/>
              <a:t>Output</a:t>
            </a:r>
            <a:r>
              <a:rPr/>
              <a:t> at position 0 is the image’s summary embedding.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Hierarchical Temporal Attention (HTA) — the temporal module</a:t>
            </a:r>
          </a:p>
        </p:txBody>
      </p:sp>
      <p:sp>
        <p:nvSpPr>
          <p:cNvPr id="3" name="Content Placeholder 2"/>
          <p:cNvSpPr>
            <a:spLocks noGrp="1"/>
          </p:cNvSpPr>
          <p:nvPr>
            <p:ph idx="1"/>
          </p:nvPr>
        </p:nvSpPr>
        <p:spPr/>
        <p:txBody>
          <a:bodyPr/>
          <a:lstStyle/>
          <a:p>
            <a:pPr lvl="0"/>
            <a:r>
              <a:rPr/>
              <a:t>Stack of self-attention blocks where attention spans multiple scales:</a:t>
            </a:r>
          </a:p>
          <a:p>
            <a:pPr lvl="1"/>
            <a:r>
              <a:rPr b="1"/>
              <a:t>Local</a:t>
            </a:r>
            <a:r>
              <a:rPr/>
              <a:t> scale (T/4): fine-grained frame-to-frame dependencies</a:t>
            </a:r>
          </a:p>
          <a:p>
            <a:pPr lvl="1"/>
            <a:r>
              <a:rPr b="1"/>
              <a:t>Medium</a:t>
            </a:r>
            <a:r>
              <a:rPr/>
              <a:t> scale (T/2): mid-range context</a:t>
            </a:r>
          </a:p>
          <a:p>
            <a:pPr lvl="1"/>
            <a:r>
              <a:rPr b="1"/>
              <a:t>Global</a:t>
            </a:r>
            <a:r>
              <a:rPr/>
              <a:t> scale (T): whole-clip context</a:t>
            </a:r>
          </a:p>
          <a:p>
            <a:pPr lvl="0"/>
            <a:r>
              <a:rPr/>
              <a:t>Each block computes all three scales and concatenates, then projects back.</a:t>
            </a:r>
          </a:p>
          <a:p>
            <a:pPr lvl="0"/>
            <a:r>
              <a:rPr/>
              <a:t>Gives multi-resolution temporal reasoning in one pass.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Multi-task Uncertainty Weighting (Kendall 2018)</a:t>
            </a:r>
          </a:p>
        </p:txBody>
      </p:sp>
      <p:sp>
        <p:nvSpPr>
          <p:cNvPr id="3" name="Content Placeholder 2"/>
          <p:cNvSpPr>
            <a:spLocks noGrp="1"/>
          </p:cNvSpPr>
          <p:nvPr>
            <p:ph idx="1"/>
          </p:nvPr>
        </p:nvSpPr>
        <p:spPr/>
        <p:txBody>
          <a:bodyPr/>
          <a:lstStyle/>
          <a:p>
            <a:pPr lvl="0" indent="0" marL="0">
              <a:buNone/>
            </a:pPr>
            <a:r>
              <a:rPr/>
              <a:t>Given multiple task losses </a:t>
            </a:r>
            <a:r>
              <a:rPr/>
              <a:t>$\\mathcal{L}_k$</a:t>
            </a:r>
            <a:r>
              <a:rPr/>
              <a:t> that have different scales:</a:t>
            </a:r>
          </a:p>
          <a:p>
            <a:pPr lvl="0" indent="0" marL="0">
              <a:buNone/>
            </a:pPr>
            <a:r>
              <a:rPr/>
              <a:t>$$\\mathcal{L}_{total} = \\sum_k \\exp(-\\sigma_k) \\cdot \\mathcal{L}_k + \\sigma_k$$</a:t>
            </a:r>
          </a:p>
          <a:p>
            <a:pPr lvl="0" indent="0" marL="0">
              <a:buNone/>
            </a:pPr>
            <a:r>
              <a:rPr/>
              <a:t>where </a:t>
            </a:r>
            <a:r>
              <a:rPr/>
              <a:t>$\\sigma_k$</a:t>
            </a:r>
            <a:r>
              <a:rPr/>
              <a:t> is a learnable log-variance per task.</a:t>
            </a:r>
          </a:p>
          <a:p>
            <a:pPr lvl="0"/>
            <a:r>
              <a:rPr/>
              <a:t>Automatically balances task scales (tasks with naturally small loss get less weight).</a:t>
            </a:r>
          </a:p>
          <a:p>
            <a:pPr lvl="0"/>
            <a:r>
              <a:rPr/>
              <a:t>Can drive total loss </a:t>
            </a:r>
            <a:r>
              <a:rPr b="1"/>
              <a:t>negative</a:t>
            </a:r>
            <a:r>
              <a:rPr/>
              <a:t> — this is expected, not a bug.</a:t>
            </a:r>
          </a:p>
          <a:p>
            <a:pPr lvl="0"/>
            <a:r>
              <a:rPr/>
              <a:t>We use this for RSD + deviation + phase triple loss.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What’s ours vs. what we borrow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832100"/>
                <a:gridCol w="2057400"/>
                <a:gridCol w="3340100"/>
              </a:tblGrid>
              <a:tr h="0">
                <a:tc>
                  <a:txBody>
                    <a:bodyPr/>
                    <a:lstStyle/>
                    <a:p>
                      <a:pPr lvl="0" indent="0" marL="0">
                        <a:buNone/>
                      </a:pPr>
                      <a:r>
                        <a:rPr/>
                        <a:t>Component</a:t>
                      </a:r>
                    </a:p>
                  </a:txBody>
                  <a:tcPr/>
                </a:tc>
                <a:tc>
                  <a:txBody>
                    <a:bodyPr/>
                    <a:lstStyle/>
                    <a:p>
                      <a:pPr lvl="0" indent="0" marL="0">
                        <a:buNone/>
                      </a:pPr>
                      <a:r>
                        <a:rPr/>
                        <a:t>Source</a:t>
                      </a:r>
                    </a:p>
                  </a:txBody>
                  <a:tcPr/>
                </a:tc>
                <a:tc>
                  <a:txBody>
                    <a:bodyPr/>
                    <a:lstStyle/>
                    <a:p>
                      <a:pPr lvl="0" indent="0" marL="0" algn="ctr">
                        <a:buNone/>
                      </a:pPr>
                      <a:r>
                        <a:rPr/>
                        <a:t>Novel here?</a:t>
                      </a:r>
                    </a:p>
                  </a:txBody>
                  <a:tcPr/>
                </a:tc>
              </a:tr>
              <a:tr h="0">
                <a:tc>
                  <a:txBody>
                    <a:bodyPr/>
                    <a:lstStyle/>
                    <a:p>
                      <a:pPr lvl="0" indent="0" marL="0">
                        <a:buNone/>
                      </a:pPr>
                      <a:r>
                        <a:rPr/>
                        <a:t>ViT-B visual encoder</a:t>
                      </a:r>
                    </a:p>
                  </a:txBody>
                </a:tc>
                <a:tc>
                  <a:txBody>
                    <a:bodyPr/>
                    <a:lstStyle/>
                    <a:p>
                      <a:pPr lvl="0" indent="0" marL="0">
                        <a:buNone/>
                      </a:pPr>
                      <a:r>
                        <a:rPr/>
                        <a:t>Dosovitskiy 2020, via timm</a:t>
                      </a:r>
                    </a:p>
                  </a:txBody>
                </a:tc>
                <a:tc>
                  <a:txBody>
                    <a:bodyPr/>
                    <a:lstStyle/>
                    <a:p>
                      <a:pPr lvl="0" indent="0" marL="0" algn="ctr">
                        <a:buNone/>
                      </a:pPr>
                      <a:r>
                        <a:rPr/>
                        <a:t>❌</a:t>
                      </a:r>
                    </a:p>
                  </a:txBody>
                </a:tc>
              </a:tr>
              <a:tr h="0">
                <a:tc>
                  <a:txBody>
                    <a:bodyPr/>
                    <a:lstStyle/>
                    <a:p>
                      <a:pPr lvl="0" indent="0" marL="0">
                        <a:buNone/>
                      </a:pPr>
                      <a:r>
                        <a:rPr/>
                        <a:t>ImageNet-pretrained weights</a:t>
                      </a:r>
                    </a:p>
                  </a:txBody>
                </a:tc>
                <a:tc>
                  <a:txBody>
                    <a:bodyPr/>
                    <a:lstStyle/>
                    <a:p>
                      <a:pPr lvl="0" indent="0" marL="0">
                        <a:buNone/>
                      </a:pPr>
                      <a:r>
                        <a:rPr/>
                        <a:t>OpenAI / Google / community</a:t>
                      </a:r>
                    </a:p>
                  </a:txBody>
                </a:tc>
                <a:tc>
                  <a:txBody>
                    <a:bodyPr/>
                    <a:lstStyle/>
                    <a:p>
                      <a:pPr lvl="0" indent="0" marL="0" algn="ctr">
                        <a:buNone/>
                      </a:pPr>
                      <a:r>
                        <a:rPr/>
                        <a:t>❌</a:t>
                      </a:r>
                    </a:p>
                  </a:txBody>
                </a:tc>
              </a:tr>
              <a:tr h="0">
                <a:tc>
                  <a:txBody>
                    <a:bodyPr/>
                    <a:lstStyle/>
                    <a:p>
                      <a:pPr lvl="0" indent="0" marL="0">
                        <a:buNone/>
                      </a:pPr>
                      <a:r>
                        <a:rPr/>
                        <a:t>Hierarchical Temporal Attention</a:t>
                      </a:r>
                    </a:p>
                  </a:txBody>
                </a:tc>
                <a:tc>
                  <a:txBody>
                    <a:bodyPr/>
                    <a:lstStyle/>
                    <a:p>
                      <a:pPr lvl="0" indent="0" marL="0">
                        <a:buNone/>
                      </a:pPr>
                      <a:r>
                        <a:rPr/>
                        <a:t>Surgformer (Yang 2024)</a:t>
                      </a:r>
                    </a:p>
                  </a:txBody>
                </a:tc>
                <a:tc>
                  <a:txBody>
                    <a:bodyPr/>
                    <a:lstStyle/>
                    <a:p>
                      <a:pPr lvl="0" indent="0" marL="0" algn="ctr">
                        <a:buNone/>
                      </a:pPr>
                      <a:r>
                        <a:rPr/>
                        <a:t>❌</a:t>
                      </a:r>
                    </a:p>
                  </a:txBody>
                </a:tc>
              </a:tr>
              <a:tr h="0">
                <a:tc>
                  <a:txBody>
                    <a:bodyPr/>
                    <a:lstStyle/>
                    <a:p>
                      <a:pPr lvl="0" indent="0" marL="0">
                        <a:buNone/>
                      </a:pPr>
                      <a:r>
                        <a:rPr/>
                        <a:t>Multi-task loss</a:t>
                      </a:r>
                    </a:p>
                  </a:txBody>
                </a:tc>
                <a:tc>
                  <a:txBody>
                    <a:bodyPr/>
                    <a:lstStyle/>
                    <a:p>
                      <a:pPr lvl="0" indent="0" marL="0">
                        <a:buNone/>
                      </a:pPr>
                      <a:r>
                        <a:rPr/>
                        <a:t>Kendall 2018</a:t>
                      </a:r>
                    </a:p>
                  </a:txBody>
                </a:tc>
                <a:tc>
                  <a:txBody>
                    <a:bodyPr/>
                    <a:lstStyle/>
                    <a:p>
                      <a:pPr lvl="0" indent="0" marL="0" algn="ctr">
                        <a:buNone/>
                      </a:pPr>
                      <a:r>
                        <a:rPr/>
                        <a:t>❌</a:t>
                      </a:r>
                    </a:p>
                  </a:txBody>
                </a:tc>
              </a:tr>
              <a:tr h="0">
                <a:tc>
                  <a:txBody>
                    <a:bodyPr/>
                    <a:lstStyle/>
                    <a:p>
                      <a:pPr lvl="0" indent="0" marL="0">
                        <a:buNone/>
                      </a:pPr>
                      <a:r>
                        <a:rPr/>
                        <a:t>IsotonicRegression</a:t>
                      </a:r>
                    </a:p>
                  </a:txBody>
                </a:tc>
                <a:tc>
                  <a:txBody>
                    <a:bodyPr/>
                    <a:lstStyle/>
                    <a:p>
                      <a:pPr lvl="0" indent="0" marL="0">
                        <a:buNone/>
                      </a:pPr>
                      <a:r>
                        <a:rPr/>
                        <a:t>scikit-learn (classical)</a:t>
                      </a:r>
                    </a:p>
                  </a:txBody>
                </a:tc>
                <a:tc>
                  <a:txBody>
                    <a:bodyPr/>
                    <a:lstStyle/>
                    <a:p>
                      <a:pPr lvl="0" indent="0" marL="0" algn="ctr">
                        <a:buNone/>
                      </a:pPr>
                      <a:r>
                        <a:rPr/>
                        <a:t>❌</a:t>
                      </a:r>
                    </a:p>
                  </a:txBody>
                </a:tc>
              </a:tr>
              <a:tr h="0">
                <a:tc>
                  <a:txBody>
                    <a:bodyPr/>
                    <a:lstStyle/>
                    <a:p>
                      <a:pPr lvl="0" indent="0" marL="0">
                        <a:buNone/>
                      </a:pPr>
                      <a:r>
                        <a:rPr/>
                        <a:t>K-means on phase bigrams</a:t>
                      </a:r>
                    </a:p>
                  </a:txBody>
                </a:tc>
                <a:tc>
                  <a:txBody>
                    <a:bodyPr/>
                    <a:lstStyle/>
                    <a:p>
                      <a:pPr lvl="0" indent="0" marL="0">
                        <a:buNone/>
                      </a:pPr>
                      <a:r>
                        <a:rPr/>
                        <a:t>classical unsupervised</a:t>
                      </a:r>
                    </a:p>
                  </a:txBody>
                </a:tc>
                <a:tc>
                  <a:txBody>
                    <a:bodyPr/>
                    <a:lstStyle/>
                    <a:p>
                      <a:pPr lvl="0" indent="0" marL="0" algn="ctr">
                        <a:buNone/>
                      </a:pPr>
                      <a:r>
                        <a:rPr/>
                        <a:t>❌</a:t>
                      </a:r>
                    </a:p>
                  </a:txBody>
                </a:tc>
              </a:tr>
              <a:tr h="0">
                <a:tc>
                  <a:txBody>
                    <a:bodyPr/>
                    <a:lstStyle/>
                    <a:p>
                      <a:pPr lvl="0" indent="0" marL="0">
                        <a:buNone/>
                      </a:pPr>
                      <a:r>
                        <a:rPr b="1"/>
                        <a:t>Phase-order conditioning token as a prefixed CLS</a:t>
                      </a:r>
                    </a:p>
                  </a:txBody>
                </a:tc>
                <a:tc>
                  <a:txBody>
                    <a:bodyPr/>
                    <a:lstStyle/>
                    <a:p>
                      <a:pPr lvl="0" indent="0" marL="0">
                        <a:buNone/>
                      </a:pPr>
                      <a:r>
                        <a:rPr b="1"/>
                        <a:t>us</a:t>
                      </a:r>
                    </a:p>
                  </a:txBody>
                </a:tc>
                <a:tc>
                  <a:txBody>
                    <a:bodyPr/>
                    <a:lstStyle/>
                    <a:p>
                      <a:pPr lvl="0" indent="0" marL="0" algn="ctr">
                        <a:buNone/>
                      </a:pPr>
                      <a:r>
                        <a:rPr/>
                        <a:t>✅</a:t>
                      </a:r>
                    </a:p>
                  </a:txBody>
                </a:tc>
              </a:tr>
              <a:tr h="0">
                <a:tc>
                  <a:txBody>
                    <a:bodyPr/>
                    <a:lstStyle/>
                    <a:p>
                      <a:pPr lvl="0" indent="0" marL="0">
                        <a:buNone/>
                      </a:pPr>
                      <a:r>
                        <a:rPr b="1"/>
                        <a:t>Variability-scaling finding</a:t>
                      </a:r>
                      <a:r>
                        <a:rPr/>
                        <a:t> (token helps iff variability exists)</a:t>
                      </a:r>
                    </a:p>
                  </a:txBody>
                </a:tc>
                <a:tc>
                  <a:txBody>
                    <a:bodyPr/>
                    <a:lstStyle/>
                    <a:p>
                      <a:pPr lvl="0" indent="0" marL="0">
                        <a:buNone/>
                      </a:pPr>
                      <a:r>
                        <a:rPr b="1"/>
                        <a:t>us</a:t>
                      </a:r>
                    </a:p>
                  </a:txBody>
                </a:tc>
                <a:tc>
                  <a:txBody>
                    <a:bodyPr/>
                    <a:lstStyle/>
                    <a:p>
                      <a:pPr lvl="0" indent="0" marL="0" algn="ctr">
                        <a:buNone/>
                      </a:pPr>
                      <a:r>
                        <a:rPr/>
                        <a:t>✅</a:t>
                      </a:r>
                    </a:p>
                  </a:txBody>
                </a:tc>
              </a:tr>
              <a:tr h="0">
                <a:tc>
                  <a:txBody>
                    <a:bodyPr/>
                    <a:lstStyle/>
                    <a:p>
                      <a:pPr lvl="0" indent="0" marL="0">
                        <a:buNone/>
                      </a:pPr>
                      <a:r>
                        <a:rPr b="1"/>
                        <a:t>MB140 cross-center protocol with workflow conditioning</a:t>
                      </a:r>
                    </a:p>
                  </a:txBody>
                </a:tc>
                <a:tc>
                  <a:txBody>
                    <a:bodyPr/>
                    <a:lstStyle/>
                    <a:p>
                      <a:pPr lvl="0" indent="0" marL="0">
                        <a:buNone/>
                      </a:pPr>
                      <a:r>
                        <a:rPr b="1"/>
                        <a:t>us</a:t>
                      </a:r>
                    </a:p>
                  </a:txBody>
                </a:tc>
                <a:tc>
                  <a:txBody>
                    <a:bodyPr/>
                    <a:lstStyle/>
                    <a:p>
                      <a:pPr lvl="0" indent="0" marL="0" algn="ctr">
                        <a:buNone/>
                      </a:pPr>
                      <a:r>
                        <a:rPr/>
                        <a:t>✅</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Training protocol</a:t>
            </a:r>
          </a:p>
        </p:txBody>
      </p:sp>
      <p:sp>
        <p:nvSpPr>
          <p:cNvPr id="3" name="Content Placeholder 2"/>
          <p:cNvSpPr>
            <a:spLocks noGrp="1"/>
          </p:cNvSpPr>
          <p:nvPr>
            <p:ph idx="1"/>
          </p:nvPr>
        </p:nvSpPr>
        <p:spPr/>
        <p:txBody>
          <a:bodyPr/>
          <a:lstStyle/>
          <a:p>
            <a:pPr lvl="0"/>
            <a:r>
              <a:rPr b="1"/>
              <a:t>Backbone</a:t>
            </a:r>
            <a:r>
              <a:rPr/>
              <a:t>: ViT-B (12 blocks, 768-dim, 86M params)</a:t>
            </a:r>
          </a:p>
          <a:p>
            <a:pPr lvl="0"/>
            <a:r>
              <a:rPr b="1"/>
              <a:t>Temporal</a:t>
            </a:r>
            <a:r>
              <a:rPr/>
              <a:t>: HTA (6 blocks, 3 scales)</a:t>
            </a:r>
          </a:p>
          <a:p>
            <a:pPr lvl="0"/>
            <a:r>
              <a:rPr b="1"/>
              <a:t>Heads</a:t>
            </a:r>
            <a:r>
              <a:rPr/>
              <a:t>: 3 (RSD regression, deviation classification, phase classification)</a:t>
            </a:r>
          </a:p>
          <a:p>
            <a:pPr lvl="0"/>
            <a:r>
              <a:rPr b="1"/>
              <a:t>Loss</a:t>
            </a:r>
            <a:r>
              <a:rPr/>
              <a:t>: uncertainty-weighted multi-task</a:t>
            </a:r>
          </a:p>
          <a:p>
            <a:pPr lvl="0"/>
            <a:r>
              <a:rPr b="1"/>
              <a:t>Optimizer</a:t>
            </a:r>
            <a:r>
              <a:rPr/>
              <a:t>: AdamW, lr=1e-4, weight_decay=0.05</a:t>
            </a:r>
          </a:p>
          <a:p>
            <a:pPr lvl="0"/>
            <a:r>
              <a:rPr b="1"/>
              <a:t>Schedule</a:t>
            </a:r>
            <a:r>
              <a:rPr/>
              <a:t>: cosine annealing over 15 epochs with 5-epoch warmup</a:t>
            </a:r>
          </a:p>
          <a:p>
            <a:pPr lvl="0"/>
            <a:r>
              <a:rPr b="1"/>
              <a:t>Frame sampling</a:t>
            </a:r>
            <a:r>
              <a:rPr/>
              <a:t>: 8 frames per clip, frame_stride=5 (40s window at 1 fps)</a:t>
            </a:r>
          </a:p>
          <a:p>
            <a:pPr lvl="0"/>
            <a:r>
              <a:rPr b="1"/>
              <a:t>Batch size</a:t>
            </a:r>
            <a:r>
              <a:rPr/>
              <a:t>: 64</a:t>
            </a:r>
          </a:p>
          <a:p>
            <a:pPr lvl="0"/>
            <a:r>
              <a:rPr b="1"/>
              <a:t>Frozen</a:t>
            </a:r>
            <a:r>
              <a:rPr/>
              <a:t>: first 6 of 12 ViT blocks</a:t>
            </a:r>
          </a:p>
          <a:p>
            <a:pPr lvl="0"/>
            <a:r>
              <a:rPr b="1"/>
              <a:t>Training time</a:t>
            </a:r>
            <a:r>
              <a:rPr/>
              <a:t>: ~2 hr per seed on NVIDIA GH200</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3 — Our Method in Detail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Unpacking the abstract sentence</a:t>
            </a:r>
          </a:p>
        </p:txBody>
      </p:sp>
      <p:sp>
        <p:nvSpPr>
          <p:cNvPr id="3" name="Content Placeholder 2"/>
          <p:cNvSpPr>
            <a:spLocks noGrp="1"/>
          </p:cNvSpPr>
          <p:nvPr>
            <p:ph idx="1"/>
          </p:nvPr>
        </p:nvSpPr>
        <p:spPr/>
        <p:txBody>
          <a:bodyPr/>
          <a:lstStyle/>
          <a:p>
            <a:pPr lvl="0" indent="0" marL="1270000">
              <a:buNone/>
            </a:pPr>
            <a:r>
              <a:rPr sz="2000" i="1"/>
              <a:t>“Our current system augments a standard surgical video predictor with a </a:t>
            </a:r>
            <a:r>
              <a:rPr sz="2000" b="1" i="1"/>
              <a:t>retrospective phase-order token</a:t>
            </a:r>
            <a:r>
              <a:rPr sz="2000" i="1"/>
              <a:t> derived from an </a:t>
            </a:r>
            <a:r>
              <a:rPr sz="2000" b="1" i="1"/>
              <a:t>offline clustering of the full case</a:t>
            </a:r>
            <a:r>
              <a:rPr sz="2000" i="1"/>
              <a:t>.”</a:t>
            </a:r>
          </a:p>
          <a:p>
            <a:pPr lvl="0" indent="0" marL="0">
              <a:buNone/>
            </a:pPr>
            <a:r>
              <a:rPr/>
              <a:t>Four phrases, unpacked:</a:t>
            </a:r>
          </a:p>
          <a:p>
            <a:pPr lvl="0"/>
            <a:r>
              <a:rPr b="1"/>
              <a:t>“full case”</a:t>
            </a:r>
            <a:r>
              <a:rPr/>
              <a:t> — the entire surgery video, first frame to last.</a:t>
            </a:r>
          </a:p>
          <a:p>
            <a:pPr lvl="0"/>
            <a:r>
              <a:rPr b="1"/>
              <a:t>“offline clustering”</a:t>
            </a:r>
            <a:r>
              <a:rPr/>
              <a:t> — k-means run </a:t>
            </a:r>
            <a:r>
              <a:rPr i="1"/>
              <a:t>once, before training</a:t>
            </a:r>
            <a:r>
              <a:rPr/>
              <a:t>, not at inference. Cluster IDs are stored alongside each video.</a:t>
            </a:r>
          </a:p>
          <a:p>
            <a:pPr lvl="0"/>
            <a:r>
              <a:rPr b="1"/>
              <a:t>“phase-order token”</a:t>
            </a:r>
            <a:r>
              <a:rPr/>
              <a:t> — one learnable 768-dim embedding per cluster (</a:t>
            </a:r>
            <a:r>
              <a:rPr>
                <a:latin typeface="Courier"/>
              </a:rPr>
              <a:t>nn.Embedding(K, 768)</a:t>
            </a:r>
            <a:r>
              <a:rPr/>
              <a:t>); the cluster ID looks up the vector and prepends it to the frame sequence like a [CLS] token.</a:t>
            </a:r>
          </a:p>
          <a:p>
            <a:pPr lvl="0"/>
            <a:r>
              <a:rPr b="1"/>
              <a:t>“retrospective”</a:t>
            </a:r>
            <a:r>
              <a:rPr/>
              <a:t> — the cluster ID depends on the video’s </a:t>
            </a:r>
            <a:r>
              <a:rPr i="1"/>
              <a:t>full</a:t>
            </a:r>
            <a:r>
              <a:rPr/>
              <a:t> phase sequence, so in a live OR (where only the prefix is observable) you couldn’t produce it. </a:t>
            </a:r>
            <a:r>
              <a:rPr b="1"/>
              <a:t>This makes the model a diagnostic upper bound, not a deployable predictor.</a:t>
            </a:r>
          </a:p>
          <a:p>
            <a:pPr lvl="0" indent="0" marL="0">
              <a:buNone/>
            </a:pPr>
            <a:r>
              <a:rPr/>
              <a:t>In one sentence: we tell the model, </a:t>
            </a:r>
            <a:r>
              <a:rPr i="1"/>
              <a:t>as an oracle side-channel</a:t>
            </a:r>
            <a:r>
              <a:rPr/>
              <a:t>, which workflow family the whole case belongs to, and then measure whether the model uses that information.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Architecture — one diagram</a:t>
            </a:r>
          </a:p>
        </p:txBody>
      </p:sp>
      <p:pic>
        <p:nvPicPr>
          <p:cNvPr descr="../figures/fig3_architecture.png" id="0" name="Picture 1"/>
          <p:cNvPicPr>
            <a:picLocks noGrp="1" noChangeAspect="1"/>
          </p:cNvPicPr>
          <p:nvPr/>
        </p:nvPicPr>
        <p:blipFill>
          <a:blip r:embed="rId3"/>
          <a:stretch>
            <a:fillRect/>
          </a:stretch>
        </p:blipFill>
        <p:spPr bwMode="auto">
          <a:xfrm>
            <a:off x="838200" y="1193800"/>
            <a:ext cx="7467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3 from the paper — retrospective workflow-conditioned RSD predictor. The red banner on the workflow-token input emphasizes that the cluster ID is an oracle side-channel derived from the full video, not something the model can infer online.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17. The phase-order conditioning token — the novel piece</a:t>
            </a:r>
          </a:p>
        </p:txBody>
      </p:sp>
      <p:sp>
        <p:nvSpPr>
          <p:cNvPr id="3" name="Content Placeholder 2"/>
          <p:cNvSpPr>
            <a:spLocks noGrp="1"/>
          </p:cNvSpPr>
          <p:nvPr>
            <p:ph idx="1"/>
          </p:nvPr>
        </p:nvSpPr>
        <p:spPr/>
        <p:txBody>
          <a:bodyPr/>
          <a:lstStyle/>
          <a:p>
            <a:pPr lvl="0"/>
            <a:r>
              <a:rPr/>
              <a:t>Offline: cluster videos by their phase-transition fingerprint.</a:t>
            </a:r>
          </a:p>
          <a:p>
            <a:pPr lvl="0"/>
            <a:r>
              <a:rPr/>
              <a:t>One learnable embedding per cluster: </a:t>
            </a:r>
            <a:r>
              <a:rPr>
                <a:latin typeface="Courier"/>
              </a:rPr>
              <a:t>nn.Embedding(K, 768)</a:t>
            </a:r>
            <a:r>
              <a:rPr/>
              <a:t>.</a:t>
            </a:r>
          </a:p>
          <a:p>
            <a:pPr lvl="0"/>
            <a:r>
              <a:rPr/>
              <a:t>Prepend the cluster-specific embedding to the frame sequence.</a:t>
            </a:r>
          </a:p>
          <a:p>
            <a:pPr lvl="0"/>
            <a:r>
              <a:rPr/>
              <a:t>Train end-to-end alongside the visual encoder and HTA.</a:t>
            </a:r>
          </a:p>
          <a:p>
            <a:pPr lvl="0"/>
            <a:r>
              <a:rPr/>
              <a:t>At inference: need to know which cluster (retrospective in current version).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18. Computing the phase-order clusters (offline)</a:t>
            </a:r>
          </a:p>
        </p:txBody>
      </p:sp>
      <p:sp>
        <p:nvSpPr>
          <p:cNvPr id="3" name="Content Placeholder 2"/>
          <p:cNvSpPr>
            <a:spLocks noGrp="1"/>
          </p:cNvSpPr>
          <p:nvPr>
            <p:ph idx="1"/>
          </p:nvPr>
        </p:nvSpPr>
        <p:spPr/>
        <p:txBody>
          <a:bodyPr/>
          <a:lstStyle/>
          <a:p>
            <a:pPr lvl="0" indent="0" marL="0">
              <a:buNone/>
            </a:pPr>
            <a:r>
              <a:rPr/>
              <a:t>Per-video, the pipeline is:</a:t>
            </a:r>
          </a:p>
          <a:p>
            <a:pPr lvl="0" indent="-342900" marL="342900">
              <a:buAutoNum type="arabicPeriod"/>
            </a:pPr>
            <a:r>
              <a:rPr/>
              <a:t>Collect the phase sequence for the whole video.</a:t>
            </a:r>
          </a:p>
          <a:p>
            <a:pPr lvl="0" indent="-342900" marL="342900">
              <a:buAutoNum type="arabicPeriod"/>
            </a:pPr>
            <a:r>
              <a:rPr/>
              <a:t>Deduplicate consecutive identical phases (</a:t>
            </a:r>
            <a:r>
              <a:rPr>
                <a:latin typeface="Courier"/>
              </a:rPr>
              <a:t>A, A, A, B</a:t>
            </a:r>
            <a:r>
              <a:rPr/>
              <a:t> -&gt; </a:t>
            </a:r>
            <a:r>
              <a:rPr>
                <a:latin typeface="Courier"/>
              </a:rPr>
              <a:t>A, B</a:t>
            </a:r>
            <a:r>
              <a:rPr/>
              <a:t>).</a:t>
            </a:r>
          </a:p>
          <a:p>
            <a:pPr lvl="0" indent="-342900" marL="342900">
              <a:buAutoNum type="arabicPeriod"/>
            </a:pPr>
            <a:r>
              <a:rPr/>
              <a:t>Extract ordered phase </a:t>
            </a:r>
            <a:r>
              <a:rPr b="1"/>
              <a:t>bigrams</a:t>
            </a:r>
            <a:r>
              <a:rPr/>
              <a:t> (</a:t>
            </a:r>
            <a:r>
              <a:rPr>
                <a:latin typeface="Courier"/>
              </a:rPr>
              <a:t>A, B, C</a:t>
            </a:r>
            <a:r>
              <a:rPr/>
              <a:t> -&gt; </a:t>
            </a:r>
            <a:r>
              <a:rPr>
                <a:latin typeface="Courier"/>
              </a:rPr>
              <a:t>{A-&gt;B, B-&gt;C}</a:t>
            </a:r>
            <a:r>
              <a:rPr/>
              <a:t>).</a:t>
            </a:r>
          </a:p>
          <a:p>
            <a:pPr lvl="0" indent="-342900" marL="342900">
              <a:buAutoNum type="arabicPeriod"/>
            </a:pPr>
            <a:r>
              <a:rPr/>
              <a:t>Vectorize with </a:t>
            </a:r>
            <a:r>
              <a:rPr b="1"/>
              <a:t>TF-IDF</a:t>
            </a:r>
            <a:r>
              <a:rPr/>
              <a:t> across all videos.</a:t>
            </a:r>
          </a:p>
          <a:p>
            <a:pPr lvl="0" indent="-342900" marL="342900">
              <a:buAutoNum type="arabicPeriod"/>
            </a:pPr>
            <a:r>
              <a:rPr b="1"/>
              <a:t>PCA</a:t>
            </a:r>
            <a:r>
              <a:rPr/>
              <a:t> to 16 components (noise reduction).</a:t>
            </a:r>
          </a:p>
          <a:p>
            <a:pPr lvl="0" indent="-342900" marL="342900">
              <a:buAutoNum type="arabicPeriod"/>
            </a:pPr>
            <a:r>
              <a:rPr b="1"/>
              <a:t>K-means</a:t>
            </a:r>
            <a:r>
              <a:rPr/>
              <a:t> clustering (k=6 for MB140, k=4 for Cholec80).</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19. Multi-task heads</a:t>
            </a:r>
          </a:p>
        </p:txBody>
      </p:sp>
      <p:sp>
        <p:nvSpPr>
          <p:cNvPr id="3" name="Content Placeholder 2"/>
          <p:cNvSpPr>
            <a:spLocks noGrp="1"/>
          </p:cNvSpPr>
          <p:nvPr>
            <p:ph idx="1"/>
          </p:nvPr>
        </p:nvSpPr>
        <p:spPr/>
        <p:txBody>
          <a:bodyPr/>
          <a:lstStyle/>
          <a:p>
            <a:pPr lvl="0" indent="0" marL="0">
              <a:buNone/>
            </a:pPr>
            <a:r>
              <a:rPr/>
              <a:t>Given the clip representation </a:t>
            </a:r>
            <a:r>
              <a:rPr>
                <a:latin typeface="Courier"/>
              </a:rPr>
              <a:t>h</a:t>
            </a:r>
            <a:r>
              <a:rPr/>
              <a:t> from the temporal module:</a:t>
            </a:r>
          </a:p>
          <a:p>
            <a:pPr lvl="0"/>
            <a:r>
              <a:rPr b="1"/>
              <a:t>RSD head</a:t>
            </a:r>
            <a:r>
              <a:rPr/>
              <a:t> — 2-layer MLP, output 1 scalar, MSE loss</a:t>
            </a:r>
          </a:p>
          <a:p>
            <a:pPr lvl="0"/>
            <a:r>
              <a:rPr b="1"/>
              <a:t>Deviation head</a:t>
            </a:r>
            <a:r>
              <a:rPr/>
              <a:t> — 2-layer MLP, output 1 scalar (logit), BCE loss with positive weight</a:t>
            </a:r>
          </a:p>
          <a:p>
            <a:pPr lvl="0"/>
            <a:r>
              <a:rPr b="1"/>
              <a:t>Phase head</a:t>
            </a:r>
            <a:r>
              <a:rPr/>
              <a:t> — 1-layer linear, output K classes, cross-entropy loss</a:t>
            </a:r>
          </a:p>
          <a:p>
            <a:pPr lvl="0" indent="0" marL="0">
              <a:buNone/>
            </a:pPr>
            <a:r>
              <a:rPr/>
              <a:t>Total loss is uncertainty-weighted sum (Slide 12).</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20. Training pipeline — end-to-end</a:t>
            </a:r>
          </a:p>
        </p:txBody>
      </p:sp>
      <p:sp>
        <p:nvSpPr>
          <p:cNvPr id="3" name="Content Placeholder 2"/>
          <p:cNvSpPr>
            <a:spLocks noGrp="1"/>
          </p:cNvSpPr>
          <p:nvPr>
            <p:ph idx="1"/>
          </p:nvPr>
        </p:nvSpPr>
        <p:spPr/>
        <p:txBody>
          <a:bodyPr/>
          <a:lstStyle/>
          <a:p>
            <a:pPr lvl="0" indent="-342900" marL="342900">
              <a:buAutoNum type="arabicPeriod"/>
            </a:pPr>
            <a:r>
              <a:rPr/>
              <a:t>Load </a:t>
            </a:r>
            <a:r>
              <a:rPr>
                <a:latin typeface="Courier"/>
              </a:rPr>
              <a:t>labels.json</a:t>
            </a:r>
            <a:r>
              <a:rPr/>
              <a:t> — each video with phase sequence + computed cluster ID + per-frame annotations.</a:t>
            </a:r>
          </a:p>
          <a:p>
            <a:pPr lvl="0" indent="-342900" marL="342900">
              <a:buAutoNum type="arabicPeriod"/>
            </a:pPr>
            <a:r>
              <a:rPr>
                <a:latin typeface="Courier"/>
              </a:rPr>
              <a:t>BariatricFrameDataset</a:t>
            </a:r>
            <a:r>
              <a:rPr/>
              <a:t> yields </a:t>
            </a:r>
            <a:r>
              <a:rPr>
                <a:latin typeface="Courier"/>
              </a:rPr>
              <a:t>(frames [TxCxHxW], cluster_id, labels)</a:t>
            </a:r>
            <a:r>
              <a:rPr/>
              <a:t>.</a:t>
            </a:r>
          </a:p>
          <a:p>
            <a:pPr lvl="0" indent="-342900" marL="342900">
              <a:buAutoNum type="arabicPeriod"/>
            </a:pPr>
            <a:r>
              <a:rPr/>
              <a:t>16 parallel data-loader workers on 64 CPUs decode JPEGs + apply augmentations.</a:t>
            </a:r>
          </a:p>
          <a:p>
            <a:pPr lvl="0" indent="-342900" marL="342900">
              <a:buAutoNum type="arabicPeriod"/>
            </a:pPr>
            <a:r>
              <a:rPr/>
              <a:t>Model forward: ViT -&gt; HTA -&gt; heads.</a:t>
            </a:r>
          </a:p>
          <a:p>
            <a:pPr lvl="0" indent="-342900" marL="342900">
              <a:buAutoNum type="arabicPeriod"/>
            </a:pPr>
            <a:r>
              <a:rPr/>
              <a:t>Loss forward: uncertainty-weighted sum.</a:t>
            </a:r>
          </a:p>
          <a:p>
            <a:pPr lvl="0" indent="-342900" marL="342900">
              <a:buAutoNum type="arabicPeriod"/>
            </a:pPr>
            <a:r>
              <a:rPr/>
              <a:t>Backward + AdamW step.</a:t>
            </a:r>
          </a:p>
          <a:p>
            <a:pPr lvl="0" indent="-342900" marL="342900">
              <a:buAutoNum type="arabicPeriod"/>
            </a:pPr>
            <a:r>
              <a:rPr/>
              <a:t>Log per-step to WandB.</a:t>
            </a:r>
          </a:p>
          <a:p>
            <a:pPr lvl="0" indent="-342900" marL="342900">
              <a:buAutoNum type="arabicPeriod"/>
            </a:pPr>
            <a:r>
              <a:rPr/>
              <a:t>Validate every epoch, save </a:t>
            </a:r>
            <a:r>
              <a:rPr>
                <a:latin typeface="Courier"/>
              </a:rPr>
              <a:t>best_model.pth</a:t>
            </a:r>
            <a:r>
              <a:rPr/>
              <a:t> by val MAE.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4 — Experiments &amp; Results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21. Workflow diversity measurement</a:t>
            </a:r>
          </a:p>
        </p:txBody>
      </p:sp>
      <p:pic>
        <p:nvPicPr>
          <p:cNvPr descr="../figures/fig1_cluster_diversity.png" id="0" name="Picture 1"/>
          <p:cNvPicPr>
            <a:picLocks noGrp="1" noChangeAspect="1"/>
          </p:cNvPicPr>
          <p:nvPr/>
        </p:nvPicPr>
        <p:blipFill>
          <a:blip r:embed="rId3"/>
          <a:stretch>
            <a:fillRect/>
          </a:stretch>
        </p:blipFill>
        <p:spPr bwMode="auto">
          <a:xfrm>
            <a:off x="698500" y="1193800"/>
            <a:ext cx="7747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1 — cluster diversity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22. MultiBypass140 main result</a:t>
            </a:r>
          </a:p>
        </p:txBody>
      </p:sp>
      <p:pic>
        <p:nvPicPr>
          <p:cNvPr descr="../figures/fig4_mb140_main_result.png" id="0" name="Picture 1"/>
          <p:cNvPicPr>
            <a:picLocks noGrp="1" noChangeAspect="1"/>
          </p:cNvPicPr>
          <p:nvPr/>
        </p:nvPicPr>
        <p:blipFill>
          <a:blip r:embed="rId3"/>
          <a:stretch>
            <a:fillRect/>
          </a:stretch>
        </p:blipFill>
        <p:spPr bwMode="auto">
          <a:xfrm>
            <a:off x="2146300" y="1193800"/>
            <a:ext cx="485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4 — MB140 main result</a:t>
            </a:r>
          </a:p>
        </p:txBody>
      </p:sp>
      <p:sp>
        <p:nvSpPr>
          <p:cNvPr id="3" name="Content Placeholder 2"/>
          <p:cNvSpPr>
            <a:spLocks noGrp="1"/>
          </p:cNvSpPr>
          <p:nvPr>
            <p:ph idx="1"/>
          </p:nvPr>
        </p:nvSpPr>
        <p:spPr/>
        <p:txBody>
          <a:bodyPr/>
          <a:lstStyle/>
          <a:p>
            <a:pPr lvl="0"/>
            <a:r>
              <a:rPr b="1"/>
              <a:t>Without token</a:t>
            </a:r>
            <a:r>
              <a:rPr/>
              <a:t>: 13.55 min val MAE</a:t>
            </a:r>
          </a:p>
          <a:p>
            <a:pPr lvl="0"/>
            <a:r>
              <a:rPr b="1"/>
              <a:t>With kmeans token</a:t>
            </a:r>
            <a:r>
              <a:rPr/>
              <a:t> (3 seeds): </a:t>
            </a:r>
            <a:r>
              <a:rPr b="1"/>
              <a:t>12.59 +/- 0.33 min</a:t>
            </a:r>
          </a:p>
          <a:p>
            <a:pPr lvl="0"/>
            <a:r>
              <a:rPr b="1"/>
              <a:t>Effect size</a:t>
            </a:r>
            <a:r>
              <a:rPr/>
              <a:t>: -0.96 min (significantly outside cross-seed noise)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23. Cross-center shift dominates</a:t>
            </a:r>
          </a:p>
        </p:txBody>
      </p:sp>
      <p:pic>
        <p:nvPicPr>
          <p:cNvPr descr="../figures/fig6_cross_center_gap.png" id="0" name="Picture 1"/>
          <p:cNvPicPr>
            <a:picLocks noGrp="1" noChangeAspect="1"/>
          </p:cNvPicPr>
          <p:nvPr/>
        </p:nvPicPr>
        <p:blipFill>
          <a:blip r:embed="rId3"/>
          <a:stretch>
            <a:fillRect/>
          </a:stretch>
        </p:blipFill>
        <p:spPr bwMode="auto">
          <a:xfrm>
            <a:off x="2273300" y="1193800"/>
            <a:ext cx="4597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6 — cross-center gap</a:t>
            </a:r>
          </a:p>
        </p:txBody>
      </p:sp>
      <p:sp>
        <p:nvSpPr>
          <p:cNvPr id="3" name="Content Placeholder 2"/>
          <p:cNvSpPr>
            <a:spLocks noGrp="1"/>
          </p:cNvSpPr>
          <p:nvPr>
            <p:ph idx="1"/>
          </p:nvPr>
        </p:nvSpPr>
        <p:spPr/>
        <p:txBody>
          <a:bodyPr/>
          <a:lstStyle/>
          <a:p>
            <a:pPr lvl="0" indent="0" marL="0">
              <a:buNone/>
            </a:pPr>
            <a:r>
              <a:rPr/>
              <a:t>Within-center: 13.15 min. Cross-center: 18.94 min. </a:t>
            </a:r>
            <a:r>
              <a:rPr b="1"/>
              <a:t>+5.79 min gap.</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24. Cholec80: the null result we predicted</a:t>
            </a:r>
          </a:p>
        </p:txBody>
      </p:sp>
      <p:pic>
        <p:nvPicPr>
          <p:cNvPr descr="../figures/fig5_cholec80_null_result.png" id="0" name="Picture 1"/>
          <p:cNvPicPr>
            <a:picLocks noGrp="1" noChangeAspect="1"/>
          </p:cNvPicPr>
          <p:nvPr/>
        </p:nvPicPr>
        <p:blipFill>
          <a:blip r:embed="rId3"/>
          <a:stretch>
            <a:fillRect/>
          </a:stretch>
        </p:blipFill>
        <p:spPr bwMode="auto">
          <a:xfrm>
            <a:off x="2146300" y="1193800"/>
            <a:ext cx="4851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5 — Cholec80 null result</a:t>
            </a:r>
          </a:p>
        </p:txBody>
      </p:sp>
      <p:sp>
        <p:nvSpPr>
          <p:cNvPr id="3" name="Content Placeholder 2"/>
          <p:cNvSpPr>
            <a:spLocks noGrp="1"/>
          </p:cNvSpPr>
          <p:nvPr>
            <p:ph idx="1"/>
          </p:nvPr>
        </p:nvSpPr>
        <p:spPr/>
        <p:txBody>
          <a:bodyPr/>
          <a:lstStyle/>
          <a:p>
            <a:pPr lvl="0"/>
            <a:r>
              <a:rPr/>
              <a:t>With token: 4.49 +/- 0.14 min val MAE</a:t>
            </a:r>
          </a:p>
          <a:p>
            <a:pPr lvl="0"/>
            <a:r>
              <a:rPr/>
              <a:t>Without token: 4.61 +/- 0.19 min val MAE</a:t>
            </a:r>
          </a:p>
          <a:p>
            <a:pPr lvl="0"/>
            <a:r>
              <a:rPr b="1"/>
              <a:t>Delta = +0.12</a:t>
            </a:r>
            <a:r>
              <a:rPr/>
              <a:t> — inside the cross-seed std. Null result.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25. Duration distributions reveal the datasets</a:t>
            </a:r>
          </a:p>
        </p:txBody>
      </p:sp>
      <p:pic>
        <p:nvPicPr>
          <p:cNvPr descr="../figures/fig2_duration_distributions.png" id="0" name="Picture 1"/>
          <p:cNvPicPr>
            <a:picLocks noGrp="1" noChangeAspect="1"/>
          </p:cNvPicPr>
          <p:nvPr/>
        </p:nvPicPr>
        <p:blipFill>
          <a:blip r:embed="rId3"/>
          <a:stretch>
            <a:fillRect/>
          </a:stretch>
        </p:blipFill>
        <p:spPr bwMode="auto">
          <a:xfrm>
            <a:off x="800100" y="1193800"/>
            <a:ext cx="75565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2 — duration distributions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26. Transfer learning from MB140 to Cholec80</a:t>
            </a:r>
          </a:p>
        </p:txBody>
      </p:sp>
      <p:sp>
        <p:nvSpPr>
          <p:cNvPr id="3" name="Content Placeholder 2"/>
          <p:cNvSpPr>
            <a:spLocks noGrp="1"/>
          </p:cNvSpPr>
          <p:nvPr>
            <p:ph idx="1"/>
          </p:nvPr>
        </p:nvSpPr>
        <p:spPr/>
        <p:txBody>
          <a:bodyPr/>
          <a:lstStyle/>
          <a:p>
            <a:pPr lvl="0"/>
            <a:r>
              <a:rPr/>
              <a:t>Take Run 010’s best MB140 checkpoint.</a:t>
            </a:r>
          </a:p>
          <a:p>
            <a:pPr lvl="0"/>
            <a:r>
              <a:rPr/>
              <a:t>Partially load into a fresh Cholec80 model (drop phase-head and cluster-embed, keep everything else — 269/272 params).</a:t>
            </a:r>
          </a:p>
          <a:p>
            <a:pPr lvl="0"/>
            <a:r>
              <a:rPr/>
              <a:t>Fine-tune on Cholec80 training set.</a:t>
            </a:r>
          </a:p>
          <a:p>
            <a:pPr lvl="0"/>
            <a:r>
              <a:rPr b="1"/>
              <a:t>Result</a:t>
            </a:r>
            <a:r>
              <a:rPr/>
              <a:t>: test MAE drops from 4.458 +/- 0.224 (from-scratch) to </a:t>
            </a:r>
            <a:r>
              <a:rPr b="1"/>
              <a:t>4.337 +/- 0.209</a:t>
            </a:r>
            <a:r>
              <a:rPr/>
              <a:t> — wins on every seed.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27. Inference-time improvements</a:t>
            </a:r>
          </a:p>
        </p:txBody>
      </p:sp>
      <p:pic>
        <p:nvPicPr>
          <p:cNvPr descr="../figures/fig7_cholec_inference_ablation.png" id="0" name="Picture 1"/>
          <p:cNvPicPr>
            <a:picLocks noGrp="1" noChangeAspect="1"/>
          </p:cNvPicPr>
          <p:nvPr/>
        </p:nvPicPr>
        <p:blipFill>
          <a:blip r:embed="rId2"/>
          <a:stretch>
            <a:fillRect/>
          </a:stretch>
        </p:blipFill>
        <p:spPr bwMode="auto">
          <a:xfrm>
            <a:off x="1320800" y="1193800"/>
            <a:ext cx="6502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Figure 7 — inference-time ablation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Config</a:t>
                      </a:r>
                    </a:p>
                  </a:txBody>
                  <a:tcPr/>
                </a:tc>
                <a:tc>
                  <a:txBody>
                    <a:bodyPr/>
                    <a:lstStyle/>
                    <a:p>
                      <a:pPr lvl="0" indent="0" marL="0" algn="r">
                        <a:buNone/>
                      </a:pPr>
                      <a:r>
                        <a:rPr/>
                        <a:t>Test MAE (min)</a:t>
                      </a:r>
                    </a:p>
                  </a:txBody>
                  <a:tcPr/>
                </a:tc>
              </a:tr>
              <a:tr h="0">
                <a:tc>
                  <a:txBody>
                    <a:bodyPr/>
                    <a:lstStyle/>
                    <a:p>
                      <a:pPr lvl="0" indent="0" marL="0">
                        <a:buNone/>
                      </a:pPr>
                      <a:r>
                        <a:rPr/>
                        <a:t>Run 018 (transfer)</a:t>
                      </a:r>
                    </a:p>
                  </a:txBody>
                </a:tc>
                <a:tc>
                  <a:txBody>
                    <a:bodyPr/>
                    <a:lstStyle/>
                    <a:p>
                      <a:pPr lvl="0" indent="0" marL="0" algn="r">
                        <a:buNone/>
                      </a:pPr>
                      <a:r>
                        <a:rPr/>
                        <a:t>4.337</a:t>
                      </a:r>
                    </a:p>
                  </a:txBody>
                </a:tc>
              </a:tr>
              <a:tr h="0">
                <a:tc>
                  <a:txBody>
                    <a:bodyPr/>
                    <a:lstStyle/>
                    <a:p>
                      <a:pPr lvl="0" indent="0" marL="0">
                        <a:buNone/>
                      </a:pPr>
                      <a:r>
                        <a:rPr/>
                        <a:t>+ 3-seed ensemble</a:t>
                      </a:r>
                    </a:p>
                  </a:txBody>
                </a:tc>
                <a:tc>
                  <a:txBody>
                    <a:bodyPr/>
                    <a:lstStyle/>
                    <a:p>
                      <a:pPr lvl="0" indent="0" marL="0" algn="r">
                        <a:buNone/>
                      </a:pPr>
                      <a:r>
                        <a:rPr/>
                        <a:t>4.099</a:t>
                      </a:r>
                    </a:p>
                  </a:txBody>
                </a:tc>
              </a:tr>
              <a:tr h="0">
                <a:tc>
                  <a:txBody>
                    <a:bodyPr/>
                    <a:lstStyle/>
                    <a:p>
                      <a:pPr lvl="0" indent="0" marL="0">
                        <a:buNone/>
                      </a:pPr>
                      <a:r>
                        <a:rPr/>
                        <a:t>+ TTA horizontal flip</a:t>
                      </a:r>
                    </a:p>
                  </a:txBody>
                </a:tc>
                <a:tc>
                  <a:txBody>
                    <a:bodyPr/>
                    <a:lstStyle/>
                    <a:p>
                      <a:pPr lvl="0" indent="0" marL="0" algn="r">
                        <a:buNone/>
                      </a:pPr>
                      <a:r>
                        <a:rPr/>
                        <a:t>4.117 (neutral)</a:t>
                      </a:r>
                    </a:p>
                  </a:txBody>
                </a:tc>
              </a:tr>
              <a:tr h="0">
                <a:tc>
                  <a:txBody>
                    <a:bodyPr/>
                    <a:lstStyle/>
                    <a:p>
                      <a:pPr lvl="0" indent="0" marL="0">
                        <a:buNone/>
                      </a:pPr>
                      <a:r>
                        <a:rPr/>
                        <a:t>+ single seed isotonic</a:t>
                      </a:r>
                    </a:p>
                  </a:txBody>
                </a:tc>
                <a:tc>
                  <a:txBody>
                    <a:bodyPr/>
                    <a:lstStyle/>
                    <a:p>
                      <a:pPr lvl="0" indent="0" marL="0" algn="r">
                        <a:buNone/>
                      </a:pPr>
                      <a:r>
                        <a:rPr/>
                        <a:t>3.694</a:t>
                      </a:r>
                    </a:p>
                  </a:txBody>
                </a:tc>
              </a:tr>
              <a:tr h="0">
                <a:tc>
                  <a:txBody>
                    <a:bodyPr/>
                    <a:lstStyle/>
                    <a:p>
                      <a:pPr lvl="0" indent="0" marL="0">
                        <a:buNone/>
                      </a:pPr>
                      <a:r>
                        <a:rPr b="1"/>
                        <a:t>Full stack: ensemble + TTA + isotonic</a:t>
                      </a:r>
                    </a:p>
                  </a:txBody>
                </a:tc>
                <a:tc>
                  <a:txBody>
                    <a:bodyPr/>
                    <a:lstStyle/>
                    <a:p>
                      <a:pPr lvl="0" indent="0" marL="0" algn="r">
                        <a:buNone/>
                      </a:pPr>
                      <a:r>
                        <a:rPr b="1"/>
                        <a:t>3.563</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28. The 3.56 min headline number</a:t>
            </a:r>
          </a:p>
        </p:txBody>
      </p:sp>
      <p:sp>
        <p:nvSpPr>
          <p:cNvPr id="3" name="Content Placeholder 2"/>
          <p:cNvSpPr>
            <a:spLocks noGrp="1"/>
          </p:cNvSpPr>
          <p:nvPr>
            <p:ph idx="1"/>
          </p:nvPr>
        </p:nvSpPr>
        <p:spPr/>
        <p:txBody>
          <a:bodyPr/>
          <a:lstStyle/>
          <a:p>
            <a:pPr lvl="0"/>
            <a:r>
              <a:rPr b="1"/>
              <a:t>Cholec80 test MAE</a:t>
            </a:r>
            <a:r>
              <a:rPr/>
              <a:t>: 3.56 min (30 held-out videos, 3-seed ensemble + TTA + isotonic)</a:t>
            </a:r>
          </a:p>
          <a:p>
            <a:pPr lvl="0"/>
            <a:r>
              <a:rPr b="1"/>
              <a:t>TransLocal published SOTA</a:t>
            </a:r>
            <a:r>
              <a:rPr/>
              <a:t>: 7.10 min</a:t>
            </a:r>
          </a:p>
          <a:p>
            <a:pPr lvl="0"/>
            <a:r>
              <a:rPr b="1"/>
              <a:t>Improvement</a:t>
            </a:r>
            <a:r>
              <a:rPr/>
              <a:t>: 3.54 min (50% error reduction)</a:t>
            </a:r>
          </a:p>
          <a:p>
            <a:pPr lvl="0" indent="0" marL="0">
              <a:buNone/>
            </a:pPr>
            <a:r>
              <a:rPr b="1"/>
              <a:t>But this should be an </a:t>
            </a:r>
            <a:r>
              <a:rPr b="1" i="1"/>
              <a:t>appendix</a:t>
            </a:r>
            <a:r>
              <a:rPr b="1"/>
              <a:t> result, not the main claim.</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5 — Lessons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29. The main scientific finding</a:t>
            </a:r>
          </a:p>
        </p:txBody>
      </p:sp>
      <p:sp>
        <p:nvSpPr>
          <p:cNvPr id="3" name="Content Placeholder 2"/>
          <p:cNvSpPr>
            <a:spLocks noGrp="1"/>
          </p:cNvSpPr>
          <p:nvPr>
            <p:ph idx="1"/>
          </p:nvPr>
        </p:nvSpPr>
        <p:spPr/>
        <p:txBody>
          <a:bodyPr/>
          <a:lstStyle/>
          <a:p>
            <a:pPr lvl="0" indent="0" marL="1270000">
              <a:buNone/>
            </a:pPr>
            <a:r>
              <a:rPr sz="2000" b="1"/>
              <a:t>Workflow conditioning helps iff workflow variability is present.</a:t>
            </a:r>
          </a:p>
          <a:p>
            <a:pPr lvl="0"/>
            <a:r>
              <a:rPr/>
              <a:t>MB140: high workflow variability -&gt; token helps (~1 min val MAE improvement).</a:t>
            </a:r>
          </a:p>
          <a:p>
            <a:pPr lvl="0"/>
            <a:r>
              <a:rPr/>
              <a:t>Cholec80: low workflow variability -&gt; token is neutral (effect inside cross-seed std).</a:t>
            </a:r>
          </a:p>
          <a:p>
            <a:pPr lvl="0"/>
            <a:r>
              <a:rPr/>
              <a:t>This is a </a:t>
            </a:r>
            <a:r>
              <a:rPr i="1"/>
              <a:t>scaling law</a:t>
            </a:r>
            <a:r>
              <a:rPr/>
              <a:t>, not a universal claim.</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30. What the retrospective label means</a:t>
            </a:r>
          </a:p>
        </p:txBody>
      </p:sp>
      <p:sp>
        <p:nvSpPr>
          <p:cNvPr id="3" name="Content Placeholder 2"/>
          <p:cNvSpPr>
            <a:spLocks noGrp="1"/>
          </p:cNvSpPr>
          <p:nvPr>
            <p:ph idx="1"/>
          </p:nvPr>
        </p:nvSpPr>
        <p:spPr/>
        <p:txBody>
          <a:bodyPr/>
          <a:lstStyle/>
          <a:p>
            <a:pPr lvl="0"/>
            <a:r>
              <a:rPr/>
              <a:t>Our cluster ID depends on the </a:t>
            </a:r>
            <a:r>
              <a:rPr b="1"/>
              <a:t>full video’s</a:t>
            </a:r>
            <a:r>
              <a:rPr/>
              <a:t> phase sequence.</a:t>
            </a:r>
          </a:p>
          <a:p>
            <a:pPr lvl="0"/>
            <a:r>
              <a:rPr/>
              <a:t>At inference, to compute it we’d need the full video — which we don’t have online.</a:t>
            </a:r>
          </a:p>
          <a:p>
            <a:pPr lvl="0"/>
            <a:r>
              <a:rPr/>
              <a:t>So our current system is </a:t>
            </a:r>
            <a:r>
              <a:rPr b="1"/>
              <a:t>retrospective</a:t>
            </a:r>
            <a:r>
              <a:rPr/>
              <a:t>: the token is a ground-truth workflow label, not a prediction.</a:t>
            </a:r>
          </a:p>
          <a:p>
            <a:pPr lvl="0"/>
            <a:r>
              <a:rPr/>
              <a:t>This is a </a:t>
            </a:r>
            <a:r>
              <a:rPr b="1"/>
              <a:t>diagnostic upper bound</a:t>
            </a:r>
            <a:r>
              <a:rPr/>
              <a:t>, not a deployable clinical model.</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31. Honest limitations we state</a:t>
            </a:r>
          </a:p>
        </p:txBody>
      </p:sp>
      <p:sp>
        <p:nvSpPr>
          <p:cNvPr id="3" name="Content Placeholder 2"/>
          <p:cNvSpPr>
            <a:spLocks noGrp="1"/>
          </p:cNvSpPr>
          <p:nvPr>
            <p:ph idx="1"/>
          </p:nvPr>
        </p:nvSpPr>
        <p:spPr/>
        <p:txBody>
          <a:bodyPr/>
          <a:lstStyle/>
          <a:p>
            <a:pPr lvl="0" indent="-342900" marL="342900">
              <a:buAutoNum type="arabicPeriod"/>
            </a:pPr>
            <a:r>
              <a:rPr b="1"/>
              <a:t>Retrospective model</a:t>
            </a:r>
            <a:r>
              <a:rPr/>
              <a:t> (cluster ID is full-video oracle).</a:t>
            </a:r>
          </a:p>
          <a:p>
            <a:pPr lvl="0" indent="-342900" marL="342900">
              <a:buAutoNum type="arabicPeriod"/>
            </a:pPr>
            <a:r>
              <a:rPr b="1"/>
              <a:t>30-video Cholec80 test subset</a:t>
            </a:r>
            <a:r>
              <a:rPr/>
              <a:t> (not standard 40).</a:t>
            </a:r>
          </a:p>
          <a:p>
            <a:pPr lvl="0" indent="-342900" marL="342900">
              <a:buAutoNum type="arabicPeriod"/>
            </a:pPr>
            <a:r>
              <a:rPr b="1"/>
              <a:t>Single fold</a:t>
            </a:r>
            <a:r>
              <a:rPr/>
              <a:t> for most experiments (5-fold CV is future).</a:t>
            </a:r>
          </a:p>
          <a:p>
            <a:pPr lvl="0" indent="-342900" marL="342900">
              <a:buAutoNum type="arabicPeriod"/>
            </a:pPr>
            <a:r>
              <a:rPr b="1"/>
              <a:t>Deviation head</a:t>
            </a:r>
            <a:r>
              <a:rPr/>
              <a:t> is below BetaMixer’s 0.76 F1 — not a paper claim.</a:t>
            </a:r>
          </a:p>
          <a:p>
            <a:pPr lvl="0" indent="-342900" marL="342900">
              <a:buAutoNum type="arabicPeriod"/>
            </a:pPr>
            <a:r>
              <a:rPr b="1"/>
              <a:t>3-seed no-token MB140 replication</a:t>
            </a:r>
            <a:r>
              <a:rPr/>
              <a:t> is still pending.</a:t>
            </a:r>
          </a:p>
          <a:p>
            <a:pPr lvl="0" indent="-342900" marL="342900">
              <a:buAutoNum type="arabicPeriod"/>
            </a:pPr>
            <a:r>
              <a:rPr b="1"/>
              <a:t>Larger surgical-domain pretraining</a:t>
            </a:r>
            <a:r>
              <a:rPr/>
              <a:t> (HecVL, PeskaVLP) not accessible.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32. Next steps (future work)</a:t>
            </a:r>
          </a:p>
        </p:txBody>
      </p:sp>
      <p:sp>
        <p:nvSpPr>
          <p:cNvPr id="3" name="Content Placeholder 2"/>
          <p:cNvSpPr>
            <a:spLocks noGrp="1"/>
          </p:cNvSpPr>
          <p:nvPr>
            <p:ph idx="1"/>
          </p:nvPr>
        </p:nvSpPr>
        <p:spPr/>
        <p:txBody>
          <a:bodyPr/>
          <a:lstStyle/>
          <a:p>
            <a:pPr lvl="0"/>
            <a:r>
              <a:rPr b="1"/>
              <a:t>Causal workflow posterior</a:t>
            </a:r>
            <a:r>
              <a:rPr/>
              <a:t>: infer cluster ID from the prefix only (no leakage).</a:t>
            </a:r>
          </a:p>
          <a:p>
            <a:pPr lvl="0"/>
            <a:r>
              <a:rPr b="1"/>
              <a:t>5-fold cross-validation</a:t>
            </a:r>
            <a:r>
              <a:rPr/>
              <a:t> on MB140 for tighter confidence intervals.</a:t>
            </a:r>
          </a:p>
          <a:p>
            <a:pPr lvl="0"/>
            <a:r>
              <a:rPr b="1"/>
              <a:t>HecVL / PeskaVLP / GSViT encoder init</a:t>
            </a:r>
            <a:r>
              <a:rPr/>
              <a:t> — stronger surgical-domain prior than ImageNet.</a:t>
            </a:r>
          </a:p>
          <a:p>
            <a:pPr lvl="0"/>
            <a:r>
              <a:rPr b="1"/>
              <a:t>Pinball loss / quantile regression</a:t>
            </a:r>
            <a:r>
              <a:rPr/>
              <a:t> — asymmetric over/under-shoot penalties.</a:t>
            </a:r>
          </a:p>
          <a:p>
            <a:pPr lvl="0"/>
            <a:r>
              <a:rPr b="1"/>
              <a:t>Overfit-filter label cleaning</a:t>
            </a:r>
            <a:r>
              <a:rPr/>
              <a:t> (your new </a:t>
            </a:r>
            <a:r>
              <a:rPr>
                <a:latin typeface="Courier"/>
              </a:rPr>
              <a:t>brsd_lib.overfit_filter</a:t>
            </a:r>
            <a:r>
              <a:rPr/>
              <a:t> module!) — remove noisy frames before training.</a:t>
            </a:r>
          </a:p>
          <a:p>
            <a:pPr lvl="0"/>
            <a:r>
              <a:rPr b="1"/>
              <a:t>Extend to operation-log generation</a:t>
            </a:r>
            <a:r>
              <a:rPr/>
              <a:t> — translate real-time predictions into clinical notes.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33. Overall takeaways for students</a:t>
            </a:r>
          </a:p>
        </p:txBody>
      </p:sp>
      <p:sp>
        <p:nvSpPr>
          <p:cNvPr id="3" name="Content Placeholder 2"/>
          <p:cNvSpPr>
            <a:spLocks noGrp="1"/>
          </p:cNvSpPr>
          <p:nvPr>
            <p:ph idx="1"/>
          </p:nvPr>
        </p:nvSpPr>
        <p:spPr/>
        <p:txBody>
          <a:bodyPr/>
          <a:lstStyle/>
          <a:p>
            <a:pPr lvl="0"/>
            <a:r>
              <a:rPr/>
              <a:t>Progress in applied ML is </a:t>
            </a:r>
            <a:r>
              <a:rPr b="1"/>
              <a:t>mostly composition</a:t>
            </a:r>
            <a:r>
              <a:rPr/>
              <a:t>, not invention.</a:t>
            </a:r>
          </a:p>
          <a:p>
            <a:pPr lvl="0"/>
            <a:r>
              <a:rPr/>
              <a:t>Novel contributions are often the </a:t>
            </a:r>
            <a:r>
              <a:rPr i="1"/>
              <a:t>conditioning / framing</a:t>
            </a:r>
            <a:r>
              <a:rPr/>
              <a:t>, not the architecture.</a:t>
            </a:r>
          </a:p>
          <a:p>
            <a:pPr lvl="0"/>
            <a:r>
              <a:rPr b="1"/>
              <a:t>Matched-compute ablations</a:t>
            </a:r>
            <a:r>
              <a:rPr/>
              <a:t> are the gold standard for attributing gains.</a:t>
            </a:r>
          </a:p>
          <a:p>
            <a:pPr lvl="0"/>
            <a:r>
              <a:rPr b="1"/>
              <a:t>Null results are positive findings</a:t>
            </a:r>
            <a:r>
              <a:rPr/>
              <a:t> when they confirm a scaling hypothesis.</a:t>
            </a:r>
          </a:p>
          <a:p>
            <a:pPr lvl="0"/>
            <a:r>
              <a:rPr/>
              <a:t>Papers should state their </a:t>
            </a:r>
            <a:r>
              <a:rPr b="1"/>
              <a:t>limitations explicitly</a:t>
            </a:r>
            <a:r>
              <a:rPr/>
              <a:t> — it’s strength, not weakness.</a:t>
            </a:r>
          </a:p>
          <a:p>
            <a:pPr lvl="0"/>
            <a:r>
              <a:rPr b="1"/>
              <a:t>Inference-time tricks</a:t>
            </a:r>
            <a:r>
              <a:rPr/>
              <a:t> (ensembling, post-processing) can push leaderboards without model innovations — report them separately.</a:t>
            </a:r>
          </a:p>
          <a:p>
            <a:pPr lvl="0"/>
            <a:r>
              <a:rPr b="1"/>
              <a:t>Honest framing &gt; SOTA chasing</a:t>
            </a:r>
            <a:r>
              <a:rPr/>
              <a:t> in a review environment.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34. How to read a paper like this</a:t>
            </a:r>
          </a:p>
        </p:txBody>
      </p:sp>
      <p:sp>
        <p:nvSpPr>
          <p:cNvPr id="3" name="Content Placeholder 2"/>
          <p:cNvSpPr>
            <a:spLocks noGrp="1"/>
          </p:cNvSpPr>
          <p:nvPr>
            <p:ph idx="1"/>
          </p:nvPr>
        </p:nvSpPr>
        <p:spPr/>
        <p:txBody>
          <a:bodyPr/>
          <a:lstStyle/>
          <a:p>
            <a:pPr lvl="0" indent="-342900" marL="342900">
              <a:buAutoNum type="arabicPeriod"/>
            </a:pPr>
            <a:r>
              <a:rPr/>
              <a:t>Read the abstract, then </a:t>
            </a:r>
            <a:r>
              <a:rPr b="1"/>
              <a:t>jump to the main figures</a:t>
            </a:r>
            <a:r>
              <a:rPr/>
              <a:t>.</a:t>
            </a:r>
          </a:p>
          <a:p>
            <a:pPr lvl="0" indent="-342900" marL="342900">
              <a:buAutoNum type="arabicPeriod"/>
            </a:pPr>
            <a:r>
              <a:rPr/>
              <a:t>Look for </a:t>
            </a:r>
            <a:r>
              <a:rPr b="1"/>
              <a:t>matched-compute comparisons</a:t>
            </a:r>
            <a:r>
              <a:rPr/>
              <a:t> in the tables.</a:t>
            </a:r>
          </a:p>
          <a:p>
            <a:pPr lvl="0" indent="-342900" marL="342900">
              <a:buAutoNum type="arabicPeriod"/>
            </a:pPr>
            <a:r>
              <a:rPr/>
              <a:t>Check the </a:t>
            </a:r>
            <a:r>
              <a:rPr b="1"/>
              <a:t>limitations section</a:t>
            </a:r>
            <a:r>
              <a:rPr/>
              <a:t> — if it’s missing or short, be suspicious.</a:t>
            </a:r>
          </a:p>
          <a:p>
            <a:pPr lvl="0" indent="-342900" marL="342900">
              <a:buAutoNum type="arabicPeriod"/>
            </a:pPr>
            <a:r>
              <a:rPr/>
              <a:t>Note what’s </a:t>
            </a:r>
            <a:r>
              <a:rPr b="1"/>
              <a:t>cited vs. claimed</a:t>
            </a:r>
            <a:r>
              <a:rPr/>
              <a:t> — is the novelty on architecture or on framing?</a:t>
            </a:r>
          </a:p>
          <a:p>
            <a:pPr lvl="0" indent="-342900" marL="342900">
              <a:buAutoNum type="arabicPeriod"/>
            </a:pPr>
            <a:r>
              <a:rPr/>
              <a:t>Trace the </a:t>
            </a:r>
            <a:r>
              <a:rPr b="1"/>
              <a:t>experimental protocol</a:t>
            </a:r>
            <a:r>
              <a:rPr/>
              <a:t> — single seed? multiple? CV? test subset?</a:t>
            </a:r>
          </a:p>
          <a:p>
            <a:pPr lvl="0" indent="-342900" marL="342900">
              <a:buAutoNum type="arabicPeriod"/>
            </a:pPr>
            <a:r>
              <a:rPr/>
              <a:t>See the </a:t>
            </a:r>
            <a:r>
              <a:rPr b="1"/>
              <a:t>code</a:t>
            </a:r>
            <a:r>
              <a:rPr/>
              <a:t> — is it actually reproducible?</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35. References (main)</a:t>
            </a:r>
          </a:p>
        </p:txBody>
      </p:sp>
      <p:sp>
        <p:nvSpPr>
          <p:cNvPr id="3" name="Content Placeholder 2"/>
          <p:cNvSpPr>
            <a:spLocks noGrp="1"/>
          </p:cNvSpPr>
          <p:nvPr>
            <p:ph idx="1"/>
          </p:nvPr>
        </p:nvSpPr>
        <p:spPr/>
        <p:txBody>
          <a:bodyPr/>
          <a:lstStyle/>
          <a:p>
            <a:pPr lvl="0"/>
            <a:r>
              <a:rPr/>
              <a:t>Dosovitskiy et al., </a:t>
            </a:r>
            <a:r>
              <a:rPr b="1"/>
              <a:t>ViT</a:t>
            </a:r>
            <a:r>
              <a:rPr/>
              <a:t>, ICLR 2021.</a:t>
            </a:r>
          </a:p>
          <a:p>
            <a:pPr lvl="0"/>
            <a:r>
              <a:rPr/>
              <a:t>Twinanda et al., </a:t>
            </a:r>
            <a:r>
              <a:rPr b="1"/>
              <a:t>RSDNet</a:t>
            </a:r>
            <a:r>
              <a:rPr/>
              <a:t>, IEEE TMI 2019.</a:t>
            </a:r>
          </a:p>
          <a:p>
            <a:pPr lvl="0"/>
            <a:r>
              <a:rPr/>
              <a:t>Loukas et al., </a:t>
            </a:r>
            <a:r>
              <a:rPr b="1"/>
              <a:t>TransLocal</a:t>
            </a:r>
            <a:r>
              <a:rPr/>
              <a:t>, IJ Medical Robotics 2024.</a:t>
            </a:r>
          </a:p>
          <a:p>
            <a:pPr lvl="0"/>
            <a:r>
              <a:rPr/>
              <a:t>Yang et al., </a:t>
            </a:r>
            <a:r>
              <a:rPr b="1"/>
              <a:t>Surgformer (HTA)</a:t>
            </a:r>
            <a:r>
              <a:rPr/>
              <a:t>, MICCAI 2024.</a:t>
            </a:r>
          </a:p>
          <a:p>
            <a:pPr lvl="0"/>
            <a:r>
              <a:rPr/>
              <a:t>Kendall et al., </a:t>
            </a:r>
            <a:r>
              <a:rPr b="1"/>
              <a:t>uncertainty-weighted multi-task</a:t>
            </a:r>
            <a:r>
              <a:rPr/>
              <a:t>, CVPR 2018.</a:t>
            </a:r>
          </a:p>
          <a:p>
            <a:pPr lvl="0"/>
            <a:r>
              <a:rPr/>
              <a:t>Lavanchy et al., </a:t>
            </a:r>
            <a:r>
              <a:rPr b="1"/>
              <a:t>MultiBypass140</a:t>
            </a:r>
            <a:r>
              <a:rPr/>
              <a:t>, IJCARS 2024.</a:t>
            </a:r>
          </a:p>
          <a:p>
            <a:pPr lvl="0"/>
            <a:r>
              <a:rPr/>
              <a:t>Bose et al., </a:t>
            </a:r>
            <a:r>
              <a:rPr b="1"/>
              <a:t>BetaMixer</a:t>
            </a:r>
            <a:r>
              <a:rPr/>
              <a:t>, MICCAI 2025.</a:t>
            </a:r>
          </a:p>
          <a:p>
            <a:pPr lvl="0"/>
            <a:r>
              <a:rPr/>
              <a:t>scikit-learn, </a:t>
            </a:r>
            <a:r>
              <a:rPr b="1"/>
              <a:t>IsotonicRegression</a:t>
            </a:r>
            <a:r>
              <a:rPr/>
              <a:t>.</a:t>
            </a:r>
          </a:p>
          <a:p>
            <a:pPr lvl="0" indent="0" marL="0">
              <a:buNone/>
            </a:pPr>
            <a:r>
              <a:rPr/>
              <a:t>(Full list: </a:t>
            </a:r>
            <a:r>
              <a:rPr>
                <a:latin typeface="Courier"/>
              </a:rPr>
              <a:t>paper/draft.md</a:t>
            </a:r>
            <a:r>
              <a:rPr/>
              <a:t> §11.)</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36. Questions students usually ask</a:t>
            </a:r>
          </a:p>
        </p:txBody>
      </p:sp>
      <p:sp>
        <p:nvSpPr>
          <p:cNvPr id="3" name="Content Placeholder 2"/>
          <p:cNvSpPr>
            <a:spLocks noGrp="1"/>
          </p:cNvSpPr>
          <p:nvPr>
            <p:ph idx="1"/>
          </p:nvPr>
        </p:nvSpPr>
        <p:spPr/>
        <p:txBody>
          <a:bodyPr/>
          <a:lstStyle/>
          <a:p>
            <a:pPr lvl="0" indent="0" marL="0">
              <a:buNone/>
            </a:pPr>
            <a:r>
              <a:rPr b="1"/>
              <a:t>Q: Could you improve MB140 results with a bigger encoder?</a:t>
            </a:r>
            <a:r>
              <a:rPr/>
              <a:t> A: Probably yes (ViT-L instead of ViT-B). Not tried yet.</a:t>
            </a:r>
          </a:p>
          <a:p>
            <a:pPr lvl="0" indent="0" marL="0">
              <a:buNone/>
            </a:pPr>
            <a:r>
              <a:rPr b="1"/>
              <a:t>Q: Isn’t isotonic post-processing cheating?</a:t>
            </a:r>
            <a:r>
              <a:rPr/>
              <a:t> A: No — it’s a deterministic constraint, not tuned on test. But we report it in the appendix to keep the main story clean.</a:t>
            </a:r>
          </a:p>
          <a:p>
            <a:pPr lvl="0" indent="0" marL="0">
              <a:buNone/>
            </a:pPr>
            <a:r>
              <a:rPr b="1"/>
              <a:t>Q: Why not use surgical foundation models?</a:t>
            </a:r>
            <a:r>
              <a:rPr/>
              <a:t> A: Access. HecVL is private. Would be a natural next step.</a:t>
            </a:r>
          </a:p>
          <a:p>
            <a:pPr lvl="0" indent="0" marL="0">
              <a:buNone/>
            </a:pPr>
            <a:r>
              <a:rPr b="1"/>
              <a:t>Q: Is phase-order the right latent variable?</a:t>
            </a:r>
            <a:r>
              <a:rPr/>
              <a:t> A: It’s </a:t>
            </a:r>
            <a:r>
              <a:rPr i="1"/>
              <a:t>a</a:t>
            </a:r>
            <a:r>
              <a:rPr/>
              <a:t> reasonable proxy. A causal prefix-inferred posterior is probably more principled — that’s future work.</a:t>
            </a:r>
          </a:p>
          <a:p>
            <a:pPr lvl="0" indent="0" marL="0">
              <a:buNone/>
            </a:pPr>
            <a:r>
              <a:rPr b="1"/>
              <a:t>Q: Why not train on MB140 + Cholec80 jointly?</a:t>
            </a:r>
            <a:r>
              <a:rPr/>
              <a:t> A: Different phase vocabularies; would need careful label mapping. Possibly good, not done yet.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37. The paper’s one-sentence summary</a:t>
            </a:r>
          </a:p>
        </p:txBody>
      </p:sp>
      <p:sp>
        <p:nvSpPr>
          <p:cNvPr id="3" name="Content Placeholder 2"/>
          <p:cNvSpPr>
            <a:spLocks noGrp="1"/>
          </p:cNvSpPr>
          <p:nvPr>
            <p:ph idx="1"/>
          </p:nvPr>
        </p:nvSpPr>
        <p:spPr/>
        <p:txBody>
          <a:bodyPr/>
          <a:lstStyle/>
          <a:p>
            <a:pPr lvl="0" indent="0" marL="1270000">
              <a:buNone/>
            </a:pPr>
            <a:r>
              <a:rPr sz="2000" b="1"/>
              <a:t>Workflow-order conditioning helps RSD prediction when workflow variability is present; on MultiBypass140 (RYGB, heterogeneous) it reduces val MAE by ~1 min, and on Cholec80 (cholecystectomy, standardized) the same signal is neutral — a scaling-law finding that generalizes beyond surgical video.</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38. Thank you</a:t>
            </a:r>
          </a:p>
        </p:txBody>
      </p:sp>
      <p:sp>
        <p:nvSpPr>
          <p:cNvPr id="3" name="Content Placeholder 2"/>
          <p:cNvSpPr>
            <a:spLocks noGrp="1"/>
          </p:cNvSpPr>
          <p:nvPr>
            <p:ph idx="1"/>
          </p:nvPr>
        </p:nvSpPr>
        <p:spPr/>
        <p:txBody>
          <a:bodyPr/>
          <a:lstStyle/>
          <a:p>
            <a:pPr lvl="0" indent="0" marL="0">
              <a:buNone/>
            </a:pPr>
            <a:r>
              <a:rPr/>
              <a:t>Questions, comments, counter-examples welcome.</a:t>
            </a:r>
          </a:p>
          <a:p>
            <a:pPr lvl="0" indent="0" marL="0">
              <a:buNone/>
            </a:pPr>
            <a:r>
              <a:rPr/>
              <a:t>Code: </a:t>
            </a:r>
            <a:r>
              <a:rPr>
                <a:latin typeface="Courier"/>
              </a:rPr>
              <a:t>brsd_lib/</a:t>
            </a:r>
            <a:r>
              <a:rPr/>
              <a:t> Data: MultiBypass140 (public), Cholec80 (public phase-label subset) Paper: </a:t>
            </a:r>
            <a:r>
              <a:rPr>
                <a:latin typeface="Courier"/>
              </a:rPr>
              <a:t>paper/draft.md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Workflow-Conditioned Remaining Surgery Duration Prediction</dc:title>
  <dc:creator>Bill Chen — Xi Lab</dc:creator>
  <cp:keywords/>
  <dcterms:created xsi:type="dcterms:W3CDTF">2026-04-24T19:51:06Z</dcterms:created>
  <dcterms:modified xsi:type="dcterms:W3CDTF">2026-04-24T19:51:06Z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April 2026</vt:lpwstr>
  </property>
  <property fmtid="{D5CDD505-2E9C-101B-9397-08002B2CF9AE}" pid="3" name="subtitle">
    <vt:lpwstr>A Teaching Walkthrough</vt:lpwstr>
  </property>
</Properties>
</file>